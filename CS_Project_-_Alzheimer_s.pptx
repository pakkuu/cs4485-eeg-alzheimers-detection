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Title slide. Team: Aashay, Ajay, Ethan, Ram, Venkat, Venkatasai. Course: CS 4485 Capstone. SCRIPT: Hi everyone. This is our semester capstone project on EEG-based Alzheimer's detection. We used a public EEG dataset and trained two machine learning models to distinguish healthy people from Alzheimer's patients. I'll cover the problem, the data, the pipeline, the two models,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PROBLEM. Title: Alzheimer's is usually caught too late. Shows two cost figures: PET scan $3,000+ versus EEG ~$200. SCRIPT: Alzheimer's is often diagnosed late because the standard tests are expensive — PET scans cost thousands, CSF biomarkers need a spinal tap. EEG is cheap and non-invasive. So we asked: can a model classify Alzheimer's from EEG?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WHY EEG. Title: EEG is cheap, fast, and non-invasive. Three large stats: ~15x cheaper than PET, 19 standard channels, Early spectral changes. SCRIPT: EEG costs about 15 times less than a PET scan, uses a standard 19-channel cap, and brain-frequency changes in Alzheimer's appear early. That makes EEG a useful signal to study for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OBJECTIVE. Title: Can EEG band-power features classify Alzheimer's Disease? Four-row table: Input (19-channel EEG), Task (HC vs AD), Approach (LR vs RF), Evaluation (5-fold CV). SCRIPT: Our goal was to build a binary Healthy Control versus Alzheimer's classifier from EEG features, compare Logistic Regression against Random Forest on the same input, and evaluate with 5-fold subject-level cross-validation.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SECTION HEADER: DATA. Divider slide. SCRIPT: Let's look at the data and how we turned raw EEG into features a model can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THE DATASET. Title: 241 subjects, ~28 hours of EEG. Bar chart: 122 AD, 78 HC, 41 FTD. Table: 19 channels, 128 Hz, ~28.3 h total, ~423 s per subject, 1-second epochs. SCRIPT: We used the Largest Alzheimer EEG Dataset from Kaggle — 122 Alzheimer's, 78 healthy, 41 frontotemporal dementia. We dropped FTD for the binary task, leaving 200 subjects. 19 channels at 128 Hz, about 7 minutes per subject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SIGNAL TO FEATURES. Two plots side by side. Left: 10 seconds raw EEG at channel P4, HC vs AD. Right: Grand-average power spectral density across all channels. SCRIPT: The left plot is raw EEG — hard to distinguish by eye. The right converts the same signal to the frequency domain using Welch's method. Now you can see the difference: AD subjects have more low-frequency power and less alpha-band power. This EEG slowing pattern is what we capture as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FEATURE PIPELINE. Title: Welch PSD to band power to subject vector. Five-step pipeline, then four band definitions: Delta 1–4 Hz, Theta 4–8 Hz, Alpha 8–13 Hz, Beta 13–30 Hz. SCRIPT: Raw EEG → 1-second epochs → Welch PSD per channel → integrate over four frequency bands → average across epochs. Final result: 19 channels × 4 bands = 76 features per subject. That 76-number vector is what goes into each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STATISTICAL FINDINGS. Title: EEG slowing is visible before any model is trained. Left: band-power heatmap. Right: subject-level boxplots. Bottom callouts: Delta and Theta up in AD, Alpha down in AD. SCRIPT: We ran Welch's t-test on all 76 features before training anything. The heatmap shows theta and delta are elevated in AD, and alpha is reduced in posterior and midline channels. The boxplots show the same at the subject level. This matches the known AD EEG literature — our pipeline is reproducing a real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TOP DISCRIMINATIVE FEATURES. Title: Theta power separates the groups most strongly. Left: ranked t-statistic table (P3 7.56, C3 7.48, C4 7.39, F3 7.11, F4 7.03, Fp1 6.67, F7 6.40). Right: relative band-power difference heatmap. SCRIPT: The strongest features are theta-band in central and parietal channels — t-statistics above 7, p-values below 10 to the minus 10. The heatmap on the right shows where AD power is higher or lower than HC across all channels and bands. The signal is concentrated in theta.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SECTION HEADER: MODELS. Divider slide. SCRIPT: The features look informative. Now let's look at the two classifiers and how we compared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MODELING APPROACH. Title: Two classifiers, same input. Left: Logistic Regression — linear, log1p transform, StandardScaler, class_weight balanced. Right: Random Forest — 100 trees, class_weight balanced, no scaling. SCRIPT: Logistic Regression is linear — its coefficients show directly which channel-band features push toward an AD prediction. Random Forest is a non-linear ensemble of decision trees that can capture interactions between features. Both use the same 76 features and class-balanced weights to handle the 122 AD vs 78 HC imbalance.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EXPERIMENTAL SETUP. Title: Same data. Same folds. Only the model changes. Three stats: 200 subjects, 76 features, 5-fold stratified CV seed 42. One line defining sensitivity and specificity. SCRIPT: Everything is fixed: 200 subjects, 76 features, 5-fold subject-level stratified cross-validation, seed 42. Only the classifier changes. Sensitivity is how many AD patients we caught. Specificity is how many healthy subjects we correctly cleared.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HEADLINE RESULTS. Two result cards. LR: accuracy 0.83, AUC 0.918, sensitivity 0.754, specificity 0.949. RF: accuracy 0.84, AUC 0.929, sensitivity 0.877, specificity 0.782. SCRIPT: Both models are near 83–84% accuracy with AUC around 0.92. The difference is in sensitivity versus specificity. LR has 95% specificity but 75% sensitivity — it rarely flags a healthy person but misses 25% of AD cases. RF has 88% sensitivity and 78% specificity — it catches more AD cases but raises more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LR vs RF COMPARISON TABLE. Six-row table: Accuracy +0.010 RF, AUC +0.012 RF, Sensitivity +0.123 RF (big gap), Specificity −0.167 LR (big gap), False negatives LR 30 vs RF 15, False positives LR 4 vs RF 17. SCRIPT: Accuracy and AUC are basically tied. The real difference is sensitivity — RF is 12 points higher — and specificity — LR is 17 points higher. In raw counts: LR misses 30 AD patients but only false-alarms 4 healthy subjects. RF misses only 15 AD patients but false-alarms 17. Same data, same features, very different error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CONFUSION MATRICES. Two 2×2 matrices. LR: 92 TN, 4 FP, 30 FN, 74 TP. RF: 107 TN, 17 FP, 15 FN, 61 TP. SCRIPT: The confusion matrices show the same story in counts. LR correctly clears 92 of 96 healthy subjects but only catches 74 of 104 AD patients — missing 30. RF catches more AD cases, missing only 15, but misclassifies 17 healthy subjects. Similar overall accuracy, different types of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TRADE-OFFS. Title: Two models, two different types of errors. LR card: specificity 0.949 pro, interpretable pro, sensitivity 0.754 con (misses 30 AD). RF card: sensitivity 0.877 pro, best accuracy and AUC pro, specificity 0.782 con (flags 17 HC). SCRIPT: Use Logistic Regression if interpretability matters or false alarms are costly. Use Random Forest if catching AD cases is the priority. Neither is universally better — it depends on which type of error is more costly. We're reporting both and letting the numbers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OBSERVATIONS. Title: What we learned along the way. Four points: class imbalance, subject-level CV fixed post-midterm, EEG slowing confirmed by stats, minimal preprocessing. SCRIPT: Four takeaways. One: class imbalance biased early results — class weighting helped. Two: our original epoch-level split inflated AUC — switching to subject-level CV after the midterm was the most important fix. Three: statistical tests confirmed our features match known AD biomarkers. Four: minimal preprocessing left room for improvement — better artifact rejection would likely help both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FUTURE WORK. Title: Next steps. Four items: add FTD as third class, richer features (coherence, complexity), more baselines (SVM, gradient boosting), better preprocessing and multi-seed CV. SCRIPT: Next steps would be: include FTD for a 3-class problem, add richer features like inter-channel coherence and entropy, try SVM and gradient boosting to stress-test the LR vs RF comparison, and run multi-seed CV to get proper error bars on all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THANK YOU. Closing slide with team and four summary tags: dataset, features, models, protocol. SCRIPT: To wrap up — Welch PSD features, two classifiers, subject-level cross-validation, 200 subjects. Both models hit 83–84% accuracy and ~0.92 AUC. Random Forest catches more AD cases; Logistic Regression raises fewer false alarms. Thanks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600075"/>
            <a:ext cx="209550" cy="209550"/>
          </a:xfrm>
          <a:prstGeom prst="ellipse">
            <a:avLst/>
          </a:prstGeom>
          <a:ln w="19050">
            <a:solidFill>
              <a:srgbClr val="1F4B8E"/>
            </a:solidFill>
            <a:prstDash val="solid"/>
          </a:ln>
        </p:spPr>
      </p:sp>
      <p:sp>
        <p:nvSpPr>
          <p:cNvPr id="3" name="Text 1"/>
          <p:cNvSpPr/>
          <p:nvPr/>
        </p:nvSpPr>
        <p:spPr>
          <a:xfrm>
            <a:off x="1333500" y="571500"/>
            <a:ext cx="7208602" cy="3048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4181D"/>
                </a:solidFill>
                <a:latin typeface="Arial" pitchFamily="34" charset="0"/>
                <a:ea typeface="Arial" pitchFamily="34" charset="-122"/>
                <a:cs typeface="Arial" pitchFamily="34" charset="-120"/>
              </a:rPr>
              <a:t>CS 4485 / PROFESSOR SAMADI / SENIOR DESIGN</a:t>
            </a:r>
            <a:endParaRPr lang="en-US" sz="1800" dirty="0"/>
          </a:p>
        </p:txBody>
      </p:sp>
      <p:pic>
        <p:nvPicPr>
          <p:cNvPr id="4" name="Image 0" descr="preencoded.png">    </p:cNvPr>
          <p:cNvPicPr>
            <a:picLocks noChangeAspect="1"/>
          </p:cNvPicPr>
          <p:nvPr/>
        </p:nvPicPr>
        <p:blipFill>
          <a:blip r:embed="rId1">
            <a:alphaModFix amt="18000"/>
          </a:blip>
          <a:stretch>
            <a:fillRect/>
          </a:stretch>
        </p:blipFill>
        <p:spPr>
          <a:xfrm>
            <a:off x="0" y="4731990"/>
            <a:ext cx="18288000" cy="1143000"/>
          </a:xfrm>
          <a:prstGeom prst="rect">
            <a:avLst/>
          </a:prstGeom>
        </p:spPr>
      </p:pic>
      <p:sp>
        <p:nvSpPr>
          <p:cNvPr id="5" name="Text 2"/>
          <p:cNvSpPr/>
          <p:nvPr/>
        </p:nvSpPr>
        <p:spPr>
          <a:xfrm>
            <a:off x="952500" y="5393531"/>
            <a:ext cx="15697200" cy="2744688"/>
          </a:xfrm>
          <a:prstGeom prst="rect">
            <a:avLst/>
          </a:prstGeom>
          <a:noFill/>
          <a:ln/>
        </p:spPr>
        <p:txBody>
          <a:bodyPr wrap="square" lIns="25400" tIns="25400" rIns="25400" bIns="25400" rtlCol="0" anchor="t">
            <a:normAutofit/>
          </a:bodyPr>
          <a:lstStyle/>
          <a:p>
            <a:pPr algn="l" indent="0" marL="0">
              <a:lnSpc>
                <a:spcPct val="96000"/>
              </a:lnSpc>
              <a:buNone/>
            </a:pPr>
            <a:r>
              <a:rPr lang="en-US" sz="11100" b="1" spc="-388" kern="0" dirty="0">
                <a:solidFill>
                  <a:srgbClr val="14181D"/>
                </a:solidFill>
                <a:latin typeface="Arial" pitchFamily="34" charset="0"/>
                <a:ea typeface="Arial" pitchFamily="34" charset="-122"/>
                <a:cs typeface="Arial" pitchFamily="34" charset="-120"/>
              </a:rPr>
              <a:t>EEG-based detection of </a:t>
            </a:r>
            <a:pPr algn="l" indent="0" marL="0">
              <a:lnSpc>
                <a:spcPct val="96000"/>
              </a:lnSpc>
              <a:buNone/>
            </a:pPr>
            <a:r>
              <a:rPr lang="en-US" sz="11100" b="1" spc="-388" kern="0" dirty="0">
                <a:solidFill>
                  <a:srgbClr val="1F4B8E"/>
                </a:solidFill>
                <a:latin typeface="Arial" pitchFamily="34" charset="0"/>
                <a:ea typeface="Arial" pitchFamily="34" charset="-122"/>
                <a:cs typeface="Arial" pitchFamily="34" charset="-120"/>
              </a:rPr>
              <a:t>Alzheimer's disease</a:t>
            </a:r>
            <a:pPr algn="l" indent="0" marL="0">
              <a:lnSpc>
                <a:spcPct val="96000"/>
              </a:lnSpc>
              <a:buNone/>
            </a:pPr>
            <a:r>
              <a:rPr lang="en-US" sz="11100" b="1" spc="-388" kern="0" dirty="0">
                <a:solidFill>
                  <a:srgbClr val="14181D"/>
                </a:solidFill>
                <a:latin typeface="Arial" pitchFamily="34" charset="0"/>
                <a:ea typeface="Arial" pitchFamily="34" charset="-122"/>
                <a:cs typeface="Arial" pitchFamily="34" charset="-120"/>
              </a:rPr>
              <a:t>.</a:t>
            </a:r>
            <a:endParaRPr lang="en-US" sz="11100" dirty="0"/>
          </a:p>
        </p:txBody>
      </p:sp>
      <p:sp>
        <p:nvSpPr>
          <p:cNvPr id="6" name="Text 3"/>
          <p:cNvSpPr/>
          <p:nvPr/>
        </p:nvSpPr>
        <p:spPr>
          <a:xfrm>
            <a:off x="952500" y="8557320"/>
            <a:ext cx="1275397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2B3138"/>
                </a:solidFill>
                <a:latin typeface="Arial" pitchFamily="34" charset="0"/>
                <a:ea typeface="Arial" pitchFamily="34" charset="-122"/>
                <a:cs typeface="Arial" pitchFamily="34" charset="-120"/>
              </a:rPr>
              <a:t>By: Aashay, Ajay, Ethan, Ram, Venkat, Venkatasai</a:t>
            </a:r>
            <a:endParaRPr lang="en-US" sz="2550" dirty="0"/>
          </a:p>
        </p:txBody>
      </p:sp>
      <p:sp>
        <p:nvSpPr>
          <p:cNvPr id="7" name="Text 4"/>
          <p:cNvSpPr/>
          <p:nvPr/>
        </p:nvSpPr>
        <p:spPr>
          <a:xfrm>
            <a:off x="11646098" y="9448800"/>
            <a:ext cx="5860084"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A7280"/>
                </a:solidFill>
                <a:latin typeface="Arial" pitchFamily="34" charset="0"/>
                <a:ea typeface="Arial" pitchFamily="34" charset="-122"/>
                <a:cs typeface="Arial" pitchFamily="34" charset="-120"/>
              </a:rPr>
              <a:t>FINAL PROJECT PRESENTATION · MAY 01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02</a:t>
            </a:r>
            <a:endParaRPr lang="en-US" sz="1800" dirty="0"/>
          </a:p>
        </p:txBody>
      </p:sp>
      <p:sp>
        <p:nvSpPr>
          <p:cNvPr id="4" name="Text 2"/>
          <p:cNvSpPr/>
          <p:nvPr/>
        </p:nvSpPr>
        <p:spPr>
          <a:xfrm>
            <a:off x="1511945" y="981075"/>
            <a:ext cx="1258193"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PROBLEM</a:t>
            </a:r>
            <a:endParaRPr lang="en-US" sz="1800" dirty="0"/>
          </a:p>
        </p:txBody>
      </p:sp>
      <p:sp>
        <p:nvSpPr>
          <p:cNvPr id="5" name="Text 3"/>
          <p:cNvSpPr/>
          <p:nvPr/>
        </p:nvSpPr>
        <p:spPr>
          <a:xfrm>
            <a:off x="952500" y="2257425"/>
            <a:ext cx="16874490" cy="1781473"/>
          </a:xfrm>
          <a:prstGeom prst="rect">
            <a:avLst/>
          </a:prstGeom>
          <a:noFill/>
          <a:ln/>
        </p:spPr>
        <p:txBody>
          <a:bodyPr wrap="square" lIns="25400" tIns="25400" rIns="25400" bIns="25400" rtlCol="0" anchor="t">
            <a:normAutofit/>
          </a:bodyPr>
          <a:lstStyle/>
          <a:p>
            <a:pPr algn="l" indent="0" marL="0">
              <a:lnSpc>
                <a:spcPct val="104000"/>
              </a:lnSpc>
              <a:buNone/>
            </a:pPr>
            <a:r>
              <a:rPr lang="en-US" sz="6600" b="1" spc="-132" kern="0" dirty="0">
                <a:solidFill>
                  <a:srgbClr val="14181D"/>
                </a:solidFill>
                <a:latin typeface="Arial" pitchFamily="34" charset="0"/>
                <a:ea typeface="Arial" pitchFamily="34" charset="-122"/>
                <a:cs typeface="Arial" pitchFamily="34" charset="-120"/>
              </a:rPr>
              <a:t>Alzheimer's is usually caught too late.</a:t>
            </a:r>
            <a:endParaRPr lang="en-US" sz="6600" dirty="0"/>
          </a:p>
        </p:txBody>
      </p:sp>
      <p:sp>
        <p:nvSpPr>
          <p:cNvPr id="6" name="Text 4"/>
          <p:cNvSpPr/>
          <p:nvPr/>
        </p:nvSpPr>
        <p:spPr>
          <a:xfrm>
            <a:off x="952500" y="4762798"/>
            <a:ext cx="8044815" cy="860822"/>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2B3138"/>
                </a:solidFill>
                <a:latin typeface="Arial" pitchFamily="34" charset="0"/>
                <a:ea typeface="Arial" pitchFamily="34" charset="-122"/>
                <a:cs typeface="Arial" pitchFamily="34" charset="-120"/>
              </a:rPr>
              <a:t>Standard diagnostics — PET scans and CSF biomarkers — are expensive, invasive, and not widely available.</a:t>
            </a:r>
            <a:endParaRPr lang="en-US" sz="2400" dirty="0"/>
          </a:p>
        </p:txBody>
      </p:sp>
      <p:sp>
        <p:nvSpPr>
          <p:cNvPr id="7" name="Text 5"/>
          <p:cNvSpPr/>
          <p:nvPr/>
        </p:nvSpPr>
        <p:spPr>
          <a:xfrm>
            <a:off x="952500" y="5890320"/>
            <a:ext cx="8044815" cy="860822"/>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2B3138"/>
                </a:solidFill>
                <a:latin typeface="Arial" pitchFamily="34" charset="0"/>
                <a:ea typeface="Arial" pitchFamily="34" charset="-122"/>
                <a:cs typeface="Arial" pitchFamily="34" charset="-120"/>
              </a:rPr>
              <a:t>By the time a patient reaches them, significant neurodegeneration has already occurred.</a:t>
            </a:r>
            <a:endParaRPr lang="en-US" sz="2400" dirty="0"/>
          </a:p>
        </p:txBody>
      </p:sp>
      <p:sp>
        <p:nvSpPr>
          <p:cNvPr id="8" name="Text 6"/>
          <p:cNvSpPr/>
          <p:nvPr/>
        </p:nvSpPr>
        <p:spPr>
          <a:xfrm>
            <a:off x="9525000" y="4762798"/>
            <a:ext cx="2316510" cy="723900"/>
          </a:xfrm>
          <a:prstGeom prst="rect">
            <a:avLst/>
          </a:prstGeom>
          <a:noFill/>
          <a:ln/>
        </p:spPr>
        <p:txBody>
          <a:bodyPr wrap="square" lIns="25400" tIns="25400" rIns="25400" bIns="25400" rtlCol="0" anchor="t">
            <a:normAutofit/>
          </a:bodyPr>
          <a:lstStyle/>
          <a:p>
            <a:pPr algn="l" indent="0" marL="0">
              <a:buNone/>
            </a:pPr>
            <a:r>
              <a:rPr lang="en-US" sz="4200" b="1" dirty="0">
                <a:solidFill>
                  <a:srgbClr val="B0421F"/>
                </a:solidFill>
                <a:latin typeface="Arial" pitchFamily="34" charset="0"/>
                <a:ea typeface="Arial" pitchFamily="34" charset="-122"/>
                <a:cs typeface="Arial" pitchFamily="34" charset="-120"/>
              </a:rPr>
              <a:t>$3,000+</a:t>
            </a:r>
            <a:endParaRPr lang="en-US" sz="4200" dirty="0"/>
          </a:p>
        </p:txBody>
      </p:sp>
      <p:sp>
        <p:nvSpPr>
          <p:cNvPr id="9" name="Text 7"/>
          <p:cNvSpPr/>
          <p:nvPr/>
        </p:nvSpPr>
        <p:spPr>
          <a:xfrm>
            <a:off x="12070110" y="4905673"/>
            <a:ext cx="4407479"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B3138"/>
                </a:solidFill>
                <a:latin typeface="Arial" pitchFamily="34" charset="0"/>
                <a:ea typeface="Arial" pitchFamily="34" charset="-122"/>
                <a:cs typeface="Arial" pitchFamily="34" charset="-120"/>
              </a:rPr>
              <a:t>Typical cost of an amyloid PET scan</a:t>
            </a:r>
            <a:endParaRPr lang="en-US" sz="2100" dirty="0"/>
          </a:p>
        </p:txBody>
      </p:sp>
      <p:sp>
        <p:nvSpPr>
          <p:cNvPr id="10" name="Text 8"/>
          <p:cNvSpPr/>
          <p:nvPr/>
        </p:nvSpPr>
        <p:spPr>
          <a:xfrm>
            <a:off x="9525000" y="5829598"/>
            <a:ext cx="1676400" cy="723900"/>
          </a:xfrm>
          <a:prstGeom prst="rect">
            <a:avLst/>
          </a:prstGeom>
          <a:noFill/>
          <a:ln/>
        </p:spPr>
        <p:txBody>
          <a:bodyPr wrap="square" lIns="25400" tIns="25400" rIns="25400" bIns="25400" rtlCol="0" anchor="t">
            <a:normAutofit/>
          </a:bodyPr>
          <a:lstStyle/>
          <a:p>
            <a:pPr algn="l" indent="0" marL="0">
              <a:buNone/>
            </a:pPr>
            <a:r>
              <a:rPr lang="en-US" sz="4200" b="1" dirty="0">
                <a:solidFill>
                  <a:srgbClr val="1F4B8E"/>
                </a:solidFill>
                <a:latin typeface="Arial" pitchFamily="34" charset="0"/>
                <a:ea typeface="Arial" pitchFamily="34" charset="-122"/>
                <a:cs typeface="Arial" pitchFamily="34" charset="-120"/>
              </a:rPr>
              <a:t>~$200</a:t>
            </a:r>
            <a:endParaRPr lang="en-US" sz="4200" dirty="0"/>
          </a:p>
        </p:txBody>
      </p:sp>
      <p:sp>
        <p:nvSpPr>
          <p:cNvPr id="11" name="Text 9"/>
          <p:cNvSpPr/>
          <p:nvPr/>
        </p:nvSpPr>
        <p:spPr>
          <a:xfrm>
            <a:off x="11430000" y="5972473"/>
            <a:ext cx="4534559"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B3138"/>
                </a:solidFill>
                <a:latin typeface="Arial" pitchFamily="34" charset="0"/>
                <a:ea typeface="Arial" pitchFamily="34" charset="-122"/>
                <a:cs typeface="Arial" pitchFamily="34" charset="-120"/>
              </a:rPr>
              <a:t>Typical cost of a clinical EEG session</a:t>
            </a:r>
            <a:endParaRPr lang="en-US" sz="2100" dirty="0"/>
          </a:p>
        </p:txBody>
      </p:sp>
      <p:sp>
        <p:nvSpPr>
          <p:cNvPr id="12" name="Shape 10"/>
          <p:cNvSpPr/>
          <p:nvPr/>
        </p:nvSpPr>
        <p:spPr>
          <a:xfrm>
            <a:off x="952500" y="8943975"/>
            <a:ext cx="16383000" cy="9525"/>
          </a:xfrm>
          <a:prstGeom prst="rect">
            <a:avLst/>
          </a:prstGeom>
          <a:solidFill>
            <a:srgbClr val="D9DADB"/>
          </a:solidFill>
          <a:ln/>
        </p:spPr>
      </p:sp>
      <p:sp>
        <p:nvSpPr>
          <p:cNvPr id="13" name="Text 11"/>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14" name="Text 12"/>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03</a:t>
            </a:r>
            <a:endParaRPr lang="en-US" sz="1800" dirty="0"/>
          </a:p>
        </p:txBody>
      </p:sp>
      <p:sp>
        <p:nvSpPr>
          <p:cNvPr id="4" name="Text 2"/>
          <p:cNvSpPr/>
          <p:nvPr/>
        </p:nvSpPr>
        <p:spPr>
          <a:xfrm>
            <a:off x="1511945" y="981075"/>
            <a:ext cx="1215777"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WHY EEG</a:t>
            </a:r>
            <a:endParaRPr lang="en-US" sz="1800" dirty="0"/>
          </a:p>
        </p:txBody>
      </p:sp>
      <p:sp>
        <p:nvSpPr>
          <p:cNvPr id="5" name="Text 3"/>
          <p:cNvSpPr/>
          <p:nvPr/>
        </p:nvSpPr>
        <p:spPr>
          <a:xfrm>
            <a:off x="952500" y="2257425"/>
            <a:ext cx="16874490" cy="1622822"/>
          </a:xfrm>
          <a:prstGeom prst="rect">
            <a:avLst/>
          </a:prstGeom>
          <a:noFill/>
          <a:ln/>
        </p:spPr>
        <p:txBody>
          <a:bodyPr wrap="square" lIns="25400" tIns="25400" rIns="25400" bIns="25400" rtlCol="0" anchor="t">
            <a:normAutofit/>
          </a:bodyPr>
          <a:lstStyle/>
          <a:p>
            <a:pPr algn="l" indent="0" marL="0">
              <a:lnSpc>
                <a:spcPct val="104000"/>
              </a:lnSpc>
              <a:buNone/>
            </a:pPr>
            <a:r>
              <a:rPr lang="en-US" sz="6000" b="1" spc="-120" kern="0" dirty="0">
                <a:solidFill>
                  <a:srgbClr val="14181D"/>
                </a:solidFill>
                <a:latin typeface="Arial" pitchFamily="34" charset="0"/>
                <a:ea typeface="Arial" pitchFamily="34" charset="-122"/>
                <a:cs typeface="Arial" pitchFamily="34" charset="-120"/>
              </a:rPr>
              <a:t>EEG is cheap, fast, and non-invasive.</a:t>
            </a:r>
            <a:endParaRPr lang="en-US" sz="6000" dirty="0"/>
          </a:p>
        </p:txBody>
      </p:sp>
      <p:sp>
        <p:nvSpPr>
          <p:cNvPr id="6" name="Shape 4"/>
          <p:cNvSpPr/>
          <p:nvPr/>
        </p:nvSpPr>
        <p:spPr>
          <a:xfrm>
            <a:off x="952500" y="4794647"/>
            <a:ext cx="5156150" cy="9525"/>
          </a:xfrm>
          <a:prstGeom prst="rect">
            <a:avLst/>
          </a:prstGeom>
          <a:solidFill>
            <a:srgbClr val="D9DADB"/>
          </a:solidFill>
          <a:ln/>
        </p:spPr>
      </p:sp>
      <p:sp>
        <p:nvSpPr>
          <p:cNvPr id="7" name="Text 5"/>
          <p:cNvSpPr/>
          <p:nvPr/>
        </p:nvSpPr>
        <p:spPr>
          <a:xfrm>
            <a:off x="952500" y="5032772"/>
            <a:ext cx="531083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35" kern="0" dirty="0">
                <a:solidFill>
                  <a:srgbClr val="1F4B8E"/>
                </a:solidFill>
                <a:latin typeface="Arial" pitchFamily="34" charset="0"/>
                <a:ea typeface="Arial" pitchFamily="34" charset="-122"/>
                <a:cs typeface="Arial" pitchFamily="34" charset="-120"/>
              </a:rPr>
              <a:t>~15×</a:t>
            </a:r>
            <a:endParaRPr lang="en-US" sz="5400" dirty="0"/>
          </a:p>
        </p:txBody>
      </p:sp>
      <p:sp>
        <p:nvSpPr>
          <p:cNvPr id="8" name="Text 6"/>
          <p:cNvSpPr/>
          <p:nvPr/>
        </p:nvSpPr>
        <p:spPr>
          <a:xfrm>
            <a:off x="952500" y="5870972"/>
            <a:ext cx="5310835"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CHEAPER THAN PET</a:t>
            </a:r>
            <a:endParaRPr lang="en-US" sz="1800" dirty="0"/>
          </a:p>
        </p:txBody>
      </p:sp>
      <p:sp>
        <p:nvSpPr>
          <p:cNvPr id="9" name="Shape 7"/>
          <p:cNvSpPr/>
          <p:nvPr/>
        </p:nvSpPr>
        <p:spPr>
          <a:xfrm>
            <a:off x="6565850" y="4794647"/>
            <a:ext cx="5156150" cy="9525"/>
          </a:xfrm>
          <a:prstGeom prst="rect">
            <a:avLst/>
          </a:prstGeom>
          <a:solidFill>
            <a:srgbClr val="D9DADB"/>
          </a:solidFill>
          <a:ln/>
        </p:spPr>
      </p:sp>
      <p:sp>
        <p:nvSpPr>
          <p:cNvPr id="10" name="Text 8"/>
          <p:cNvSpPr/>
          <p:nvPr/>
        </p:nvSpPr>
        <p:spPr>
          <a:xfrm>
            <a:off x="6565850" y="5032772"/>
            <a:ext cx="531083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35" kern="0" dirty="0">
                <a:solidFill>
                  <a:srgbClr val="1F4B8E"/>
                </a:solidFill>
                <a:latin typeface="Arial" pitchFamily="34" charset="0"/>
                <a:ea typeface="Arial" pitchFamily="34" charset="-122"/>
                <a:cs typeface="Arial" pitchFamily="34" charset="-120"/>
              </a:rPr>
              <a:t>19</a:t>
            </a:r>
            <a:endParaRPr lang="en-US" sz="5400" dirty="0"/>
          </a:p>
        </p:txBody>
      </p:sp>
      <p:sp>
        <p:nvSpPr>
          <p:cNvPr id="11" name="Text 9"/>
          <p:cNvSpPr/>
          <p:nvPr/>
        </p:nvSpPr>
        <p:spPr>
          <a:xfrm>
            <a:off x="6565850" y="5870972"/>
            <a:ext cx="5310835" cy="5715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SCALP CHANNELS, STANDARD MONTAGE</a:t>
            </a:r>
            <a:endParaRPr lang="en-US" sz="1800" dirty="0"/>
          </a:p>
        </p:txBody>
      </p:sp>
      <p:sp>
        <p:nvSpPr>
          <p:cNvPr id="12" name="Shape 10"/>
          <p:cNvSpPr/>
          <p:nvPr/>
        </p:nvSpPr>
        <p:spPr>
          <a:xfrm>
            <a:off x="12179201" y="4794647"/>
            <a:ext cx="5156150" cy="9525"/>
          </a:xfrm>
          <a:prstGeom prst="rect">
            <a:avLst/>
          </a:prstGeom>
          <a:solidFill>
            <a:srgbClr val="D9DADB"/>
          </a:solidFill>
          <a:ln/>
        </p:spPr>
      </p:sp>
      <p:sp>
        <p:nvSpPr>
          <p:cNvPr id="13" name="Text 11"/>
          <p:cNvSpPr/>
          <p:nvPr/>
        </p:nvSpPr>
        <p:spPr>
          <a:xfrm>
            <a:off x="12179201" y="5032772"/>
            <a:ext cx="5310835"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35" kern="0" dirty="0">
                <a:solidFill>
                  <a:srgbClr val="1F4B8E"/>
                </a:solidFill>
                <a:latin typeface="Arial" pitchFamily="34" charset="0"/>
                <a:ea typeface="Arial" pitchFamily="34" charset="-122"/>
                <a:cs typeface="Arial" pitchFamily="34" charset="-120"/>
              </a:rPr>
              <a:t>Early</a:t>
            </a:r>
            <a:endParaRPr lang="en-US" sz="5400" dirty="0"/>
          </a:p>
        </p:txBody>
      </p:sp>
      <p:sp>
        <p:nvSpPr>
          <p:cNvPr id="14" name="Text 12"/>
          <p:cNvSpPr/>
          <p:nvPr/>
        </p:nvSpPr>
        <p:spPr>
          <a:xfrm>
            <a:off x="12179201" y="5870972"/>
            <a:ext cx="5310835" cy="5715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SPECTRAL CHANGES PRECEDE SYMPTOMS</a:t>
            </a:r>
            <a:endParaRPr lang="en-US" sz="1800" dirty="0"/>
          </a:p>
        </p:txBody>
      </p:sp>
      <p:sp>
        <p:nvSpPr>
          <p:cNvPr id="15" name="Shape 13"/>
          <p:cNvSpPr/>
          <p:nvPr/>
        </p:nvSpPr>
        <p:spPr>
          <a:xfrm>
            <a:off x="952500" y="8943975"/>
            <a:ext cx="16383000" cy="9525"/>
          </a:xfrm>
          <a:prstGeom prst="rect">
            <a:avLst/>
          </a:prstGeom>
          <a:solidFill>
            <a:srgbClr val="D9DADB"/>
          </a:solidFill>
          <a:ln/>
        </p:spPr>
      </p:sp>
      <p:sp>
        <p:nvSpPr>
          <p:cNvPr id="16" name="Text 14"/>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17" name="Text 15"/>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04</a:t>
            </a:r>
            <a:endParaRPr lang="en-US" sz="1800" dirty="0"/>
          </a:p>
        </p:txBody>
      </p:sp>
      <p:sp>
        <p:nvSpPr>
          <p:cNvPr id="4" name="Text 2"/>
          <p:cNvSpPr/>
          <p:nvPr/>
        </p:nvSpPr>
        <p:spPr>
          <a:xfrm>
            <a:off x="1511945" y="981075"/>
            <a:ext cx="1428750"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OBJECTIVE</a:t>
            </a:r>
            <a:endParaRPr lang="en-US" sz="1800" dirty="0"/>
          </a:p>
        </p:txBody>
      </p:sp>
      <p:sp>
        <p:nvSpPr>
          <p:cNvPr id="5" name="Text 3"/>
          <p:cNvSpPr/>
          <p:nvPr/>
        </p:nvSpPr>
        <p:spPr>
          <a:xfrm>
            <a:off x="952500" y="2257425"/>
            <a:ext cx="16874490" cy="1622822"/>
          </a:xfrm>
          <a:prstGeom prst="rect">
            <a:avLst/>
          </a:prstGeom>
          <a:noFill/>
          <a:ln/>
        </p:spPr>
        <p:txBody>
          <a:bodyPr wrap="square" lIns="25400" tIns="25400" rIns="25400" bIns="25400" rtlCol="0" anchor="t">
            <a:normAutofit/>
          </a:bodyPr>
          <a:lstStyle/>
          <a:p>
            <a:pPr algn="l" indent="0" marL="0">
              <a:lnSpc>
                <a:spcPct val="104000"/>
              </a:lnSpc>
              <a:buNone/>
            </a:pPr>
            <a:r>
              <a:rPr lang="en-US" sz="6000" b="1" spc="-120" kern="0" dirty="0">
                <a:solidFill>
                  <a:srgbClr val="14181D"/>
                </a:solidFill>
                <a:latin typeface="Arial" pitchFamily="34" charset="0"/>
                <a:ea typeface="Arial" pitchFamily="34" charset="-122"/>
                <a:cs typeface="Arial" pitchFamily="34" charset="-120"/>
              </a:rPr>
              <a:t>Can EEG band-power features classify Alzheimer's Disease?</a:t>
            </a:r>
            <a:endParaRPr lang="en-US" sz="6000" dirty="0"/>
          </a:p>
        </p:txBody>
      </p:sp>
      <p:sp>
        <p:nvSpPr>
          <p:cNvPr id="6" name="Shape 4"/>
          <p:cNvSpPr/>
          <p:nvPr/>
        </p:nvSpPr>
        <p:spPr>
          <a:xfrm>
            <a:off x="952500" y="8271272"/>
            <a:ext cx="16383000" cy="9525"/>
          </a:xfrm>
          <a:prstGeom prst="rect">
            <a:avLst/>
          </a:prstGeom>
          <a:solidFill>
            <a:srgbClr val="D9DADB"/>
          </a:solidFill>
          <a:ln/>
        </p:spPr>
      </p:sp>
      <p:sp>
        <p:nvSpPr>
          <p:cNvPr id="7" name="Shape 5"/>
          <p:cNvSpPr/>
          <p:nvPr/>
        </p:nvSpPr>
        <p:spPr>
          <a:xfrm>
            <a:off x="952500" y="4604147"/>
            <a:ext cx="16383000" cy="9525"/>
          </a:xfrm>
          <a:prstGeom prst="rect">
            <a:avLst/>
          </a:prstGeom>
          <a:solidFill>
            <a:srgbClr val="D9DADB"/>
          </a:solidFill>
          <a:ln/>
        </p:spPr>
      </p:sp>
      <p:sp>
        <p:nvSpPr>
          <p:cNvPr id="8" name="Shape 6"/>
          <p:cNvSpPr/>
          <p:nvPr/>
        </p:nvSpPr>
        <p:spPr>
          <a:xfrm>
            <a:off x="6403925" y="4613672"/>
            <a:ext cx="9525" cy="1828800"/>
          </a:xfrm>
          <a:prstGeom prst="rect">
            <a:avLst/>
          </a:prstGeom>
          <a:solidFill>
            <a:srgbClr val="D9DADB"/>
          </a:solidFill>
          <a:ln/>
        </p:spPr>
      </p:sp>
      <p:sp>
        <p:nvSpPr>
          <p:cNvPr id="9" name="Text 7"/>
          <p:cNvSpPr/>
          <p:nvPr/>
        </p:nvSpPr>
        <p:spPr>
          <a:xfrm>
            <a:off x="1257300" y="4956572"/>
            <a:ext cx="498708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4B8E"/>
                </a:solidFill>
                <a:latin typeface="Arial" pitchFamily="34" charset="0"/>
                <a:ea typeface="Arial" pitchFamily="34" charset="-122"/>
                <a:cs typeface="Arial" pitchFamily="34" charset="-120"/>
              </a:rPr>
              <a:t>INPUT</a:t>
            </a:r>
            <a:endParaRPr lang="en-US" sz="1800" dirty="0"/>
          </a:p>
        </p:txBody>
      </p:sp>
      <p:sp>
        <p:nvSpPr>
          <p:cNvPr id="10" name="Text 8"/>
          <p:cNvSpPr/>
          <p:nvPr/>
        </p:nvSpPr>
        <p:spPr>
          <a:xfrm>
            <a:off x="1257300" y="5356622"/>
            <a:ext cx="4987080"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14181D"/>
                </a:solidFill>
                <a:latin typeface="Arial" pitchFamily="34" charset="0"/>
                <a:ea typeface="Arial" pitchFamily="34" charset="-122"/>
                <a:cs typeface="Arial" pitchFamily="34" charset="-120"/>
              </a:rPr>
              <a:t>19-channel resting-state EEG</a:t>
            </a:r>
            <a:endParaRPr lang="en-US" sz="2250" dirty="0"/>
          </a:p>
        </p:txBody>
      </p:sp>
      <p:sp>
        <p:nvSpPr>
          <p:cNvPr id="11" name="Shape 9"/>
          <p:cNvSpPr/>
          <p:nvPr/>
        </p:nvSpPr>
        <p:spPr>
          <a:xfrm>
            <a:off x="11864876" y="4613672"/>
            <a:ext cx="9525" cy="1828800"/>
          </a:xfrm>
          <a:prstGeom prst="rect">
            <a:avLst/>
          </a:prstGeom>
          <a:solidFill>
            <a:srgbClr val="D9DADB"/>
          </a:solidFill>
          <a:ln/>
        </p:spPr>
      </p:sp>
      <p:sp>
        <p:nvSpPr>
          <p:cNvPr id="12" name="Text 10"/>
          <p:cNvSpPr/>
          <p:nvPr/>
        </p:nvSpPr>
        <p:spPr>
          <a:xfrm>
            <a:off x="6718250" y="4956572"/>
            <a:ext cx="498708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4B8E"/>
                </a:solidFill>
                <a:latin typeface="Arial" pitchFamily="34" charset="0"/>
                <a:ea typeface="Arial" pitchFamily="34" charset="-122"/>
                <a:cs typeface="Arial" pitchFamily="34" charset="-120"/>
              </a:rPr>
              <a:t>TASK</a:t>
            </a:r>
            <a:endParaRPr lang="en-US" sz="1800" dirty="0"/>
          </a:p>
        </p:txBody>
      </p:sp>
      <p:sp>
        <p:nvSpPr>
          <p:cNvPr id="13" name="Text 11"/>
          <p:cNvSpPr/>
          <p:nvPr/>
        </p:nvSpPr>
        <p:spPr>
          <a:xfrm>
            <a:off x="6718250" y="5356622"/>
            <a:ext cx="4987080"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14181D"/>
                </a:solidFill>
                <a:latin typeface="Arial" pitchFamily="34" charset="0"/>
                <a:ea typeface="Arial" pitchFamily="34" charset="-122"/>
                <a:cs typeface="Arial" pitchFamily="34" charset="-120"/>
              </a:rPr>
              <a:t>Healthy Control vs. Alzheimer's (binary)</a:t>
            </a:r>
            <a:endParaRPr lang="en-US" sz="2250" dirty="0"/>
          </a:p>
        </p:txBody>
      </p:sp>
      <p:sp>
        <p:nvSpPr>
          <p:cNvPr id="14" name="Shape 12"/>
          <p:cNvSpPr/>
          <p:nvPr/>
        </p:nvSpPr>
        <p:spPr>
          <a:xfrm>
            <a:off x="17325826" y="4613672"/>
            <a:ext cx="9525" cy="1828800"/>
          </a:xfrm>
          <a:prstGeom prst="rect">
            <a:avLst/>
          </a:prstGeom>
          <a:solidFill>
            <a:srgbClr val="D9DADB"/>
          </a:solidFill>
          <a:ln/>
        </p:spPr>
      </p:sp>
      <p:sp>
        <p:nvSpPr>
          <p:cNvPr id="15" name="Text 13"/>
          <p:cNvSpPr/>
          <p:nvPr/>
        </p:nvSpPr>
        <p:spPr>
          <a:xfrm>
            <a:off x="12179201" y="4956572"/>
            <a:ext cx="498708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4B8E"/>
                </a:solidFill>
                <a:latin typeface="Arial" pitchFamily="34" charset="0"/>
                <a:ea typeface="Arial" pitchFamily="34" charset="-122"/>
                <a:cs typeface="Arial" pitchFamily="34" charset="-120"/>
              </a:rPr>
              <a:t>APPROACH</a:t>
            </a:r>
            <a:endParaRPr lang="en-US" sz="1800" dirty="0"/>
          </a:p>
        </p:txBody>
      </p:sp>
      <p:sp>
        <p:nvSpPr>
          <p:cNvPr id="16" name="Text 14"/>
          <p:cNvSpPr/>
          <p:nvPr/>
        </p:nvSpPr>
        <p:spPr>
          <a:xfrm>
            <a:off x="12179201" y="5356622"/>
            <a:ext cx="4987080"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14181D"/>
                </a:solidFill>
                <a:latin typeface="Arial" pitchFamily="34" charset="0"/>
                <a:ea typeface="Arial" pitchFamily="34" charset="-122"/>
                <a:cs typeface="Arial" pitchFamily="34" charset="-120"/>
              </a:rPr>
              <a:t>Logistic Regression vs. Random Forest</a:t>
            </a:r>
            <a:endParaRPr lang="en-US" sz="2250" dirty="0"/>
          </a:p>
        </p:txBody>
      </p:sp>
      <p:sp>
        <p:nvSpPr>
          <p:cNvPr id="17" name="Text 15"/>
          <p:cNvSpPr/>
          <p:nvPr/>
        </p:nvSpPr>
        <p:spPr>
          <a:xfrm>
            <a:off x="1257300" y="6785372"/>
            <a:ext cx="4996891"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4B8E"/>
                </a:solidFill>
                <a:latin typeface="Arial" pitchFamily="34" charset="0"/>
                <a:ea typeface="Arial" pitchFamily="34" charset="-122"/>
                <a:cs typeface="Arial" pitchFamily="34" charset="-120"/>
              </a:rPr>
              <a:t>EVALUATION</a:t>
            </a:r>
            <a:endParaRPr lang="en-US" sz="1800" dirty="0"/>
          </a:p>
        </p:txBody>
      </p:sp>
      <p:sp>
        <p:nvSpPr>
          <p:cNvPr id="18" name="Text 16"/>
          <p:cNvSpPr/>
          <p:nvPr/>
        </p:nvSpPr>
        <p:spPr>
          <a:xfrm>
            <a:off x="1257300" y="7185422"/>
            <a:ext cx="4996891"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14181D"/>
                </a:solidFill>
                <a:latin typeface="Arial" pitchFamily="34" charset="0"/>
                <a:ea typeface="Arial" pitchFamily="34" charset="-122"/>
                <a:cs typeface="Arial" pitchFamily="34" charset="-120"/>
              </a:rPr>
              <a:t>5-fold subject-level cross-validation</a:t>
            </a:r>
            <a:endParaRPr lang="en-US" sz="2250" dirty="0"/>
          </a:p>
        </p:txBody>
      </p:sp>
      <p:sp>
        <p:nvSpPr>
          <p:cNvPr id="19" name="Shape 17"/>
          <p:cNvSpPr/>
          <p:nvPr/>
        </p:nvSpPr>
        <p:spPr>
          <a:xfrm>
            <a:off x="952500" y="8943975"/>
            <a:ext cx="16383000" cy="9525"/>
          </a:xfrm>
          <a:prstGeom prst="rect">
            <a:avLst/>
          </a:prstGeom>
          <a:solidFill>
            <a:srgbClr val="D9DADB"/>
          </a:solidFill>
          <a:ln/>
        </p:spPr>
      </p:sp>
      <p:sp>
        <p:nvSpPr>
          <p:cNvPr id="20" name="Text 18"/>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21" name="Text 19"/>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2A2F36"/>
          </a:solidFill>
          <a:ln/>
        </p:spPr>
      </p:sp>
      <p:sp>
        <p:nvSpPr>
          <p:cNvPr id="3" name="Text 1"/>
          <p:cNvSpPr/>
          <p:nvPr/>
        </p:nvSpPr>
        <p:spPr>
          <a:xfrm>
            <a:off x="952500" y="952500"/>
            <a:ext cx="110043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PART 02</a:t>
            </a:r>
            <a:endParaRPr lang="en-US" sz="1800" dirty="0"/>
          </a:p>
        </p:txBody>
      </p:sp>
      <p:sp>
        <p:nvSpPr>
          <p:cNvPr id="4" name="Text 2"/>
          <p:cNvSpPr/>
          <p:nvPr/>
        </p:nvSpPr>
        <p:spPr>
          <a:xfrm>
            <a:off x="2243435" y="981075"/>
            <a:ext cx="2258467"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9AA0A8"/>
                </a:solidFill>
                <a:latin typeface="Arial" pitchFamily="34" charset="0"/>
                <a:ea typeface="Arial" pitchFamily="34" charset="-122"/>
                <a:cs typeface="Arial" pitchFamily="34" charset="-120"/>
              </a:rPr>
              <a:t>DATA &amp; FEATURES</a:t>
            </a:r>
            <a:endParaRPr lang="en-US" sz="1800" dirty="0"/>
          </a:p>
        </p:txBody>
      </p:sp>
      <p:sp>
        <p:nvSpPr>
          <p:cNvPr id="5" name="Text 3"/>
          <p:cNvSpPr/>
          <p:nvPr/>
        </p:nvSpPr>
        <p:spPr>
          <a:xfrm>
            <a:off x="16603861" y="952500"/>
            <a:ext cx="807839"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9AA0A8"/>
                </a:solidFill>
                <a:latin typeface="Arial" pitchFamily="34" charset="0"/>
                <a:ea typeface="Arial" pitchFamily="34" charset="-122"/>
                <a:cs typeface="Arial" pitchFamily="34" charset="-120"/>
              </a:rPr>
              <a:t>5 — 9</a:t>
            </a:r>
            <a:endParaRPr lang="en-US" sz="1800" dirty="0"/>
          </a:p>
        </p:txBody>
      </p:sp>
      <p:sp>
        <p:nvSpPr>
          <p:cNvPr id="6" name="Text 4"/>
          <p:cNvSpPr/>
          <p:nvPr/>
        </p:nvSpPr>
        <p:spPr>
          <a:xfrm>
            <a:off x="952500" y="1495425"/>
            <a:ext cx="16874490" cy="3429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9BB0D0"/>
                </a:solidFill>
                <a:latin typeface="Arial" pitchFamily="34" charset="0"/>
                <a:ea typeface="Arial" pitchFamily="34" charset="-122"/>
                <a:cs typeface="Arial" pitchFamily="34" charset="-120"/>
              </a:rPr>
              <a:t>PART TWO</a:t>
            </a:r>
            <a:endParaRPr lang="en-US" sz="1800" dirty="0"/>
          </a:p>
        </p:txBody>
      </p:sp>
      <p:sp>
        <p:nvSpPr>
          <p:cNvPr id="7" name="Text 5"/>
          <p:cNvSpPr/>
          <p:nvPr/>
        </p:nvSpPr>
        <p:spPr>
          <a:xfrm>
            <a:off x="952500" y="2105025"/>
            <a:ext cx="15697200" cy="2781300"/>
          </a:xfrm>
          <a:prstGeom prst="rect">
            <a:avLst/>
          </a:prstGeom>
          <a:noFill/>
          <a:ln/>
        </p:spPr>
        <p:txBody>
          <a:bodyPr wrap="square" lIns="25400" tIns="25400" rIns="25400" bIns="25400" rtlCol="0" anchor="t">
            <a:normAutofit/>
          </a:bodyPr>
          <a:lstStyle/>
          <a:p>
            <a:pPr algn="l" indent="0" marL="0">
              <a:lnSpc>
                <a:spcPct val="100000"/>
              </a:lnSpc>
              <a:buNone/>
            </a:pPr>
            <a:r>
              <a:rPr lang="en-US" sz="10800" b="1" spc="-324" kern="0" dirty="0">
                <a:solidFill>
                  <a:srgbClr val="F6F4EF"/>
                </a:solidFill>
                <a:latin typeface="Arial" pitchFamily="34" charset="0"/>
                <a:ea typeface="Arial" pitchFamily="34" charset="-122"/>
                <a:cs typeface="Arial" pitchFamily="34" charset="-120"/>
              </a:rPr>
              <a:t>From scalp signal to a 76-feature vector.</a:t>
            </a:r>
            <a:endParaRPr lang="en-US" sz="10800" dirty="0"/>
          </a:p>
        </p:txBody>
      </p:sp>
      <p:sp>
        <p:nvSpPr>
          <p:cNvPr id="8" name="Shape 6"/>
          <p:cNvSpPr/>
          <p:nvPr/>
        </p:nvSpPr>
        <p:spPr>
          <a:xfrm>
            <a:off x="952500" y="8943975"/>
            <a:ext cx="16383000" cy="9525"/>
          </a:xfrm>
          <a:prstGeom prst="rect">
            <a:avLst/>
          </a:prstGeom>
          <a:solidFill>
            <a:srgbClr val="2A2F36"/>
          </a:solidFill>
          <a:ln/>
        </p:spPr>
      </p:sp>
      <p:sp>
        <p:nvSpPr>
          <p:cNvPr id="9" name="Text 7"/>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F6F4EF"/>
                </a:solidFill>
                <a:latin typeface="Arial" pitchFamily="34" charset="0"/>
                <a:ea typeface="Arial" pitchFamily="34" charset="-122"/>
                <a:cs typeface="Arial" pitchFamily="34" charset="-120"/>
              </a:rPr>
              <a:t>EEG · ALZHEIMER'S DETECTION</a:t>
            </a:r>
            <a:endParaRPr lang="en-US" sz="1800" dirty="0"/>
          </a:p>
        </p:txBody>
      </p:sp>
      <p:sp>
        <p:nvSpPr>
          <p:cNvPr id="10" name="Text 8"/>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Arial" pitchFamily="34" charset="0"/>
                <a:ea typeface="Arial" pitchFamily="34" charset="-122"/>
                <a:cs typeface="Arial" pitchFamily="34" charset="-120"/>
              </a:rPr>
              <a:t>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06</a:t>
            </a:r>
            <a:endParaRPr lang="en-US" sz="1800" dirty="0"/>
          </a:p>
        </p:txBody>
      </p:sp>
      <p:sp>
        <p:nvSpPr>
          <p:cNvPr id="4" name="Text 2"/>
          <p:cNvSpPr/>
          <p:nvPr/>
        </p:nvSpPr>
        <p:spPr>
          <a:xfrm>
            <a:off x="1511945" y="981075"/>
            <a:ext cx="1160562"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DATASET</a:t>
            </a:r>
            <a:endParaRPr lang="en-US" sz="1800" dirty="0"/>
          </a:p>
        </p:txBody>
      </p:sp>
      <p:sp>
        <p:nvSpPr>
          <p:cNvPr id="5" name="Text 3"/>
          <p:cNvSpPr/>
          <p:nvPr/>
        </p:nvSpPr>
        <p:spPr>
          <a:xfrm>
            <a:off x="12946261" y="952500"/>
            <a:ext cx="4520916"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LARGEST ALZHEIMER EEG · KAGGLE</a:t>
            </a:r>
            <a:endParaRPr lang="en-US" sz="1800" dirty="0"/>
          </a:p>
        </p:txBody>
      </p:sp>
      <p:sp>
        <p:nvSpPr>
          <p:cNvPr id="6" name="Text 4"/>
          <p:cNvSpPr/>
          <p:nvPr/>
        </p:nvSpPr>
        <p:spPr>
          <a:xfrm>
            <a:off x="952500" y="1952625"/>
            <a:ext cx="16874490" cy="3429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4B8E"/>
                </a:solidFill>
                <a:latin typeface="Arial" pitchFamily="34" charset="0"/>
                <a:ea typeface="Arial" pitchFamily="34" charset="-122"/>
                <a:cs typeface="Arial" pitchFamily="34" charset="-120"/>
              </a:rPr>
              <a:t>DATASET</a:t>
            </a:r>
            <a:endParaRPr lang="en-US" sz="1800" dirty="0"/>
          </a:p>
        </p:txBody>
      </p:sp>
      <p:sp>
        <p:nvSpPr>
          <p:cNvPr id="7" name="Text 5"/>
          <p:cNvSpPr/>
          <p:nvPr/>
        </p:nvSpPr>
        <p:spPr>
          <a:xfrm>
            <a:off x="952500" y="2790825"/>
            <a:ext cx="16874490" cy="1305818"/>
          </a:xfrm>
          <a:prstGeom prst="rect">
            <a:avLst/>
          </a:prstGeom>
          <a:noFill/>
          <a:ln/>
        </p:spPr>
        <p:txBody>
          <a:bodyPr wrap="square" lIns="25400" tIns="25400" rIns="25400" bIns="25400" rtlCol="0" anchor="t">
            <a:normAutofit/>
          </a:bodyPr>
          <a:lstStyle/>
          <a:p>
            <a:pPr algn="l" indent="0" marL="0">
              <a:lnSpc>
                <a:spcPct val="104000"/>
              </a:lnSpc>
              <a:buNone/>
            </a:pPr>
            <a:r>
              <a:rPr lang="en-US" sz="4800" b="1" spc="-96" kern="0" dirty="0">
                <a:solidFill>
                  <a:srgbClr val="14181D"/>
                </a:solidFill>
                <a:latin typeface="Arial" pitchFamily="34" charset="0"/>
                <a:ea typeface="Arial" pitchFamily="34" charset="-122"/>
                <a:cs typeface="Arial" pitchFamily="34" charset="-120"/>
              </a:rPr>
              <a:t>241 subjects across three groups, ~28 hours of resting-state EEG.</a:t>
            </a:r>
            <a:endParaRPr lang="en-US" sz="4800" dirty="0"/>
          </a:p>
        </p:txBody>
      </p:sp>
      <p:sp>
        <p:nvSpPr>
          <p:cNvPr id="8" name="Text 6"/>
          <p:cNvSpPr/>
          <p:nvPr/>
        </p:nvSpPr>
        <p:spPr>
          <a:xfrm>
            <a:off x="952500" y="4644330"/>
            <a:ext cx="236220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Alzheimer's (AD)</a:t>
            </a:r>
            <a:endParaRPr lang="en-US" sz="1800" dirty="0"/>
          </a:p>
        </p:txBody>
      </p:sp>
      <p:sp>
        <p:nvSpPr>
          <p:cNvPr id="9" name="Shape 7"/>
          <p:cNvSpPr/>
          <p:nvPr/>
        </p:nvSpPr>
        <p:spPr>
          <a:xfrm>
            <a:off x="3429000" y="4630043"/>
            <a:ext cx="4114800" cy="304800"/>
          </a:xfrm>
          <a:prstGeom prst="roundRect">
            <a:avLst>
              <a:gd name="adj" fmla="val 12500"/>
            </a:avLst>
          </a:prstGeom>
          <a:solidFill>
            <a:srgbClr val="ECECEC"/>
          </a:solidFill>
          <a:ln/>
        </p:spPr>
      </p:sp>
      <p:sp>
        <p:nvSpPr>
          <p:cNvPr id="10" name="Shape 8"/>
          <p:cNvSpPr/>
          <p:nvPr/>
        </p:nvSpPr>
        <p:spPr>
          <a:xfrm>
            <a:off x="3429000" y="4630043"/>
            <a:ext cx="4114800" cy="304800"/>
          </a:xfrm>
          <a:prstGeom prst="roundRect">
            <a:avLst>
              <a:gd name="adj" fmla="val 12500"/>
            </a:avLst>
          </a:prstGeom>
          <a:solidFill>
            <a:srgbClr val="B0421F"/>
          </a:solidFill>
          <a:ln/>
        </p:spPr>
      </p:sp>
      <p:sp>
        <p:nvSpPr>
          <p:cNvPr id="11" name="Text 9"/>
          <p:cNvSpPr/>
          <p:nvPr/>
        </p:nvSpPr>
        <p:spPr>
          <a:xfrm>
            <a:off x="7658100" y="4630043"/>
            <a:ext cx="102870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4181D"/>
                </a:solidFill>
                <a:latin typeface="Arial" pitchFamily="34" charset="0"/>
                <a:ea typeface="Arial" pitchFamily="34" charset="-122"/>
                <a:cs typeface="Arial" pitchFamily="34" charset="-120"/>
              </a:rPr>
              <a:t>122</a:t>
            </a:r>
            <a:endParaRPr lang="en-US" sz="1800" dirty="0"/>
          </a:p>
        </p:txBody>
      </p:sp>
      <p:sp>
        <p:nvSpPr>
          <p:cNvPr id="12" name="Text 10"/>
          <p:cNvSpPr/>
          <p:nvPr/>
        </p:nvSpPr>
        <p:spPr>
          <a:xfrm>
            <a:off x="952500" y="5106293"/>
            <a:ext cx="2362200" cy="590550"/>
          </a:xfrm>
          <a:prstGeom prst="rect">
            <a:avLst/>
          </a:prstGeom>
          <a:noFill/>
          <a:ln/>
        </p:spPr>
        <p:txBody>
          <a:bodyPr wrap="square" lIns="25400" tIns="25400" rIns="25400" bIns="25400" rtlCol="0" anchor="t">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Healthy Controls (HC)</a:t>
            </a:r>
            <a:endParaRPr lang="en-US" sz="1800" dirty="0"/>
          </a:p>
        </p:txBody>
      </p:sp>
      <p:sp>
        <p:nvSpPr>
          <p:cNvPr id="13" name="Shape 11"/>
          <p:cNvSpPr/>
          <p:nvPr/>
        </p:nvSpPr>
        <p:spPr>
          <a:xfrm>
            <a:off x="3429000" y="5230118"/>
            <a:ext cx="4114800" cy="304800"/>
          </a:xfrm>
          <a:prstGeom prst="roundRect">
            <a:avLst>
              <a:gd name="adj" fmla="val 12500"/>
            </a:avLst>
          </a:prstGeom>
          <a:solidFill>
            <a:srgbClr val="ECECEC"/>
          </a:solidFill>
          <a:ln/>
        </p:spPr>
      </p:sp>
      <p:sp>
        <p:nvSpPr>
          <p:cNvPr id="14" name="Shape 12"/>
          <p:cNvSpPr/>
          <p:nvPr/>
        </p:nvSpPr>
        <p:spPr>
          <a:xfrm>
            <a:off x="3429000" y="5230118"/>
            <a:ext cx="2629346" cy="304800"/>
          </a:xfrm>
          <a:prstGeom prst="roundRect">
            <a:avLst>
              <a:gd name="adj" fmla="val 12500"/>
            </a:avLst>
          </a:prstGeom>
          <a:solidFill>
            <a:srgbClr val="1F4B8E"/>
          </a:solidFill>
          <a:ln/>
        </p:spPr>
      </p:sp>
      <p:sp>
        <p:nvSpPr>
          <p:cNvPr id="15" name="Text 13"/>
          <p:cNvSpPr/>
          <p:nvPr/>
        </p:nvSpPr>
        <p:spPr>
          <a:xfrm>
            <a:off x="7658100" y="5230118"/>
            <a:ext cx="102870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4181D"/>
                </a:solidFill>
                <a:latin typeface="Arial" pitchFamily="34" charset="0"/>
                <a:ea typeface="Arial" pitchFamily="34" charset="-122"/>
                <a:cs typeface="Arial" pitchFamily="34" charset="-120"/>
              </a:rPr>
              <a:t>78</a:t>
            </a:r>
            <a:endParaRPr lang="en-US" sz="1800" dirty="0"/>
          </a:p>
        </p:txBody>
      </p:sp>
      <p:sp>
        <p:nvSpPr>
          <p:cNvPr id="16" name="Text 14"/>
          <p:cNvSpPr/>
          <p:nvPr/>
        </p:nvSpPr>
        <p:spPr>
          <a:xfrm>
            <a:off x="952500" y="5830193"/>
            <a:ext cx="2362200" cy="590550"/>
          </a:xfrm>
          <a:prstGeom prst="rect">
            <a:avLst/>
          </a:prstGeom>
          <a:noFill/>
          <a:ln/>
        </p:spPr>
        <p:txBody>
          <a:bodyPr wrap="square" lIns="25400" tIns="25400" rIns="25400" bIns="25400" rtlCol="0" anchor="t">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Frontotemporal (FTD)</a:t>
            </a:r>
            <a:endParaRPr lang="en-US" sz="1800" dirty="0"/>
          </a:p>
        </p:txBody>
      </p:sp>
      <p:sp>
        <p:nvSpPr>
          <p:cNvPr id="17" name="Shape 15"/>
          <p:cNvSpPr/>
          <p:nvPr/>
        </p:nvSpPr>
        <p:spPr>
          <a:xfrm>
            <a:off x="3429000" y="5954018"/>
            <a:ext cx="4114800" cy="304800"/>
          </a:xfrm>
          <a:prstGeom prst="roundRect">
            <a:avLst>
              <a:gd name="adj" fmla="val 12500"/>
            </a:avLst>
          </a:prstGeom>
          <a:solidFill>
            <a:srgbClr val="ECECEC"/>
          </a:solidFill>
          <a:ln/>
        </p:spPr>
      </p:sp>
      <p:sp>
        <p:nvSpPr>
          <p:cNvPr id="18" name="Shape 16"/>
          <p:cNvSpPr/>
          <p:nvPr/>
        </p:nvSpPr>
        <p:spPr>
          <a:xfrm>
            <a:off x="3429000" y="5954018"/>
            <a:ext cx="1382464" cy="304800"/>
          </a:xfrm>
          <a:prstGeom prst="roundRect">
            <a:avLst>
              <a:gd name="adj" fmla="val 12500"/>
            </a:avLst>
          </a:prstGeom>
          <a:solidFill>
            <a:srgbClr val="6A7280"/>
          </a:solidFill>
          <a:ln/>
        </p:spPr>
      </p:sp>
      <p:sp>
        <p:nvSpPr>
          <p:cNvPr id="19" name="Text 17"/>
          <p:cNvSpPr/>
          <p:nvPr/>
        </p:nvSpPr>
        <p:spPr>
          <a:xfrm>
            <a:off x="7658100" y="5954018"/>
            <a:ext cx="1028700" cy="342900"/>
          </a:xfrm>
          <a:prstGeom prst="rect">
            <a:avLst/>
          </a:prstGeom>
          <a:noFill/>
          <a:ln/>
        </p:spPr>
        <p:txBody>
          <a:bodyPr wrap="square" lIns="25400" tIns="25400" rIns="25400" bIns="25400" rtlCol="0" anchor="t">
            <a:normAutofit/>
          </a:bodyPr>
          <a:lstStyle/>
          <a:p>
            <a:pPr algn="r" indent="0" marL="0">
              <a:buNone/>
            </a:pPr>
            <a:r>
              <a:rPr lang="en-US" sz="1800" dirty="0">
                <a:solidFill>
                  <a:srgbClr val="14181D"/>
                </a:solidFill>
                <a:latin typeface="Arial" pitchFamily="34" charset="0"/>
                <a:ea typeface="Arial" pitchFamily="34" charset="-122"/>
                <a:cs typeface="Arial" pitchFamily="34" charset="-120"/>
              </a:rPr>
              <a:t>41</a:t>
            </a:r>
            <a:endParaRPr lang="en-US" sz="1800" dirty="0"/>
          </a:p>
        </p:txBody>
      </p:sp>
      <p:sp>
        <p:nvSpPr>
          <p:cNvPr id="20" name="Text 18"/>
          <p:cNvSpPr/>
          <p:nvPr/>
        </p:nvSpPr>
        <p:spPr>
          <a:xfrm>
            <a:off x="952500" y="6687443"/>
            <a:ext cx="7966329"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A7280"/>
                </a:solidFill>
                <a:latin typeface="Arial" pitchFamily="34" charset="0"/>
                <a:ea typeface="Arial" pitchFamily="34" charset="-122"/>
                <a:cs typeface="Arial" pitchFamily="34" charset="-120"/>
              </a:rPr>
              <a:t>FTD subjects excluded from the binary HC vs. AD task; </a:t>
            </a:r>
            <a:pPr algn="l" indent="0" marL="0">
              <a:lnSpc>
                <a:spcPct val="150000"/>
              </a:lnSpc>
              <a:buNone/>
            </a:pPr>
            <a:r>
              <a:rPr lang="en-US" sz="1800" b="1" dirty="0">
                <a:solidFill>
                  <a:srgbClr val="6A7280"/>
                </a:solidFill>
                <a:latin typeface="Arial" pitchFamily="34" charset="0"/>
                <a:ea typeface="Arial" pitchFamily="34" charset="-122"/>
                <a:cs typeface="Arial" pitchFamily="34" charset="-120"/>
              </a:rPr>
              <a:t>200 subjects </a:t>
            </a:r>
            <a:pPr algn="l" indent="0" marL="0">
              <a:lnSpc>
                <a:spcPct val="150000"/>
              </a:lnSpc>
              <a:buNone/>
            </a:pPr>
            <a:r>
              <a:rPr lang="en-US" sz="1800" dirty="0">
                <a:solidFill>
                  <a:srgbClr val="6A7280"/>
                </a:solidFill>
                <a:latin typeface="Arial" pitchFamily="34" charset="0"/>
                <a:ea typeface="Arial" pitchFamily="34" charset="-122"/>
                <a:cs typeface="Arial" pitchFamily="34" charset="-120"/>
              </a:rPr>
              <a:t>remain.</a:t>
            </a:r>
            <a:endParaRPr lang="en-US" sz="1800" dirty="0"/>
          </a:p>
        </p:txBody>
      </p:sp>
      <p:sp>
        <p:nvSpPr>
          <p:cNvPr id="21" name="Shape 19"/>
          <p:cNvSpPr/>
          <p:nvPr/>
        </p:nvSpPr>
        <p:spPr>
          <a:xfrm>
            <a:off x="9601200" y="5192018"/>
            <a:ext cx="4914007" cy="19050"/>
          </a:xfrm>
          <a:prstGeom prst="rect">
            <a:avLst/>
          </a:prstGeom>
          <a:solidFill>
            <a:srgbClr val="14181D"/>
          </a:solidFill>
          <a:ln/>
        </p:spPr>
      </p:sp>
      <p:sp>
        <p:nvSpPr>
          <p:cNvPr id="22" name="Text 20"/>
          <p:cNvSpPr/>
          <p:nvPr/>
        </p:nvSpPr>
        <p:spPr>
          <a:xfrm>
            <a:off x="9791700" y="4763393"/>
            <a:ext cx="4680427" cy="333375"/>
          </a:xfrm>
          <a:prstGeom prst="rect">
            <a:avLst/>
          </a:prstGeom>
          <a:noFill/>
          <a:ln/>
        </p:spPr>
        <p:txBody>
          <a:bodyPr wrap="square" lIns="25400" tIns="25400" rIns="25400" bIns="25400" rtlCol="0" anchor="ctr">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PROPERTY</a:t>
            </a:r>
            <a:endParaRPr lang="en-US" sz="1800" dirty="0"/>
          </a:p>
        </p:txBody>
      </p:sp>
      <p:sp>
        <p:nvSpPr>
          <p:cNvPr id="23" name="Shape 21"/>
          <p:cNvSpPr/>
          <p:nvPr/>
        </p:nvSpPr>
        <p:spPr>
          <a:xfrm>
            <a:off x="14515207" y="5192018"/>
            <a:ext cx="2820293" cy="19050"/>
          </a:xfrm>
          <a:prstGeom prst="rect">
            <a:avLst/>
          </a:prstGeom>
          <a:solidFill>
            <a:srgbClr val="14181D"/>
          </a:solidFill>
          <a:ln/>
        </p:spPr>
      </p:sp>
      <p:sp>
        <p:nvSpPr>
          <p:cNvPr id="24" name="Text 22"/>
          <p:cNvSpPr/>
          <p:nvPr/>
        </p:nvSpPr>
        <p:spPr>
          <a:xfrm>
            <a:off x="14705707" y="4763393"/>
            <a:ext cx="2523902" cy="333375"/>
          </a:xfrm>
          <a:prstGeom prst="rect">
            <a:avLst/>
          </a:prstGeom>
          <a:noFill/>
          <a:ln/>
        </p:spPr>
        <p:txBody>
          <a:bodyPr wrap="square" lIns="25400" tIns="25400" rIns="25400" bIns="25400" rtlCol="0" anchor="ctr">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VALUE</a:t>
            </a:r>
            <a:endParaRPr lang="en-US" sz="1800" dirty="0"/>
          </a:p>
        </p:txBody>
      </p:sp>
      <p:sp>
        <p:nvSpPr>
          <p:cNvPr id="25" name="Shape 23"/>
          <p:cNvSpPr/>
          <p:nvPr/>
        </p:nvSpPr>
        <p:spPr>
          <a:xfrm>
            <a:off x="9601200" y="5777805"/>
            <a:ext cx="4914007" cy="9525"/>
          </a:xfrm>
          <a:prstGeom prst="rect">
            <a:avLst/>
          </a:prstGeom>
          <a:solidFill>
            <a:srgbClr val="D9DADB"/>
          </a:solidFill>
          <a:ln/>
        </p:spPr>
      </p:sp>
      <p:sp>
        <p:nvSpPr>
          <p:cNvPr id="26" name="Text 24"/>
          <p:cNvSpPr/>
          <p:nvPr/>
        </p:nvSpPr>
        <p:spPr>
          <a:xfrm>
            <a:off x="9791700" y="5344418"/>
            <a:ext cx="4680427" cy="338138"/>
          </a:xfrm>
          <a:prstGeom prst="rect">
            <a:avLst/>
          </a:prstGeom>
          <a:noFill/>
          <a:ln/>
        </p:spPr>
        <p:txBody>
          <a:bodyPr wrap="square" lIns="25400" tIns="25400" rIns="25400" bIns="25400" rtlCol="0" anchor="ctr">
            <a:normAutofit/>
          </a:bodyPr>
          <a:lstStyle/>
          <a:p>
            <a:pPr algn="l" indent="0" marL="0">
              <a:buNone/>
            </a:pPr>
            <a:r>
              <a:rPr lang="en-US" sz="1950" dirty="0">
                <a:solidFill>
                  <a:srgbClr val="14181D"/>
                </a:solidFill>
                <a:latin typeface="Arial" pitchFamily="34" charset="0"/>
                <a:ea typeface="Arial" pitchFamily="34" charset="-122"/>
                <a:cs typeface="Arial" pitchFamily="34" charset="-120"/>
              </a:rPr>
              <a:t>EEG channels</a:t>
            </a:r>
            <a:endParaRPr lang="en-US" sz="1950" dirty="0"/>
          </a:p>
        </p:txBody>
      </p:sp>
      <p:sp>
        <p:nvSpPr>
          <p:cNvPr id="27" name="Shape 25"/>
          <p:cNvSpPr/>
          <p:nvPr/>
        </p:nvSpPr>
        <p:spPr>
          <a:xfrm>
            <a:off x="14515207" y="5777805"/>
            <a:ext cx="2820293" cy="9525"/>
          </a:xfrm>
          <a:prstGeom prst="rect">
            <a:avLst/>
          </a:prstGeom>
          <a:solidFill>
            <a:srgbClr val="D9DADB"/>
          </a:solidFill>
          <a:ln/>
        </p:spPr>
      </p:sp>
      <p:sp>
        <p:nvSpPr>
          <p:cNvPr id="28" name="Text 26"/>
          <p:cNvSpPr/>
          <p:nvPr/>
        </p:nvSpPr>
        <p:spPr>
          <a:xfrm>
            <a:off x="14705707" y="5344418"/>
            <a:ext cx="2523902" cy="338138"/>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19</a:t>
            </a:r>
            <a:endParaRPr lang="en-US" sz="1800" dirty="0"/>
          </a:p>
        </p:txBody>
      </p:sp>
      <p:sp>
        <p:nvSpPr>
          <p:cNvPr id="29" name="Shape 27"/>
          <p:cNvSpPr/>
          <p:nvPr/>
        </p:nvSpPr>
        <p:spPr>
          <a:xfrm>
            <a:off x="9601200" y="6349305"/>
            <a:ext cx="4914007" cy="9525"/>
          </a:xfrm>
          <a:prstGeom prst="rect">
            <a:avLst/>
          </a:prstGeom>
          <a:solidFill>
            <a:srgbClr val="D9DADB"/>
          </a:solidFill>
          <a:ln/>
        </p:spPr>
      </p:sp>
      <p:sp>
        <p:nvSpPr>
          <p:cNvPr id="30" name="Text 28"/>
          <p:cNvSpPr/>
          <p:nvPr/>
        </p:nvSpPr>
        <p:spPr>
          <a:xfrm>
            <a:off x="9791700" y="5920680"/>
            <a:ext cx="4680427"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14181D"/>
                </a:solidFill>
                <a:latin typeface="Arial" pitchFamily="34" charset="0"/>
                <a:ea typeface="Arial" pitchFamily="34" charset="-122"/>
                <a:cs typeface="Arial" pitchFamily="34" charset="-120"/>
              </a:rPr>
              <a:t>Sampling rate</a:t>
            </a:r>
            <a:endParaRPr lang="en-US" sz="1950" dirty="0"/>
          </a:p>
        </p:txBody>
      </p:sp>
      <p:sp>
        <p:nvSpPr>
          <p:cNvPr id="31" name="Shape 29"/>
          <p:cNvSpPr/>
          <p:nvPr/>
        </p:nvSpPr>
        <p:spPr>
          <a:xfrm>
            <a:off x="14515207" y="6349305"/>
            <a:ext cx="2820293" cy="9525"/>
          </a:xfrm>
          <a:prstGeom prst="rect">
            <a:avLst/>
          </a:prstGeom>
          <a:solidFill>
            <a:srgbClr val="D9DADB"/>
          </a:solidFill>
          <a:ln/>
        </p:spPr>
      </p:sp>
      <p:sp>
        <p:nvSpPr>
          <p:cNvPr id="32" name="Text 30"/>
          <p:cNvSpPr/>
          <p:nvPr/>
        </p:nvSpPr>
        <p:spPr>
          <a:xfrm>
            <a:off x="14705707" y="5920680"/>
            <a:ext cx="2523902"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128 Hz</a:t>
            </a:r>
            <a:endParaRPr lang="en-US" sz="1800" dirty="0"/>
          </a:p>
        </p:txBody>
      </p:sp>
      <p:sp>
        <p:nvSpPr>
          <p:cNvPr id="33" name="Shape 31"/>
          <p:cNvSpPr/>
          <p:nvPr/>
        </p:nvSpPr>
        <p:spPr>
          <a:xfrm>
            <a:off x="9601200" y="6920805"/>
            <a:ext cx="4914007" cy="9525"/>
          </a:xfrm>
          <a:prstGeom prst="rect">
            <a:avLst/>
          </a:prstGeom>
          <a:solidFill>
            <a:srgbClr val="D9DADB"/>
          </a:solidFill>
          <a:ln/>
        </p:spPr>
      </p:sp>
      <p:sp>
        <p:nvSpPr>
          <p:cNvPr id="34" name="Text 32"/>
          <p:cNvSpPr/>
          <p:nvPr/>
        </p:nvSpPr>
        <p:spPr>
          <a:xfrm>
            <a:off x="9791700" y="6492180"/>
            <a:ext cx="4680427"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14181D"/>
                </a:solidFill>
                <a:latin typeface="Arial" pitchFamily="34" charset="0"/>
                <a:ea typeface="Arial" pitchFamily="34" charset="-122"/>
                <a:cs typeface="Arial" pitchFamily="34" charset="-120"/>
              </a:rPr>
              <a:t>Total duration</a:t>
            </a:r>
            <a:endParaRPr lang="en-US" sz="1950" dirty="0"/>
          </a:p>
        </p:txBody>
      </p:sp>
      <p:sp>
        <p:nvSpPr>
          <p:cNvPr id="35" name="Shape 33"/>
          <p:cNvSpPr/>
          <p:nvPr/>
        </p:nvSpPr>
        <p:spPr>
          <a:xfrm>
            <a:off x="14515207" y="6920805"/>
            <a:ext cx="2820293" cy="9525"/>
          </a:xfrm>
          <a:prstGeom prst="rect">
            <a:avLst/>
          </a:prstGeom>
          <a:solidFill>
            <a:srgbClr val="D9DADB"/>
          </a:solidFill>
          <a:ln/>
        </p:spPr>
      </p:sp>
      <p:sp>
        <p:nvSpPr>
          <p:cNvPr id="36" name="Text 34"/>
          <p:cNvSpPr/>
          <p:nvPr/>
        </p:nvSpPr>
        <p:spPr>
          <a:xfrm>
            <a:off x="14705707" y="6492180"/>
            <a:ext cx="2523902"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~28.3 h</a:t>
            </a:r>
            <a:endParaRPr lang="en-US" sz="1800" dirty="0"/>
          </a:p>
        </p:txBody>
      </p:sp>
      <p:sp>
        <p:nvSpPr>
          <p:cNvPr id="37" name="Shape 35"/>
          <p:cNvSpPr/>
          <p:nvPr/>
        </p:nvSpPr>
        <p:spPr>
          <a:xfrm>
            <a:off x="9601200" y="7492305"/>
            <a:ext cx="4914007" cy="9525"/>
          </a:xfrm>
          <a:prstGeom prst="rect">
            <a:avLst/>
          </a:prstGeom>
          <a:solidFill>
            <a:srgbClr val="D9DADB"/>
          </a:solidFill>
          <a:ln/>
        </p:spPr>
      </p:sp>
      <p:sp>
        <p:nvSpPr>
          <p:cNvPr id="38" name="Text 36"/>
          <p:cNvSpPr/>
          <p:nvPr/>
        </p:nvSpPr>
        <p:spPr>
          <a:xfrm>
            <a:off x="9791700" y="7063680"/>
            <a:ext cx="4680427"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14181D"/>
                </a:solidFill>
                <a:latin typeface="Arial" pitchFamily="34" charset="0"/>
                <a:ea typeface="Arial" pitchFamily="34" charset="-122"/>
                <a:cs typeface="Arial" pitchFamily="34" charset="-120"/>
              </a:rPr>
              <a:t>Avg per subject</a:t>
            </a:r>
            <a:endParaRPr lang="en-US" sz="1950" dirty="0"/>
          </a:p>
        </p:txBody>
      </p:sp>
      <p:sp>
        <p:nvSpPr>
          <p:cNvPr id="39" name="Shape 37"/>
          <p:cNvSpPr/>
          <p:nvPr/>
        </p:nvSpPr>
        <p:spPr>
          <a:xfrm>
            <a:off x="14515207" y="7492305"/>
            <a:ext cx="2820293" cy="9525"/>
          </a:xfrm>
          <a:prstGeom prst="rect">
            <a:avLst/>
          </a:prstGeom>
          <a:solidFill>
            <a:srgbClr val="D9DADB"/>
          </a:solidFill>
          <a:ln/>
        </p:spPr>
      </p:sp>
      <p:sp>
        <p:nvSpPr>
          <p:cNvPr id="40" name="Text 38"/>
          <p:cNvSpPr/>
          <p:nvPr/>
        </p:nvSpPr>
        <p:spPr>
          <a:xfrm>
            <a:off x="14705707" y="7063680"/>
            <a:ext cx="2523902"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~423 s</a:t>
            </a:r>
            <a:endParaRPr lang="en-US" sz="1800" dirty="0"/>
          </a:p>
        </p:txBody>
      </p:sp>
      <p:sp>
        <p:nvSpPr>
          <p:cNvPr id="41" name="Shape 39"/>
          <p:cNvSpPr/>
          <p:nvPr/>
        </p:nvSpPr>
        <p:spPr>
          <a:xfrm>
            <a:off x="9601200" y="8063805"/>
            <a:ext cx="4914007" cy="9525"/>
          </a:xfrm>
          <a:prstGeom prst="rect">
            <a:avLst/>
          </a:prstGeom>
          <a:solidFill>
            <a:srgbClr val="D9DADB"/>
          </a:solidFill>
          <a:ln/>
        </p:spPr>
      </p:sp>
      <p:sp>
        <p:nvSpPr>
          <p:cNvPr id="42" name="Text 40"/>
          <p:cNvSpPr/>
          <p:nvPr/>
        </p:nvSpPr>
        <p:spPr>
          <a:xfrm>
            <a:off x="9791700" y="7635180"/>
            <a:ext cx="4680427"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14181D"/>
                </a:solidFill>
                <a:latin typeface="Arial" pitchFamily="34" charset="0"/>
                <a:ea typeface="Arial" pitchFamily="34" charset="-122"/>
                <a:cs typeface="Arial" pitchFamily="34" charset="-120"/>
              </a:rPr>
              <a:t>Epoch length</a:t>
            </a:r>
            <a:endParaRPr lang="en-US" sz="1950" dirty="0"/>
          </a:p>
        </p:txBody>
      </p:sp>
      <p:sp>
        <p:nvSpPr>
          <p:cNvPr id="43" name="Shape 41"/>
          <p:cNvSpPr/>
          <p:nvPr/>
        </p:nvSpPr>
        <p:spPr>
          <a:xfrm>
            <a:off x="14515207" y="8063805"/>
            <a:ext cx="2820293" cy="9525"/>
          </a:xfrm>
          <a:prstGeom prst="rect">
            <a:avLst/>
          </a:prstGeom>
          <a:solidFill>
            <a:srgbClr val="D9DADB"/>
          </a:solidFill>
          <a:ln/>
        </p:spPr>
      </p:sp>
      <p:sp>
        <p:nvSpPr>
          <p:cNvPr id="44" name="Text 42"/>
          <p:cNvSpPr/>
          <p:nvPr/>
        </p:nvSpPr>
        <p:spPr>
          <a:xfrm>
            <a:off x="14705707" y="7635180"/>
            <a:ext cx="2523902"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1 s</a:t>
            </a:r>
            <a:endParaRPr lang="en-US" sz="1800" dirty="0"/>
          </a:p>
        </p:txBody>
      </p:sp>
      <p:sp>
        <p:nvSpPr>
          <p:cNvPr id="45" name="Shape 43"/>
          <p:cNvSpPr/>
          <p:nvPr/>
        </p:nvSpPr>
        <p:spPr>
          <a:xfrm>
            <a:off x="9601200" y="8635305"/>
            <a:ext cx="4914007" cy="9525"/>
          </a:xfrm>
          <a:prstGeom prst="rect">
            <a:avLst/>
          </a:prstGeom>
          <a:solidFill>
            <a:srgbClr val="D9DADB"/>
          </a:solidFill>
          <a:ln/>
        </p:spPr>
      </p:sp>
      <p:sp>
        <p:nvSpPr>
          <p:cNvPr id="46" name="Text 44"/>
          <p:cNvSpPr/>
          <p:nvPr/>
        </p:nvSpPr>
        <p:spPr>
          <a:xfrm>
            <a:off x="9791700" y="8206680"/>
            <a:ext cx="4680427"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14181D"/>
                </a:solidFill>
                <a:latin typeface="Arial" pitchFamily="34" charset="0"/>
                <a:ea typeface="Arial" pitchFamily="34" charset="-122"/>
                <a:cs typeface="Arial" pitchFamily="34" charset="-120"/>
              </a:rPr>
              <a:t>Matrix per epoch</a:t>
            </a:r>
            <a:endParaRPr lang="en-US" sz="1950" dirty="0"/>
          </a:p>
        </p:txBody>
      </p:sp>
      <p:sp>
        <p:nvSpPr>
          <p:cNvPr id="47" name="Shape 45"/>
          <p:cNvSpPr/>
          <p:nvPr/>
        </p:nvSpPr>
        <p:spPr>
          <a:xfrm>
            <a:off x="14515207" y="8635305"/>
            <a:ext cx="2820293" cy="9525"/>
          </a:xfrm>
          <a:prstGeom prst="rect">
            <a:avLst/>
          </a:prstGeom>
          <a:solidFill>
            <a:srgbClr val="D9DADB"/>
          </a:solidFill>
          <a:ln/>
        </p:spPr>
      </p:sp>
      <p:sp>
        <p:nvSpPr>
          <p:cNvPr id="48" name="Text 46"/>
          <p:cNvSpPr/>
          <p:nvPr/>
        </p:nvSpPr>
        <p:spPr>
          <a:xfrm>
            <a:off x="14705707" y="8206680"/>
            <a:ext cx="2523902" cy="33337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19 × 128</a:t>
            </a:r>
            <a:endParaRPr lang="en-US" sz="1800" dirty="0"/>
          </a:p>
        </p:txBody>
      </p:sp>
      <p:sp>
        <p:nvSpPr>
          <p:cNvPr id="49" name="Shape 47"/>
          <p:cNvSpPr/>
          <p:nvPr/>
        </p:nvSpPr>
        <p:spPr>
          <a:xfrm>
            <a:off x="952500" y="8943975"/>
            <a:ext cx="16383000" cy="9525"/>
          </a:xfrm>
          <a:prstGeom prst="rect">
            <a:avLst/>
          </a:prstGeom>
          <a:solidFill>
            <a:srgbClr val="D9DADB"/>
          </a:solidFill>
          <a:ln/>
        </p:spPr>
      </p:sp>
      <p:sp>
        <p:nvSpPr>
          <p:cNvPr id="50" name="Text 48"/>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51" name="Text 49"/>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07</a:t>
            </a:r>
            <a:endParaRPr lang="en-US" sz="1800" dirty="0"/>
          </a:p>
        </p:txBody>
      </p:sp>
      <p:sp>
        <p:nvSpPr>
          <p:cNvPr id="4" name="Text 2"/>
          <p:cNvSpPr/>
          <p:nvPr/>
        </p:nvSpPr>
        <p:spPr>
          <a:xfrm>
            <a:off x="1511945" y="981075"/>
            <a:ext cx="2869031"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SIGNAL → FREQUENCY</a:t>
            </a:r>
            <a:endParaRPr lang="en-US" sz="1800" dirty="0"/>
          </a:p>
        </p:txBody>
      </p:sp>
      <p:sp>
        <p:nvSpPr>
          <p:cNvPr id="5" name="Text 3"/>
          <p:cNvSpPr/>
          <p:nvPr/>
        </p:nvSpPr>
        <p:spPr>
          <a:xfrm>
            <a:off x="16018669" y="952500"/>
            <a:ext cx="1393031"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WELCH PSD</a:t>
            </a:r>
            <a:endParaRPr lang="en-US" sz="1800" dirty="0"/>
          </a:p>
        </p:txBody>
      </p:sp>
      <p:sp>
        <p:nvSpPr>
          <p:cNvPr id="6" name="Text 4"/>
          <p:cNvSpPr/>
          <p:nvPr/>
        </p:nvSpPr>
        <p:spPr>
          <a:xfrm>
            <a:off x="952500" y="1952625"/>
            <a:ext cx="16874490" cy="3429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4B8E"/>
                </a:solidFill>
                <a:latin typeface="Arial" pitchFamily="34" charset="0"/>
                <a:ea typeface="Arial" pitchFamily="34" charset="-122"/>
                <a:cs typeface="Arial" pitchFamily="34" charset="-120"/>
              </a:rPr>
              <a:t>FROM TIME-DOMAIN TO FREQUENCY-DOMAIN</a:t>
            </a:r>
            <a:endParaRPr lang="en-US" sz="1800" dirty="0"/>
          </a:p>
        </p:txBody>
      </p:sp>
      <p:sp>
        <p:nvSpPr>
          <p:cNvPr id="7" name="Text 5"/>
          <p:cNvSpPr/>
          <p:nvPr/>
        </p:nvSpPr>
        <p:spPr>
          <a:xfrm>
            <a:off x="952500" y="2790825"/>
            <a:ext cx="16874490"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4181D"/>
                </a:solidFill>
                <a:latin typeface="Arial" pitchFamily="34" charset="0"/>
                <a:ea typeface="Arial" pitchFamily="34" charset="-122"/>
                <a:cs typeface="Arial" pitchFamily="34" charset="-120"/>
              </a:rPr>
              <a:t>The disease shows up in the spectrum, not in the raw waveform.</a:t>
            </a:r>
            <a:endParaRPr lang="en-US" sz="4500" dirty="0"/>
          </a:p>
        </p:txBody>
      </p:sp>
      <p:sp>
        <p:nvSpPr>
          <p:cNvPr id="8" name="Shape 6"/>
          <p:cNvSpPr/>
          <p:nvPr/>
        </p:nvSpPr>
        <p:spPr>
          <a:xfrm>
            <a:off x="952500" y="4436566"/>
            <a:ext cx="7962900" cy="4598640"/>
          </a:xfrm>
          <a:prstGeom prst="roundRect">
            <a:avLst>
              <a:gd name="adj" fmla="val 1243"/>
            </a:avLst>
          </a:prstGeom>
          <a:solidFill>
            <a:srgbClr val="FFFFFF"/>
          </a:solidFill>
          <a:ln w="9525">
            <a:solidFill>
              <a:srgbClr val="D9DADB"/>
            </a:solidFill>
            <a:prstDash val="solid"/>
          </a:ln>
        </p:spPr>
      </p:sp>
      <p:sp>
        <p:nvSpPr>
          <p:cNvPr id="9" name="Text 7"/>
          <p:cNvSpPr/>
          <p:nvPr/>
        </p:nvSpPr>
        <p:spPr>
          <a:xfrm>
            <a:off x="1190625" y="4674691"/>
            <a:ext cx="771125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RAW EEG · 10S · CHANNEL P4 · HC VS. AD</a:t>
            </a:r>
            <a:endParaRPr lang="en-US" sz="1800" dirty="0"/>
          </a:p>
        </p:txBody>
      </p:sp>
      <p:pic>
        <p:nvPicPr>
          <p:cNvPr id="10" name="Image 0" descr="preencoded.png">    </p:cNvPr>
          <p:cNvPicPr>
            <a:picLocks noChangeAspect="1"/>
          </p:cNvPicPr>
          <p:nvPr/>
        </p:nvPicPr>
        <p:blipFill>
          <a:blip r:embed="rId1"/>
          <a:srcRect l="0" r="0" t="0" b="0"/>
          <a:stretch/>
        </p:blipFill>
        <p:spPr>
          <a:xfrm>
            <a:off x="1190625" y="5074741"/>
            <a:ext cx="7486650" cy="3722340"/>
          </a:xfrm>
          <a:prstGeom prst="rect">
            <a:avLst/>
          </a:prstGeom>
        </p:spPr>
      </p:pic>
      <p:sp>
        <p:nvSpPr>
          <p:cNvPr id="11" name="Shape 8"/>
          <p:cNvSpPr/>
          <p:nvPr/>
        </p:nvSpPr>
        <p:spPr>
          <a:xfrm>
            <a:off x="9372600" y="4436566"/>
            <a:ext cx="7962900" cy="4598640"/>
          </a:xfrm>
          <a:prstGeom prst="roundRect">
            <a:avLst>
              <a:gd name="adj" fmla="val 1243"/>
            </a:avLst>
          </a:prstGeom>
          <a:solidFill>
            <a:srgbClr val="FFFFFF"/>
          </a:solidFill>
          <a:ln w="9525">
            <a:solidFill>
              <a:srgbClr val="D9DADB"/>
            </a:solidFill>
            <a:prstDash val="solid"/>
          </a:ln>
        </p:spPr>
      </p:sp>
      <p:sp>
        <p:nvSpPr>
          <p:cNvPr id="12" name="Text 9"/>
          <p:cNvSpPr/>
          <p:nvPr/>
        </p:nvSpPr>
        <p:spPr>
          <a:xfrm>
            <a:off x="9610725" y="4674691"/>
            <a:ext cx="771125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GRAND-AVERAGE PSD · ALL CHANNELS · HC VS. AD</a:t>
            </a:r>
            <a:endParaRPr lang="en-US" sz="1800" dirty="0"/>
          </a:p>
        </p:txBody>
      </p:sp>
      <p:pic>
        <p:nvPicPr>
          <p:cNvPr id="13" name="Image 1" descr="preencoded.png">    </p:cNvPr>
          <p:cNvPicPr>
            <a:picLocks noChangeAspect="1"/>
          </p:cNvPicPr>
          <p:nvPr/>
        </p:nvPicPr>
        <p:blipFill>
          <a:blip r:embed="rId2"/>
          <a:srcRect l="0" r="0" t="0" b="0"/>
          <a:stretch/>
        </p:blipFill>
        <p:spPr>
          <a:xfrm>
            <a:off x="9610725" y="5074741"/>
            <a:ext cx="7486650" cy="3722340"/>
          </a:xfrm>
          <a:prstGeom prst="rect">
            <a:avLst/>
          </a:prstGeom>
        </p:spPr>
      </p:pic>
      <p:sp>
        <p:nvSpPr>
          <p:cNvPr id="14" name="Shape 10"/>
          <p:cNvSpPr/>
          <p:nvPr/>
        </p:nvSpPr>
        <p:spPr>
          <a:xfrm>
            <a:off x="952500" y="8943975"/>
            <a:ext cx="16383000" cy="9525"/>
          </a:xfrm>
          <a:prstGeom prst="rect">
            <a:avLst/>
          </a:prstGeom>
          <a:solidFill>
            <a:srgbClr val="D9DADB"/>
          </a:solidFill>
          <a:ln/>
        </p:spPr>
      </p:sp>
      <p:sp>
        <p:nvSpPr>
          <p:cNvPr id="15" name="Text 11"/>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16" name="Text 12"/>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08</a:t>
            </a:r>
            <a:endParaRPr lang="en-US" sz="1800" dirty="0"/>
          </a:p>
        </p:txBody>
      </p:sp>
      <p:sp>
        <p:nvSpPr>
          <p:cNvPr id="4" name="Text 2"/>
          <p:cNvSpPr/>
          <p:nvPr/>
        </p:nvSpPr>
        <p:spPr>
          <a:xfrm>
            <a:off x="1511945" y="981075"/>
            <a:ext cx="1178570"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PIPELINE</a:t>
            </a:r>
            <a:endParaRPr lang="en-US" sz="1800" dirty="0"/>
          </a:p>
        </p:txBody>
      </p:sp>
      <p:sp>
        <p:nvSpPr>
          <p:cNvPr id="5" name="Text 3"/>
          <p:cNvSpPr/>
          <p:nvPr/>
        </p:nvSpPr>
        <p:spPr>
          <a:xfrm>
            <a:off x="12214771" y="952500"/>
            <a:ext cx="5274351"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19 CHANNELS × 4 BANDS = 76 FEATURES</a:t>
            </a:r>
            <a:endParaRPr lang="en-US" sz="1800" dirty="0"/>
          </a:p>
        </p:txBody>
      </p:sp>
      <p:sp>
        <p:nvSpPr>
          <p:cNvPr id="6" name="Text 4"/>
          <p:cNvSpPr/>
          <p:nvPr/>
        </p:nvSpPr>
        <p:spPr>
          <a:xfrm>
            <a:off x="952500" y="1952625"/>
            <a:ext cx="16874490" cy="3429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4B8E"/>
                </a:solidFill>
                <a:latin typeface="Arial" pitchFamily="34" charset="0"/>
                <a:ea typeface="Arial" pitchFamily="34" charset="-122"/>
                <a:cs typeface="Arial" pitchFamily="34" charset="-120"/>
              </a:rPr>
              <a:t>FEATURE EXTRACTION PIPELINE</a:t>
            </a:r>
            <a:endParaRPr lang="en-US" sz="1800" dirty="0"/>
          </a:p>
        </p:txBody>
      </p:sp>
      <p:sp>
        <p:nvSpPr>
          <p:cNvPr id="7" name="Text 5"/>
          <p:cNvSpPr/>
          <p:nvPr/>
        </p:nvSpPr>
        <p:spPr>
          <a:xfrm>
            <a:off x="952500" y="2790825"/>
            <a:ext cx="16874490"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4181D"/>
                </a:solidFill>
                <a:latin typeface="Arial" pitchFamily="34" charset="0"/>
                <a:ea typeface="Arial" pitchFamily="34" charset="-122"/>
                <a:cs typeface="Arial" pitchFamily="34" charset="-120"/>
              </a:rPr>
              <a:t>Welch PSD → band power → subject vector.</a:t>
            </a:r>
            <a:endParaRPr lang="en-US" sz="4500" dirty="0"/>
          </a:p>
        </p:txBody>
      </p:sp>
      <p:sp>
        <p:nvSpPr>
          <p:cNvPr id="8" name="Shape 6"/>
          <p:cNvSpPr/>
          <p:nvPr/>
        </p:nvSpPr>
        <p:spPr>
          <a:xfrm>
            <a:off x="952500" y="3613696"/>
            <a:ext cx="3154561" cy="1959173"/>
          </a:xfrm>
          <a:prstGeom prst="roundRect">
            <a:avLst>
              <a:gd name="adj" fmla="val 1945"/>
            </a:avLst>
          </a:prstGeom>
          <a:solidFill>
            <a:srgbClr val="FFFFFF"/>
          </a:solidFill>
          <a:ln w="9525">
            <a:solidFill>
              <a:srgbClr val="D9DADB"/>
            </a:solidFill>
            <a:prstDash val="solid"/>
          </a:ln>
        </p:spPr>
      </p:sp>
      <p:sp>
        <p:nvSpPr>
          <p:cNvPr id="9" name="Text 7"/>
          <p:cNvSpPr/>
          <p:nvPr/>
        </p:nvSpPr>
        <p:spPr>
          <a:xfrm>
            <a:off x="1171575" y="3851821"/>
            <a:ext cx="2797903"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4B8E"/>
                </a:solidFill>
                <a:latin typeface="Arial" pitchFamily="34" charset="0"/>
                <a:ea typeface="Arial" pitchFamily="34" charset="-122"/>
                <a:cs typeface="Arial" pitchFamily="34" charset="-120"/>
              </a:rPr>
              <a:t>01</a:t>
            </a:r>
            <a:endParaRPr lang="en-US" sz="1800" dirty="0"/>
          </a:p>
        </p:txBody>
      </p:sp>
      <p:sp>
        <p:nvSpPr>
          <p:cNvPr id="10" name="Text 8"/>
          <p:cNvSpPr/>
          <p:nvPr/>
        </p:nvSpPr>
        <p:spPr>
          <a:xfrm>
            <a:off x="1171575" y="4251871"/>
            <a:ext cx="2797903" cy="347663"/>
          </a:xfrm>
          <a:prstGeom prst="rect">
            <a:avLst/>
          </a:prstGeom>
          <a:noFill/>
          <a:ln/>
        </p:spPr>
        <p:txBody>
          <a:bodyPr wrap="square" lIns="25400" tIns="25400" rIns="25400" bIns="25400" rtlCol="0" anchor="t">
            <a:normAutofit/>
          </a:bodyPr>
          <a:lstStyle/>
          <a:p>
            <a:pPr algn="l" indent="0" marL="0">
              <a:lnSpc>
                <a:spcPct val="125000"/>
              </a:lnSpc>
              <a:buNone/>
            </a:pPr>
            <a:r>
              <a:rPr lang="en-US" sz="1950" b="1" dirty="0">
                <a:solidFill>
                  <a:srgbClr val="14181D"/>
                </a:solidFill>
                <a:latin typeface="Arial" pitchFamily="34" charset="0"/>
                <a:ea typeface="Arial" pitchFamily="34" charset="-122"/>
                <a:cs typeface="Arial" pitchFamily="34" charset="-120"/>
              </a:rPr>
              <a:t>Raw EEG</a:t>
            </a:r>
            <a:endParaRPr lang="en-US" sz="1950" dirty="0"/>
          </a:p>
        </p:txBody>
      </p:sp>
      <p:sp>
        <p:nvSpPr>
          <p:cNvPr id="11" name="Text 9"/>
          <p:cNvSpPr/>
          <p:nvPr/>
        </p:nvSpPr>
        <p:spPr>
          <a:xfrm>
            <a:off x="1171575" y="4694783"/>
            <a:ext cx="2797903"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A7280"/>
                </a:solidFill>
                <a:latin typeface="Arial" pitchFamily="34" charset="0"/>
                <a:ea typeface="Arial" pitchFamily="34" charset="-122"/>
                <a:cs typeface="Arial" pitchFamily="34" charset="-120"/>
              </a:rPr>
              <a:t>19 ch · 128 Hz</a:t>
            </a:r>
            <a:endParaRPr lang="en-US" sz="1800" dirty="0"/>
          </a:p>
        </p:txBody>
      </p:sp>
      <p:sp>
        <p:nvSpPr>
          <p:cNvPr id="12" name="Shape 10"/>
          <p:cNvSpPr/>
          <p:nvPr/>
        </p:nvSpPr>
        <p:spPr>
          <a:xfrm>
            <a:off x="4259461" y="3613696"/>
            <a:ext cx="3154710" cy="1959173"/>
          </a:xfrm>
          <a:prstGeom prst="roundRect">
            <a:avLst>
              <a:gd name="adj" fmla="val 1945"/>
            </a:avLst>
          </a:prstGeom>
          <a:solidFill>
            <a:srgbClr val="FFFFFF"/>
          </a:solidFill>
          <a:ln w="9525">
            <a:solidFill>
              <a:srgbClr val="D9DADB"/>
            </a:solidFill>
            <a:prstDash val="solid"/>
          </a:ln>
        </p:spPr>
      </p:sp>
      <p:sp>
        <p:nvSpPr>
          <p:cNvPr id="13" name="Text 11"/>
          <p:cNvSpPr/>
          <p:nvPr/>
        </p:nvSpPr>
        <p:spPr>
          <a:xfrm>
            <a:off x="4478536" y="3851821"/>
            <a:ext cx="2798057"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4B8E"/>
                </a:solidFill>
                <a:latin typeface="Arial" pitchFamily="34" charset="0"/>
                <a:ea typeface="Arial" pitchFamily="34" charset="-122"/>
                <a:cs typeface="Arial" pitchFamily="34" charset="-120"/>
              </a:rPr>
              <a:t>02</a:t>
            </a:r>
            <a:endParaRPr lang="en-US" sz="1800" dirty="0"/>
          </a:p>
        </p:txBody>
      </p:sp>
      <p:sp>
        <p:nvSpPr>
          <p:cNvPr id="14" name="Text 12"/>
          <p:cNvSpPr/>
          <p:nvPr/>
        </p:nvSpPr>
        <p:spPr>
          <a:xfrm>
            <a:off x="4478536" y="4251871"/>
            <a:ext cx="2798057" cy="347663"/>
          </a:xfrm>
          <a:prstGeom prst="rect">
            <a:avLst/>
          </a:prstGeom>
          <a:noFill/>
          <a:ln/>
        </p:spPr>
        <p:txBody>
          <a:bodyPr wrap="square" lIns="25400" tIns="25400" rIns="25400" bIns="25400" rtlCol="0" anchor="t">
            <a:normAutofit/>
          </a:bodyPr>
          <a:lstStyle/>
          <a:p>
            <a:pPr algn="l" indent="0" marL="0">
              <a:lnSpc>
                <a:spcPct val="125000"/>
              </a:lnSpc>
              <a:buNone/>
            </a:pPr>
            <a:r>
              <a:rPr lang="en-US" sz="1950" b="1" dirty="0">
                <a:solidFill>
                  <a:srgbClr val="14181D"/>
                </a:solidFill>
                <a:latin typeface="Arial" pitchFamily="34" charset="0"/>
                <a:ea typeface="Arial" pitchFamily="34" charset="-122"/>
                <a:cs typeface="Arial" pitchFamily="34" charset="-120"/>
              </a:rPr>
              <a:t>1-s epochs</a:t>
            </a:r>
            <a:endParaRPr lang="en-US" sz="1950" dirty="0"/>
          </a:p>
        </p:txBody>
      </p:sp>
      <p:sp>
        <p:nvSpPr>
          <p:cNvPr id="15" name="Text 13"/>
          <p:cNvSpPr/>
          <p:nvPr/>
        </p:nvSpPr>
        <p:spPr>
          <a:xfrm>
            <a:off x="4478536" y="4694783"/>
            <a:ext cx="2798057"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A7280"/>
                </a:solidFill>
                <a:latin typeface="Arial" pitchFamily="34" charset="0"/>
                <a:ea typeface="Arial" pitchFamily="34" charset="-122"/>
                <a:cs typeface="Arial" pitchFamily="34" charset="-120"/>
              </a:rPr>
              <a:t>Hann window · 50% overlap</a:t>
            </a:r>
            <a:endParaRPr lang="en-US" sz="1800" dirty="0"/>
          </a:p>
        </p:txBody>
      </p:sp>
      <p:sp>
        <p:nvSpPr>
          <p:cNvPr id="16" name="Shape 14"/>
          <p:cNvSpPr/>
          <p:nvPr/>
        </p:nvSpPr>
        <p:spPr>
          <a:xfrm>
            <a:off x="7566571" y="3613696"/>
            <a:ext cx="3154710" cy="1959173"/>
          </a:xfrm>
          <a:prstGeom prst="roundRect">
            <a:avLst>
              <a:gd name="adj" fmla="val 1945"/>
            </a:avLst>
          </a:prstGeom>
          <a:solidFill>
            <a:srgbClr val="FFFFFF"/>
          </a:solidFill>
          <a:ln w="9525">
            <a:solidFill>
              <a:srgbClr val="D9DADB"/>
            </a:solidFill>
            <a:prstDash val="solid"/>
          </a:ln>
        </p:spPr>
      </p:sp>
      <p:sp>
        <p:nvSpPr>
          <p:cNvPr id="17" name="Text 15"/>
          <p:cNvSpPr/>
          <p:nvPr/>
        </p:nvSpPr>
        <p:spPr>
          <a:xfrm>
            <a:off x="7785646" y="3851821"/>
            <a:ext cx="2798057"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4B8E"/>
                </a:solidFill>
                <a:latin typeface="Arial" pitchFamily="34" charset="0"/>
                <a:ea typeface="Arial" pitchFamily="34" charset="-122"/>
                <a:cs typeface="Arial" pitchFamily="34" charset="-120"/>
              </a:rPr>
              <a:t>03</a:t>
            </a:r>
            <a:endParaRPr lang="en-US" sz="1800" dirty="0"/>
          </a:p>
        </p:txBody>
      </p:sp>
      <p:sp>
        <p:nvSpPr>
          <p:cNvPr id="18" name="Text 16"/>
          <p:cNvSpPr/>
          <p:nvPr/>
        </p:nvSpPr>
        <p:spPr>
          <a:xfrm>
            <a:off x="7785646" y="4251871"/>
            <a:ext cx="2798057" cy="347663"/>
          </a:xfrm>
          <a:prstGeom prst="rect">
            <a:avLst/>
          </a:prstGeom>
          <a:noFill/>
          <a:ln/>
        </p:spPr>
        <p:txBody>
          <a:bodyPr wrap="square" lIns="25400" tIns="25400" rIns="25400" bIns="25400" rtlCol="0" anchor="t">
            <a:normAutofit/>
          </a:bodyPr>
          <a:lstStyle/>
          <a:p>
            <a:pPr algn="l" indent="0" marL="0">
              <a:lnSpc>
                <a:spcPct val="125000"/>
              </a:lnSpc>
              <a:buNone/>
            </a:pPr>
            <a:r>
              <a:rPr lang="en-US" sz="1950" b="1" dirty="0">
                <a:solidFill>
                  <a:srgbClr val="14181D"/>
                </a:solidFill>
                <a:latin typeface="Arial" pitchFamily="34" charset="0"/>
                <a:ea typeface="Arial" pitchFamily="34" charset="-122"/>
                <a:cs typeface="Arial" pitchFamily="34" charset="-120"/>
              </a:rPr>
              <a:t>Welch PSD</a:t>
            </a:r>
            <a:endParaRPr lang="en-US" sz="1950" dirty="0"/>
          </a:p>
        </p:txBody>
      </p:sp>
      <p:sp>
        <p:nvSpPr>
          <p:cNvPr id="19" name="Text 17"/>
          <p:cNvSpPr/>
          <p:nvPr/>
        </p:nvSpPr>
        <p:spPr>
          <a:xfrm>
            <a:off x="7785646" y="4694783"/>
            <a:ext cx="2798057"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A7280"/>
                </a:solidFill>
                <a:latin typeface="Arial" pitchFamily="34" charset="0"/>
                <a:ea typeface="Arial" pitchFamily="34" charset="-122"/>
                <a:cs typeface="Arial" pitchFamily="34" charset="-120"/>
              </a:rPr>
              <a:t>1 Hz resolution per channel</a:t>
            </a:r>
            <a:endParaRPr lang="en-US" sz="1800" dirty="0"/>
          </a:p>
        </p:txBody>
      </p:sp>
      <p:sp>
        <p:nvSpPr>
          <p:cNvPr id="20" name="Shape 18"/>
          <p:cNvSpPr/>
          <p:nvPr/>
        </p:nvSpPr>
        <p:spPr>
          <a:xfrm>
            <a:off x="10873680" y="3613696"/>
            <a:ext cx="3154710" cy="1959173"/>
          </a:xfrm>
          <a:prstGeom prst="roundRect">
            <a:avLst>
              <a:gd name="adj" fmla="val 1945"/>
            </a:avLst>
          </a:prstGeom>
          <a:solidFill>
            <a:srgbClr val="FFFFFF"/>
          </a:solidFill>
          <a:ln w="9525">
            <a:solidFill>
              <a:srgbClr val="D9DADB"/>
            </a:solidFill>
            <a:prstDash val="solid"/>
          </a:ln>
        </p:spPr>
      </p:sp>
      <p:sp>
        <p:nvSpPr>
          <p:cNvPr id="21" name="Text 19"/>
          <p:cNvSpPr/>
          <p:nvPr/>
        </p:nvSpPr>
        <p:spPr>
          <a:xfrm>
            <a:off x="11092755" y="3851821"/>
            <a:ext cx="2798057"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4B8E"/>
                </a:solidFill>
                <a:latin typeface="Arial" pitchFamily="34" charset="0"/>
                <a:ea typeface="Arial" pitchFamily="34" charset="-122"/>
                <a:cs typeface="Arial" pitchFamily="34" charset="-120"/>
              </a:rPr>
              <a:t>04</a:t>
            </a:r>
            <a:endParaRPr lang="en-US" sz="1800" dirty="0"/>
          </a:p>
        </p:txBody>
      </p:sp>
      <p:sp>
        <p:nvSpPr>
          <p:cNvPr id="22" name="Text 20"/>
          <p:cNvSpPr/>
          <p:nvPr/>
        </p:nvSpPr>
        <p:spPr>
          <a:xfrm>
            <a:off x="11092755" y="4251871"/>
            <a:ext cx="2798057" cy="347663"/>
          </a:xfrm>
          <a:prstGeom prst="rect">
            <a:avLst/>
          </a:prstGeom>
          <a:noFill/>
          <a:ln/>
        </p:spPr>
        <p:txBody>
          <a:bodyPr wrap="square" lIns="25400" tIns="25400" rIns="25400" bIns="25400" rtlCol="0" anchor="t">
            <a:normAutofit/>
          </a:bodyPr>
          <a:lstStyle/>
          <a:p>
            <a:pPr algn="l" indent="0" marL="0">
              <a:lnSpc>
                <a:spcPct val="125000"/>
              </a:lnSpc>
              <a:buNone/>
            </a:pPr>
            <a:r>
              <a:rPr lang="en-US" sz="1950" b="1" dirty="0">
                <a:solidFill>
                  <a:srgbClr val="14181D"/>
                </a:solidFill>
                <a:latin typeface="Arial" pitchFamily="34" charset="0"/>
                <a:ea typeface="Arial" pitchFamily="34" charset="-122"/>
                <a:cs typeface="Arial" pitchFamily="34" charset="-120"/>
              </a:rPr>
              <a:t>Band power</a:t>
            </a:r>
            <a:endParaRPr lang="en-US" sz="1950" dirty="0"/>
          </a:p>
        </p:txBody>
      </p:sp>
      <p:sp>
        <p:nvSpPr>
          <p:cNvPr id="23" name="Text 21"/>
          <p:cNvSpPr/>
          <p:nvPr/>
        </p:nvSpPr>
        <p:spPr>
          <a:xfrm>
            <a:off x="11092755" y="4694783"/>
            <a:ext cx="2798057"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A7280"/>
                </a:solidFill>
                <a:latin typeface="Arial" pitchFamily="34" charset="0"/>
                <a:ea typeface="Arial" pitchFamily="34" charset="-122"/>
                <a:cs typeface="Arial" pitchFamily="34" charset="-120"/>
              </a:rPr>
              <a:t>Integrate over 4 bands</a:t>
            </a:r>
            <a:endParaRPr lang="en-US" sz="1800" dirty="0"/>
          </a:p>
        </p:txBody>
      </p:sp>
      <p:sp>
        <p:nvSpPr>
          <p:cNvPr id="24" name="Shape 22"/>
          <p:cNvSpPr/>
          <p:nvPr/>
        </p:nvSpPr>
        <p:spPr>
          <a:xfrm>
            <a:off x="14180790" y="3613696"/>
            <a:ext cx="3154710" cy="1959173"/>
          </a:xfrm>
          <a:prstGeom prst="roundRect">
            <a:avLst>
              <a:gd name="adj" fmla="val 1945"/>
            </a:avLst>
          </a:prstGeom>
          <a:solidFill>
            <a:srgbClr val="FFFFFF"/>
          </a:solidFill>
          <a:ln w="9525">
            <a:solidFill>
              <a:srgbClr val="D9DADB"/>
            </a:solidFill>
            <a:prstDash val="solid"/>
          </a:ln>
        </p:spPr>
      </p:sp>
      <p:sp>
        <p:nvSpPr>
          <p:cNvPr id="25" name="Text 23"/>
          <p:cNvSpPr/>
          <p:nvPr/>
        </p:nvSpPr>
        <p:spPr>
          <a:xfrm>
            <a:off x="14399865" y="3851821"/>
            <a:ext cx="2798057"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4B8E"/>
                </a:solidFill>
                <a:latin typeface="Arial" pitchFamily="34" charset="0"/>
                <a:ea typeface="Arial" pitchFamily="34" charset="-122"/>
                <a:cs typeface="Arial" pitchFamily="34" charset="-120"/>
              </a:rPr>
              <a:t>05</a:t>
            </a:r>
            <a:endParaRPr lang="en-US" sz="1800" dirty="0"/>
          </a:p>
        </p:txBody>
      </p:sp>
      <p:sp>
        <p:nvSpPr>
          <p:cNvPr id="26" name="Text 24"/>
          <p:cNvSpPr/>
          <p:nvPr/>
        </p:nvSpPr>
        <p:spPr>
          <a:xfrm>
            <a:off x="14399865" y="4251871"/>
            <a:ext cx="2798057" cy="347663"/>
          </a:xfrm>
          <a:prstGeom prst="rect">
            <a:avLst/>
          </a:prstGeom>
          <a:noFill/>
          <a:ln/>
        </p:spPr>
        <p:txBody>
          <a:bodyPr wrap="square" lIns="25400" tIns="25400" rIns="25400" bIns="25400" rtlCol="0" anchor="t">
            <a:normAutofit/>
          </a:bodyPr>
          <a:lstStyle/>
          <a:p>
            <a:pPr algn="l" indent="0" marL="0">
              <a:lnSpc>
                <a:spcPct val="125000"/>
              </a:lnSpc>
              <a:buNone/>
            </a:pPr>
            <a:r>
              <a:rPr lang="en-US" sz="1950" b="1" dirty="0">
                <a:solidFill>
                  <a:srgbClr val="14181D"/>
                </a:solidFill>
                <a:latin typeface="Arial" pitchFamily="34" charset="0"/>
                <a:ea typeface="Arial" pitchFamily="34" charset="-122"/>
                <a:cs typeface="Arial" pitchFamily="34" charset="-120"/>
              </a:rPr>
              <a:t>Subject vector</a:t>
            </a:r>
            <a:endParaRPr lang="en-US" sz="1950" dirty="0"/>
          </a:p>
        </p:txBody>
      </p:sp>
      <p:sp>
        <p:nvSpPr>
          <p:cNvPr id="27" name="Text 25"/>
          <p:cNvSpPr/>
          <p:nvPr/>
        </p:nvSpPr>
        <p:spPr>
          <a:xfrm>
            <a:off x="14399865" y="4694783"/>
            <a:ext cx="2798057"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A7280"/>
                </a:solidFill>
                <a:latin typeface="Arial" pitchFamily="34" charset="0"/>
                <a:ea typeface="Arial" pitchFamily="34" charset="-122"/>
                <a:cs typeface="Arial" pitchFamily="34" charset="-120"/>
              </a:rPr>
              <a:t>Average epochs → 76 features</a:t>
            </a:r>
            <a:endParaRPr lang="en-US" sz="1800" dirty="0"/>
          </a:p>
        </p:txBody>
      </p:sp>
      <p:sp>
        <p:nvSpPr>
          <p:cNvPr id="28" name="Text 26"/>
          <p:cNvSpPr/>
          <p:nvPr/>
        </p:nvSpPr>
        <p:spPr>
          <a:xfrm>
            <a:off x="952500" y="6030069"/>
            <a:ext cx="16874490" cy="390525"/>
          </a:xfrm>
          <a:prstGeom prst="rect">
            <a:avLst/>
          </a:prstGeom>
          <a:noFill/>
          <a:ln/>
        </p:spPr>
        <p:txBody>
          <a:bodyPr wrap="square" lIns="25400" tIns="25400" rIns="25400" bIns="25400" rtlCol="0" anchor="t">
            <a:normAutofit/>
          </a:bodyPr>
          <a:lstStyle/>
          <a:p>
            <a:pPr algn="l" indent="0" marL="0">
              <a:buNone/>
            </a:pPr>
            <a:r>
              <a:rPr lang="en-US" sz="2100" b="1" spc="168" kern="0" dirty="0">
                <a:solidFill>
                  <a:srgbClr val="14181D"/>
                </a:solidFill>
                <a:latin typeface="Arial" pitchFamily="34" charset="0"/>
                <a:ea typeface="Arial" pitchFamily="34" charset="-122"/>
                <a:cs typeface="Arial" pitchFamily="34" charset="-120"/>
              </a:rPr>
              <a:t>THE FOUR BANDS</a:t>
            </a:r>
            <a:endParaRPr lang="en-US" sz="2100" dirty="0"/>
          </a:p>
        </p:txBody>
      </p:sp>
      <p:sp>
        <p:nvSpPr>
          <p:cNvPr id="29" name="Shape 27"/>
          <p:cNvSpPr/>
          <p:nvPr/>
        </p:nvSpPr>
        <p:spPr>
          <a:xfrm>
            <a:off x="952500" y="6572994"/>
            <a:ext cx="3952875" cy="2116336"/>
          </a:xfrm>
          <a:prstGeom prst="roundRect">
            <a:avLst>
              <a:gd name="adj" fmla="val 2700"/>
            </a:avLst>
          </a:prstGeom>
          <a:solidFill>
            <a:srgbClr val="FFFFFF"/>
          </a:solidFill>
          <a:ln w="9525">
            <a:solidFill>
              <a:srgbClr val="D9DADB"/>
            </a:solidFill>
            <a:prstDash val="solid"/>
          </a:ln>
        </p:spPr>
      </p:sp>
      <p:sp>
        <p:nvSpPr>
          <p:cNvPr id="30" name="Text 28"/>
          <p:cNvSpPr/>
          <p:nvPr/>
        </p:nvSpPr>
        <p:spPr>
          <a:xfrm>
            <a:off x="1190625" y="6849219"/>
            <a:ext cx="3580924" cy="409575"/>
          </a:xfrm>
          <a:prstGeom prst="rect">
            <a:avLst/>
          </a:prstGeom>
          <a:noFill/>
          <a:ln/>
        </p:spPr>
        <p:txBody>
          <a:bodyPr wrap="square" lIns="25400" tIns="25400" rIns="25400" bIns="25400" rtlCol="0" anchor="t">
            <a:normAutofit/>
          </a:bodyPr>
          <a:lstStyle/>
          <a:p>
            <a:pPr algn="l" indent="0" marL="0">
              <a:buNone/>
            </a:pPr>
            <a:r>
              <a:rPr lang="en-US" sz="2400" b="1" dirty="0">
                <a:solidFill>
                  <a:srgbClr val="14181D"/>
                </a:solidFill>
                <a:latin typeface="Arial" pitchFamily="34" charset="0"/>
                <a:ea typeface="Arial" pitchFamily="34" charset="-122"/>
                <a:cs typeface="Arial" pitchFamily="34" charset="-120"/>
              </a:rPr>
              <a:t>Delta</a:t>
            </a:r>
            <a:endParaRPr lang="en-US" sz="2400" dirty="0"/>
          </a:p>
        </p:txBody>
      </p:sp>
      <p:sp>
        <p:nvSpPr>
          <p:cNvPr id="31" name="Text 29"/>
          <p:cNvSpPr/>
          <p:nvPr/>
        </p:nvSpPr>
        <p:spPr>
          <a:xfrm>
            <a:off x="1190625" y="7334994"/>
            <a:ext cx="358092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1F4B8E"/>
                </a:solidFill>
                <a:latin typeface="Arial" pitchFamily="34" charset="0"/>
                <a:ea typeface="Arial" pitchFamily="34" charset="-122"/>
                <a:cs typeface="Arial" pitchFamily="34" charset="-120"/>
              </a:rPr>
              <a:t>1 – 4 Hz</a:t>
            </a:r>
            <a:endParaRPr lang="en-US" sz="1800" dirty="0"/>
          </a:p>
        </p:txBody>
      </p:sp>
      <p:sp>
        <p:nvSpPr>
          <p:cNvPr id="32" name="Text 30"/>
          <p:cNvSpPr/>
          <p:nvPr/>
        </p:nvSpPr>
        <p:spPr>
          <a:xfrm>
            <a:off x="1190625" y="7773144"/>
            <a:ext cx="358092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A7280"/>
                </a:solidFill>
                <a:latin typeface="Arial" pitchFamily="34" charset="0"/>
                <a:ea typeface="Arial" pitchFamily="34" charset="-122"/>
                <a:cs typeface="Arial" pitchFamily="34" charset="-120"/>
              </a:rPr>
              <a:t>Slow waves; elevated in AD.</a:t>
            </a:r>
            <a:endParaRPr lang="en-US" sz="1800" dirty="0"/>
          </a:p>
        </p:txBody>
      </p:sp>
      <p:sp>
        <p:nvSpPr>
          <p:cNvPr id="33" name="Shape 31"/>
          <p:cNvSpPr/>
          <p:nvPr/>
        </p:nvSpPr>
        <p:spPr>
          <a:xfrm>
            <a:off x="5095875" y="6572994"/>
            <a:ext cx="3952875" cy="2116336"/>
          </a:xfrm>
          <a:prstGeom prst="roundRect">
            <a:avLst>
              <a:gd name="adj" fmla="val 2700"/>
            </a:avLst>
          </a:prstGeom>
          <a:solidFill>
            <a:srgbClr val="FFFFFF"/>
          </a:solidFill>
          <a:ln w="9525">
            <a:solidFill>
              <a:srgbClr val="D9DADB"/>
            </a:solidFill>
            <a:prstDash val="solid"/>
          </a:ln>
        </p:spPr>
      </p:sp>
      <p:sp>
        <p:nvSpPr>
          <p:cNvPr id="34" name="Text 32"/>
          <p:cNvSpPr/>
          <p:nvPr/>
        </p:nvSpPr>
        <p:spPr>
          <a:xfrm>
            <a:off x="5334000" y="6849219"/>
            <a:ext cx="3580924" cy="409575"/>
          </a:xfrm>
          <a:prstGeom prst="rect">
            <a:avLst/>
          </a:prstGeom>
          <a:noFill/>
          <a:ln/>
        </p:spPr>
        <p:txBody>
          <a:bodyPr wrap="square" lIns="25400" tIns="25400" rIns="25400" bIns="25400" rtlCol="0" anchor="t">
            <a:normAutofit/>
          </a:bodyPr>
          <a:lstStyle/>
          <a:p>
            <a:pPr algn="l" indent="0" marL="0">
              <a:buNone/>
            </a:pPr>
            <a:r>
              <a:rPr lang="en-US" sz="2400" b="1" dirty="0">
                <a:solidFill>
                  <a:srgbClr val="14181D"/>
                </a:solidFill>
                <a:latin typeface="Arial" pitchFamily="34" charset="0"/>
                <a:ea typeface="Arial" pitchFamily="34" charset="-122"/>
                <a:cs typeface="Arial" pitchFamily="34" charset="-120"/>
              </a:rPr>
              <a:t>Theta</a:t>
            </a:r>
            <a:endParaRPr lang="en-US" sz="2400" dirty="0"/>
          </a:p>
        </p:txBody>
      </p:sp>
      <p:sp>
        <p:nvSpPr>
          <p:cNvPr id="35" name="Text 33"/>
          <p:cNvSpPr/>
          <p:nvPr/>
        </p:nvSpPr>
        <p:spPr>
          <a:xfrm>
            <a:off x="5334000" y="7334994"/>
            <a:ext cx="358092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1F4B8E"/>
                </a:solidFill>
                <a:latin typeface="Arial" pitchFamily="34" charset="0"/>
                <a:ea typeface="Arial" pitchFamily="34" charset="-122"/>
                <a:cs typeface="Arial" pitchFamily="34" charset="-120"/>
              </a:rPr>
              <a:t>4 – 8 Hz</a:t>
            </a:r>
            <a:endParaRPr lang="en-US" sz="1800" dirty="0"/>
          </a:p>
        </p:txBody>
      </p:sp>
      <p:sp>
        <p:nvSpPr>
          <p:cNvPr id="36" name="Text 34"/>
          <p:cNvSpPr/>
          <p:nvPr/>
        </p:nvSpPr>
        <p:spPr>
          <a:xfrm>
            <a:off x="5334000" y="7773144"/>
            <a:ext cx="358092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A7280"/>
                </a:solidFill>
                <a:latin typeface="Arial" pitchFamily="34" charset="0"/>
                <a:ea typeface="Arial" pitchFamily="34" charset="-122"/>
                <a:cs typeface="Arial" pitchFamily="34" charset="-120"/>
              </a:rPr>
              <a:t>Slowing marker; broadly elevated in AD.</a:t>
            </a:r>
            <a:endParaRPr lang="en-US" sz="1800" dirty="0"/>
          </a:p>
        </p:txBody>
      </p:sp>
      <p:sp>
        <p:nvSpPr>
          <p:cNvPr id="37" name="Shape 35"/>
          <p:cNvSpPr/>
          <p:nvPr/>
        </p:nvSpPr>
        <p:spPr>
          <a:xfrm>
            <a:off x="9239250" y="6572994"/>
            <a:ext cx="3952875" cy="2116336"/>
          </a:xfrm>
          <a:prstGeom prst="roundRect">
            <a:avLst>
              <a:gd name="adj" fmla="val 2700"/>
            </a:avLst>
          </a:prstGeom>
          <a:solidFill>
            <a:srgbClr val="FFFFFF"/>
          </a:solidFill>
          <a:ln w="9525">
            <a:solidFill>
              <a:srgbClr val="D9DADB"/>
            </a:solidFill>
            <a:prstDash val="solid"/>
          </a:ln>
        </p:spPr>
      </p:sp>
      <p:sp>
        <p:nvSpPr>
          <p:cNvPr id="38" name="Text 36"/>
          <p:cNvSpPr/>
          <p:nvPr/>
        </p:nvSpPr>
        <p:spPr>
          <a:xfrm>
            <a:off x="9477375" y="6849219"/>
            <a:ext cx="3580924" cy="409575"/>
          </a:xfrm>
          <a:prstGeom prst="rect">
            <a:avLst/>
          </a:prstGeom>
          <a:noFill/>
          <a:ln/>
        </p:spPr>
        <p:txBody>
          <a:bodyPr wrap="square" lIns="25400" tIns="25400" rIns="25400" bIns="25400" rtlCol="0" anchor="t">
            <a:normAutofit/>
          </a:bodyPr>
          <a:lstStyle/>
          <a:p>
            <a:pPr algn="l" indent="0" marL="0">
              <a:buNone/>
            </a:pPr>
            <a:r>
              <a:rPr lang="en-US" sz="2400" b="1" dirty="0">
                <a:solidFill>
                  <a:srgbClr val="14181D"/>
                </a:solidFill>
                <a:latin typeface="Arial" pitchFamily="34" charset="0"/>
                <a:ea typeface="Arial" pitchFamily="34" charset="-122"/>
                <a:cs typeface="Arial" pitchFamily="34" charset="-120"/>
              </a:rPr>
              <a:t>Alpha</a:t>
            </a:r>
            <a:endParaRPr lang="en-US" sz="2400" dirty="0"/>
          </a:p>
        </p:txBody>
      </p:sp>
      <p:sp>
        <p:nvSpPr>
          <p:cNvPr id="39" name="Text 37"/>
          <p:cNvSpPr/>
          <p:nvPr/>
        </p:nvSpPr>
        <p:spPr>
          <a:xfrm>
            <a:off x="9477375" y="7334994"/>
            <a:ext cx="358092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1F4B8E"/>
                </a:solidFill>
                <a:latin typeface="Arial" pitchFamily="34" charset="0"/>
                <a:ea typeface="Arial" pitchFamily="34" charset="-122"/>
                <a:cs typeface="Arial" pitchFamily="34" charset="-120"/>
              </a:rPr>
              <a:t>8 – 13 Hz</a:t>
            </a:r>
            <a:endParaRPr lang="en-US" sz="1800" dirty="0"/>
          </a:p>
        </p:txBody>
      </p:sp>
      <p:sp>
        <p:nvSpPr>
          <p:cNvPr id="40" name="Text 38"/>
          <p:cNvSpPr/>
          <p:nvPr/>
        </p:nvSpPr>
        <p:spPr>
          <a:xfrm>
            <a:off x="9477375" y="7773144"/>
            <a:ext cx="3580924"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A7280"/>
                </a:solidFill>
                <a:latin typeface="Arial" pitchFamily="34" charset="0"/>
                <a:ea typeface="Arial" pitchFamily="34" charset="-122"/>
                <a:cs typeface="Arial" pitchFamily="34" charset="-120"/>
              </a:rPr>
              <a:t>Relaxed wakefulness; reduced in AD.</a:t>
            </a:r>
            <a:endParaRPr lang="en-US" sz="1800" dirty="0"/>
          </a:p>
        </p:txBody>
      </p:sp>
      <p:sp>
        <p:nvSpPr>
          <p:cNvPr id="41" name="Shape 39"/>
          <p:cNvSpPr/>
          <p:nvPr/>
        </p:nvSpPr>
        <p:spPr>
          <a:xfrm>
            <a:off x="13382625" y="6572994"/>
            <a:ext cx="3952875" cy="2116336"/>
          </a:xfrm>
          <a:prstGeom prst="roundRect">
            <a:avLst>
              <a:gd name="adj" fmla="val 2700"/>
            </a:avLst>
          </a:prstGeom>
          <a:solidFill>
            <a:srgbClr val="FFFFFF"/>
          </a:solidFill>
          <a:ln w="9525">
            <a:solidFill>
              <a:srgbClr val="D9DADB"/>
            </a:solidFill>
            <a:prstDash val="solid"/>
          </a:ln>
        </p:spPr>
      </p:sp>
      <p:sp>
        <p:nvSpPr>
          <p:cNvPr id="42" name="Text 40"/>
          <p:cNvSpPr/>
          <p:nvPr/>
        </p:nvSpPr>
        <p:spPr>
          <a:xfrm>
            <a:off x="13620750" y="6849219"/>
            <a:ext cx="3580924" cy="409575"/>
          </a:xfrm>
          <a:prstGeom prst="rect">
            <a:avLst/>
          </a:prstGeom>
          <a:noFill/>
          <a:ln/>
        </p:spPr>
        <p:txBody>
          <a:bodyPr wrap="square" lIns="25400" tIns="25400" rIns="25400" bIns="25400" rtlCol="0" anchor="t">
            <a:normAutofit/>
          </a:bodyPr>
          <a:lstStyle/>
          <a:p>
            <a:pPr algn="l" indent="0" marL="0">
              <a:buNone/>
            </a:pPr>
            <a:r>
              <a:rPr lang="en-US" sz="2400" b="1" dirty="0">
                <a:solidFill>
                  <a:srgbClr val="14181D"/>
                </a:solidFill>
                <a:latin typeface="Arial" pitchFamily="34" charset="0"/>
                <a:ea typeface="Arial" pitchFamily="34" charset="-122"/>
                <a:cs typeface="Arial" pitchFamily="34" charset="-120"/>
              </a:rPr>
              <a:t>Beta</a:t>
            </a:r>
            <a:endParaRPr lang="en-US" sz="2400" dirty="0"/>
          </a:p>
        </p:txBody>
      </p:sp>
      <p:sp>
        <p:nvSpPr>
          <p:cNvPr id="43" name="Text 41"/>
          <p:cNvSpPr/>
          <p:nvPr/>
        </p:nvSpPr>
        <p:spPr>
          <a:xfrm>
            <a:off x="13620750" y="7334994"/>
            <a:ext cx="358092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1F4B8E"/>
                </a:solidFill>
                <a:latin typeface="Arial" pitchFamily="34" charset="0"/>
                <a:ea typeface="Arial" pitchFamily="34" charset="-122"/>
                <a:cs typeface="Arial" pitchFamily="34" charset="-120"/>
              </a:rPr>
              <a:t>13 – 30 Hz</a:t>
            </a:r>
            <a:endParaRPr lang="en-US" sz="1800" dirty="0"/>
          </a:p>
        </p:txBody>
      </p:sp>
      <p:sp>
        <p:nvSpPr>
          <p:cNvPr id="44" name="Text 42"/>
          <p:cNvSpPr/>
          <p:nvPr/>
        </p:nvSpPr>
        <p:spPr>
          <a:xfrm>
            <a:off x="13620750" y="7773144"/>
            <a:ext cx="3580924"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6A7280"/>
                </a:solidFill>
                <a:latin typeface="Arial" pitchFamily="34" charset="0"/>
                <a:ea typeface="Arial" pitchFamily="34" charset="-122"/>
                <a:cs typeface="Arial" pitchFamily="34" charset="-120"/>
              </a:rPr>
              <a:t>Active cognition; mixed effects.</a:t>
            </a:r>
            <a:endParaRPr lang="en-US" sz="1800" dirty="0"/>
          </a:p>
        </p:txBody>
      </p:sp>
      <p:sp>
        <p:nvSpPr>
          <p:cNvPr id="45" name="Shape 43"/>
          <p:cNvSpPr/>
          <p:nvPr/>
        </p:nvSpPr>
        <p:spPr>
          <a:xfrm>
            <a:off x="952500" y="8943975"/>
            <a:ext cx="16383000" cy="9525"/>
          </a:xfrm>
          <a:prstGeom prst="rect">
            <a:avLst/>
          </a:prstGeom>
          <a:solidFill>
            <a:srgbClr val="D9DADB"/>
          </a:solidFill>
          <a:ln/>
        </p:spPr>
      </p:sp>
      <p:sp>
        <p:nvSpPr>
          <p:cNvPr id="46" name="Text 44"/>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47" name="Text 45"/>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762000" y="1295400"/>
            <a:ext cx="16764000" cy="9525"/>
          </a:xfrm>
          <a:prstGeom prst="rect">
            <a:avLst/>
          </a:prstGeom>
          <a:solidFill>
            <a:srgbClr val="D9DADB"/>
          </a:solidFill>
          <a:ln/>
        </p:spPr>
      </p:sp>
      <p:sp>
        <p:nvSpPr>
          <p:cNvPr id="3" name="Text 1"/>
          <p:cNvSpPr/>
          <p:nvPr/>
        </p:nvSpPr>
        <p:spPr>
          <a:xfrm>
            <a:off x="762000" y="7620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09</a:t>
            </a:r>
            <a:endParaRPr lang="en-US" sz="1800" dirty="0"/>
          </a:p>
        </p:txBody>
      </p:sp>
      <p:sp>
        <p:nvSpPr>
          <p:cNvPr id="4" name="Text 2"/>
          <p:cNvSpPr/>
          <p:nvPr/>
        </p:nvSpPr>
        <p:spPr>
          <a:xfrm>
            <a:off x="1321445" y="790575"/>
            <a:ext cx="2826722"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STATISTICAL FINDINGS</a:t>
            </a:r>
            <a:endParaRPr lang="en-US" sz="1800" dirty="0"/>
          </a:p>
        </p:txBody>
      </p:sp>
      <p:sp>
        <p:nvSpPr>
          <p:cNvPr id="5" name="Text 3"/>
          <p:cNvSpPr/>
          <p:nvPr/>
        </p:nvSpPr>
        <p:spPr>
          <a:xfrm>
            <a:off x="13721953" y="762000"/>
            <a:ext cx="3918168"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WELCH'S T-TEST · AD VS. HC</a:t>
            </a:r>
            <a:endParaRPr lang="en-US" sz="1800" dirty="0"/>
          </a:p>
        </p:txBody>
      </p:sp>
      <p:sp>
        <p:nvSpPr>
          <p:cNvPr id="6" name="Text 4"/>
          <p:cNvSpPr/>
          <p:nvPr/>
        </p:nvSpPr>
        <p:spPr>
          <a:xfrm>
            <a:off x="762000" y="1685925"/>
            <a:ext cx="17266920" cy="592782"/>
          </a:xfrm>
          <a:prstGeom prst="rect">
            <a:avLst/>
          </a:prstGeom>
          <a:noFill/>
          <a:ln/>
        </p:spPr>
        <p:txBody>
          <a:bodyPr wrap="square" lIns="25400" tIns="25400" rIns="25400" bIns="25400" rtlCol="0" anchor="t">
            <a:normAutofit/>
          </a:bodyPr>
          <a:lstStyle/>
          <a:p>
            <a:pPr algn="l" indent="0" marL="0">
              <a:lnSpc>
                <a:spcPct val="104000"/>
              </a:lnSpc>
              <a:buNone/>
            </a:pPr>
            <a:r>
              <a:rPr lang="en-US" sz="4200" b="1" spc="-84" kern="0" dirty="0">
                <a:solidFill>
                  <a:srgbClr val="14181D"/>
                </a:solidFill>
                <a:latin typeface="Arial" pitchFamily="34" charset="0"/>
                <a:ea typeface="Arial" pitchFamily="34" charset="-122"/>
                <a:cs typeface="Arial" pitchFamily="34" charset="-120"/>
              </a:rPr>
              <a:t>EEG slowing is visible before any model is trained.</a:t>
            </a:r>
            <a:endParaRPr lang="en-US" sz="4200" dirty="0"/>
          </a:p>
        </p:txBody>
      </p:sp>
      <p:sp>
        <p:nvSpPr>
          <p:cNvPr id="7" name="Shape 5"/>
          <p:cNvSpPr/>
          <p:nvPr/>
        </p:nvSpPr>
        <p:spPr>
          <a:xfrm>
            <a:off x="762000" y="2621607"/>
            <a:ext cx="11074301" cy="5884218"/>
          </a:xfrm>
          <a:prstGeom prst="roundRect">
            <a:avLst>
              <a:gd name="adj" fmla="val 971"/>
            </a:avLst>
          </a:prstGeom>
          <a:solidFill>
            <a:srgbClr val="FFFFFF"/>
          </a:solidFill>
          <a:ln w="9525">
            <a:solidFill>
              <a:srgbClr val="D9DADB"/>
            </a:solidFill>
            <a:prstDash val="solid"/>
          </a:ln>
        </p:spPr>
      </p:sp>
      <p:sp>
        <p:nvSpPr>
          <p:cNvPr id="8" name="Text 6"/>
          <p:cNvSpPr/>
          <p:nvPr/>
        </p:nvSpPr>
        <p:spPr>
          <a:xfrm>
            <a:off x="1000125" y="2859732"/>
            <a:ext cx="10915992"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BAND POWER HEATMAP · ALL CHANNELS · HC VS. AD</a:t>
            </a:r>
            <a:endParaRPr lang="en-US" sz="1800" dirty="0"/>
          </a:p>
        </p:txBody>
      </p:sp>
      <p:pic>
        <p:nvPicPr>
          <p:cNvPr id="9" name="Image 0" descr="preencoded.png">    </p:cNvPr>
          <p:cNvPicPr>
            <a:picLocks noChangeAspect="1"/>
          </p:cNvPicPr>
          <p:nvPr/>
        </p:nvPicPr>
        <p:blipFill>
          <a:blip r:embed="rId1"/>
          <a:srcRect l="0" r="0" t="0" b="0"/>
          <a:stretch/>
        </p:blipFill>
        <p:spPr>
          <a:xfrm>
            <a:off x="1000125" y="3259782"/>
            <a:ext cx="10598051" cy="4572000"/>
          </a:xfrm>
          <a:prstGeom prst="rect">
            <a:avLst/>
          </a:prstGeom>
        </p:spPr>
      </p:pic>
      <p:sp>
        <p:nvSpPr>
          <p:cNvPr id="10" name="Shape 7"/>
          <p:cNvSpPr/>
          <p:nvPr/>
        </p:nvSpPr>
        <p:spPr>
          <a:xfrm>
            <a:off x="12141101" y="2621607"/>
            <a:ext cx="5384750" cy="5884218"/>
          </a:xfrm>
          <a:prstGeom prst="roundRect">
            <a:avLst>
              <a:gd name="adj" fmla="val 1061"/>
            </a:avLst>
          </a:prstGeom>
          <a:solidFill>
            <a:srgbClr val="FFFFFF"/>
          </a:solidFill>
          <a:ln w="9525">
            <a:solidFill>
              <a:srgbClr val="D9DADB"/>
            </a:solidFill>
            <a:prstDash val="solid"/>
          </a:ln>
        </p:spPr>
      </p:sp>
      <p:sp>
        <p:nvSpPr>
          <p:cNvPr id="11" name="Text 8"/>
          <p:cNvSpPr/>
          <p:nvPr/>
        </p:nvSpPr>
        <p:spPr>
          <a:xfrm>
            <a:off x="12379226" y="2859732"/>
            <a:ext cx="5055755" cy="5715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SUBJECT-LEVEL BAND POWER BOXPLOTS</a:t>
            </a:r>
            <a:endParaRPr lang="en-US" sz="1800" dirty="0"/>
          </a:p>
        </p:txBody>
      </p:sp>
      <p:pic>
        <p:nvPicPr>
          <p:cNvPr id="12" name="Image 1" descr="preencoded.png">    </p:cNvPr>
          <p:cNvPicPr>
            <a:picLocks noChangeAspect="1"/>
          </p:cNvPicPr>
          <p:nvPr/>
        </p:nvPicPr>
        <p:blipFill>
          <a:blip r:embed="rId2"/>
          <a:srcRect l="0" r="0" t="0" b="0"/>
          <a:stretch/>
        </p:blipFill>
        <p:spPr>
          <a:xfrm>
            <a:off x="12379226" y="3526482"/>
            <a:ext cx="4908500" cy="4572000"/>
          </a:xfrm>
          <a:prstGeom prst="rect">
            <a:avLst/>
          </a:prstGeom>
        </p:spPr>
      </p:pic>
      <p:sp>
        <p:nvSpPr>
          <p:cNvPr id="13" name="Text 9"/>
          <p:cNvSpPr/>
          <p:nvPr/>
        </p:nvSpPr>
        <p:spPr>
          <a:xfrm>
            <a:off x="762000" y="8772525"/>
            <a:ext cx="2869031"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B0421F"/>
                </a:solidFill>
                <a:latin typeface="Arial" pitchFamily="34" charset="0"/>
                <a:ea typeface="Arial" pitchFamily="34" charset="-122"/>
                <a:cs typeface="Arial" pitchFamily="34" charset="-120"/>
              </a:rPr>
              <a:t>↑ Delta &amp; Theta in AD</a:t>
            </a:r>
            <a:endParaRPr lang="en-US" sz="2100" dirty="0"/>
          </a:p>
        </p:txBody>
      </p:sp>
      <p:sp>
        <p:nvSpPr>
          <p:cNvPr id="14" name="Text 10"/>
          <p:cNvSpPr/>
          <p:nvPr/>
        </p:nvSpPr>
        <p:spPr>
          <a:xfrm>
            <a:off x="4004667" y="8772525"/>
            <a:ext cx="4621476"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F4B8E"/>
                </a:solidFill>
                <a:latin typeface="Arial" pitchFamily="34" charset="0"/>
                <a:ea typeface="Arial" pitchFamily="34" charset="-122"/>
                <a:cs typeface="Arial" pitchFamily="34" charset="-120"/>
              </a:rPr>
              <a:t>↓ Alpha in AD (posterior &amp; midline)</a:t>
            </a:r>
            <a:endParaRPr lang="en-US" sz="2100" dirty="0"/>
          </a:p>
        </p:txBody>
      </p:sp>
      <p:sp>
        <p:nvSpPr>
          <p:cNvPr id="15" name="Shape 11"/>
          <p:cNvSpPr/>
          <p:nvPr/>
        </p:nvSpPr>
        <p:spPr>
          <a:xfrm>
            <a:off x="762000" y="9096375"/>
            <a:ext cx="16764000" cy="9525"/>
          </a:xfrm>
          <a:prstGeom prst="rect">
            <a:avLst/>
          </a:prstGeom>
          <a:solidFill>
            <a:srgbClr val="D9DADB"/>
          </a:solidFill>
          <a:ln/>
        </p:spPr>
      </p:sp>
      <p:sp>
        <p:nvSpPr>
          <p:cNvPr id="16" name="Text 12"/>
          <p:cNvSpPr/>
          <p:nvPr/>
        </p:nvSpPr>
        <p:spPr>
          <a:xfrm>
            <a:off x="762000" y="93726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17" name="Text 13"/>
          <p:cNvSpPr/>
          <p:nvPr/>
        </p:nvSpPr>
        <p:spPr>
          <a:xfrm>
            <a:off x="17271653" y="93916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762000" y="1295400"/>
            <a:ext cx="16764000" cy="9525"/>
          </a:xfrm>
          <a:prstGeom prst="rect">
            <a:avLst/>
          </a:prstGeom>
          <a:solidFill>
            <a:srgbClr val="D9DADB"/>
          </a:solidFill>
          <a:ln/>
        </p:spPr>
      </p:sp>
      <p:sp>
        <p:nvSpPr>
          <p:cNvPr id="3" name="Text 1"/>
          <p:cNvSpPr/>
          <p:nvPr/>
        </p:nvSpPr>
        <p:spPr>
          <a:xfrm>
            <a:off x="762000" y="7620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10</a:t>
            </a:r>
            <a:endParaRPr lang="en-US" sz="1800" dirty="0"/>
          </a:p>
        </p:txBody>
      </p:sp>
      <p:sp>
        <p:nvSpPr>
          <p:cNvPr id="4" name="Text 2"/>
          <p:cNvSpPr/>
          <p:nvPr/>
        </p:nvSpPr>
        <p:spPr>
          <a:xfrm>
            <a:off x="1321445" y="790575"/>
            <a:ext cx="1913632"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TOP FEATURES</a:t>
            </a:r>
            <a:endParaRPr lang="en-US" sz="1800" dirty="0"/>
          </a:p>
        </p:txBody>
      </p:sp>
      <p:sp>
        <p:nvSpPr>
          <p:cNvPr id="5" name="Text 3"/>
          <p:cNvSpPr/>
          <p:nvPr/>
        </p:nvSpPr>
        <p:spPr>
          <a:xfrm>
            <a:off x="14160996" y="762000"/>
            <a:ext cx="3465954"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LARGEST |T| · AD VS. HC</a:t>
            </a:r>
            <a:endParaRPr lang="en-US" sz="1800" dirty="0"/>
          </a:p>
        </p:txBody>
      </p:sp>
      <p:sp>
        <p:nvSpPr>
          <p:cNvPr id="6" name="Text 4"/>
          <p:cNvSpPr/>
          <p:nvPr/>
        </p:nvSpPr>
        <p:spPr>
          <a:xfrm>
            <a:off x="762000" y="1685925"/>
            <a:ext cx="17266920" cy="592782"/>
          </a:xfrm>
          <a:prstGeom prst="rect">
            <a:avLst/>
          </a:prstGeom>
          <a:noFill/>
          <a:ln/>
        </p:spPr>
        <p:txBody>
          <a:bodyPr wrap="square" lIns="25400" tIns="25400" rIns="25400" bIns="25400" rtlCol="0" anchor="t">
            <a:normAutofit/>
          </a:bodyPr>
          <a:lstStyle/>
          <a:p>
            <a:pPr algn="l" indent="0" marL="0">
              <a:lnSpc>
                <a:spcPct val="104000"/>
              </a:lnSpc>
              <a:buNone/>
            </a:pPr>
            <a:r>
              <a:rPr lang="en-US" sz="4200" b="1" spc="-84" kern="0" dirty="0">
                <a:solidFill>
                  <a:srgbClr val="14181D"/>
                </a:solidFill>
                <a:latin typeface="Arial" pitchFamily="34" charset="0"/>
                <a:ea typeface="Arial" pitchFamily="34" charset="-122"/>
                <a:cs typeface="Arial" pitchFamily="34" charset="-120"/>
              </a:rPr>
              <a:t>Theta power separates the groups most strongly.</a:t>
            </a:r>
            <a:endParaRPr lang="en-US" sz="4200" dirty="0"/>
          </a:p>
        </p:txBody>
      </p:sp>
      <p:sp>
        <p:nvSpPr>
          <p:cNvPr id="7" name="Shape 5"/>
          <p:cNvSpPr/>
          <p:nvPr/>
        </p:nvSpPr>
        <p:spPr>
          <a:xfrm>
            <a:off x="762000" y="3078807"/>
            <a:ext cx="8153400" cy="19050"/>
          </a:xfrm>
          <a:prstGeom prst="rect">
            <a:avLst/>
          </a:prstGeom>
          <a:solidFill>
            <a:srgbClr val="14181D"/>
          </a:solidFill>
          <a:ln/>
        </p:spPr>
      </p:sp>
      <p:sp>
        <p:nvSpPr>
          <p:cNvPr id="8" name="Text 6"/>
          <p:cNvSpPr/>
          <p:nvPr/>
        </p:nvSpPr>
        <p:spPr>
          <a:xfrm>
            <a:off x="800100" y="2716857"/>
            <a:ext cx="102870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CHANNEL</a:t>
            </a:r>
            <a:endParaRPr lang="en-US" sz="1800" dirty="0"/>
          </a:p>
        </p:txBody>
      </p:sp>
      <p:sp>
        <p:nvSpPr>
          <p:cNvPr id="9" name="Text 7"/>
          <p:cNvSpPr/>
          <p:nvPr/>
        </p:nvSpPr>
        <p:spPr>
          <a:xfrm>
            <a:off x="1981200" y="2716857"/>
            <a:ext cx="112395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BAND</a:t>
            </a:r>
            <a:endParaRPr lang="en-US" sz="1800" dirty="0"/>
          </a:p>
        </p:txBody>
      </p:sp>
      <p:sp>
        <p:nvSpPr>
          <p:cNvPr id="10" name="Text 8"/>
          <p:cNvSpPr/>
          <p:nvPr/>
        </p:nvSpPr>
        <p:spPr>
          <a:xfrm>
            <a:off x="3257550" y="2716857"/>
            <a:ext cx="300209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|T|</a:t>
            </a:r>
            <a:endParaRPr lang="en-US" sz="1800" dirty="0"/>
          </a:p>
        </p:txBody>
      </p:sp>
      <p:sp>
        <p:nvSpPr>
          <p:cNvPr id="11" name="Text 9"/>
          <p:cNvSpPr/>
          <p:nvPr/>
        </p:nvSpPr>
        <p:spPr>
          <a:xfrm>
            <a:off x="6400800" y="2716857"/>
            <a:ext cx="255270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P-VALUE</a:t>
            </a:r>
            <a:endParaRPr lang="en-US" sz="1800" dirty="0"/>
          </a:p>
        </p:txBody>
      </p:sp>
      <p:sp>
        <p:nvSpPr>
          <p:cNvPr id="12" name="Shape 10"/>
          <p:cNvSpPr/>
          <p:nvPr/>
        </p:nvSpPr>
        <p:spPr>
          <a:xfrm>
            <a:off x="762000" y="3726507"/>
            <a:ext cx="8153400" cy="9525"/>
          </a:xfrm>
          <a:prstGeom prst="rect">
            <a:avLst/>
          </a:prstGeom>
          <a:solidFill>
            <a:srgbClr val="ECECEC"/>
          </a:solidFill>
          <a:ln/>
        </p:spPr>
      </p:sp>
      <p:sp>
        <p:nvSpPr>
          <p:cNvPr id="13" name="Text 11"/>
          <p:cNvSpPr/>
          <p:nvPr/>
        </p:nvSpPr>
        <p:spPr>
          <a:xfrm>
            <a:off x="800100" y="3326457"/>
            <a:ext cx="10287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P3</a:t>
            </a:r>
            <a:endParaRPr lang="en-US" sz="1800" dirty="0"/>
          </a:p>
        </p:txBody>
      </p:sp>
      <p:sp>
        <p:nvSpPr>
          <p:cNvPr id="14" name="Text 12"/>
          <p:cNvSpPr/>
          <p:nvPr/>
        </p:nvSpPr>
        <p:spPr>
          <a:xfrm>
            <a:off x="1981200" y="3340745"/>
            <a:ext cx="112395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Theta</a:t>
            </a:r>
            <a:endParaRPr lang="en-US" sz="1800" dirty="0"/>
          </a:p>
        </p:txBody>
      </p:sp>
      <p:sp>
        <p:nvSpPr>
          <p:cNvPr id="15" name="Shape 13"/>
          <p:cNvSpPr/>
          <p:nvPr/>
        </p:nvSpPr>
        <p:spPr>
          <a:xfrm>
            <a:off x="3257550" y="3412182"/>
            <a:ext cx="2914650" cy="133350"/>
          </a:xfrm>
          <a:prstGeom prst="roundRect">
            <a:avLst>
              <a:gd name="adj" fmla="val 50000"/>
            </a:avLst>
          </a:prstGeom>
          <a:solidFill>
            <a:srgbClr val="ECECEC"/>
          </a:solidFill>
          <a:ln/>
        </p:spPr>
      </p:sp>
      <p:sp>
        <p:nvSpPr>
          <p:cNvPr id="16" name="Shape 14"/>
          <p:cNvSpPr/>
          <p:nvPr/>
        </p:nvSpPr>
        <p:spPr>
          <a:xfrm>
            <a:off x="3257550" y="3412182"/>
            <a:ext cx="2914650" cy="133350"/>
          </a:xfrm>
          <a:prstGeom prst="roundRect">
            <a:avLst>
              <a:gd name="adj" fmla="val 50000"/>
            </a:avLst>
          </a:prstGeom>
          <a:solidFill>
            <a:srgbClr val="1F4B8E"/>
          </a:solidFill>
          <a:ln/>
        </p:spPr>
      </p:sp>
      <p:sp>
        <p:nvSpPr>
          <p:cNvPr id="17" name="Text 15"/>
          <p:cNvSpPr/>
          <p:nvPr/>
        </p:nvSpPr>
        <p:spPr>
          <a:xfrm>
            <a:off x="6324600" y="3345507"/>
            <a:ext cx="2552700" cy="304800"/>
          </a:xfrm>
          <a:prstGeom prst="rect">
            <a:avLst/>
          </a:prstGeom>
          <a:noFill/>
          <a:ln/>
        </p:spPr>
        <p:txBody>
          <a:bodyPr wrap="square" lIns="25400" tIns="25400" rIns="25400" bIns="25400" rtlCol="0" anchor="t">
            <a:normAutofit/>
          </a:bodyPr>
          <a:lstStyle/>
          <a:p>
            <a:pPr algn="r" indent="0" marL="0">
              <a:buNone/>
            </a:pPr>
            <a:r>
              <a:rPr lang="en-US" sz="1800" dirty="0">
                <a:solidFill>
                  <a:srgbClr val="6A7280"/>
                </a:solidFill>
                <a:latin typeface="Arial" pitchFamily="34" charset="0"/>
                <a:ea typeface="Arial" pitchFamily="34" charset="-122"/>
                <a:cs typeface="Arial" pitchFamily="34" charset="-120"/>
              </a:rPr>
              <a:t>7.56 · p &lt; 1e-11</a:t>
            </a:r>
            <a:endParaRPr lang="en-US" sz="1800" dirty="0"/>
          </a:p>
        </p:txBody>
      </p:sp>
      <p:sp>
        <p:nvSpPr>
          <p:cNvPr id="18" name="Shape 16"/>
          <p:cNvSpPr/>
          <p:nvPr/>
        </p:nvSpPr>
        <p:spPr>
          <a:xfrm>
            <a:off x="762000" y="4364682"/>
            <a:ext cx="8153400" cy="9525"/>
          </a:xfrm>
          <a:prstGeom prst="rect">
            <a:avLst/>
          </a:prstGeom>
          <a:solidFill>
            <a:srgbClr val="ECECEC"/>
          </a:solidFill>
          <a:ln/>
        </p:spPr>
      </p:sp>
      <p:sp>
        <p:nvSpPr>
          <p:cNvPr id="19" name="Text 17"/>
          <p:cNvSpPr/>
          <p:nvPr/>
        </p:nvSpPr>
        <p:spPr>
          <a:xfrm>
            <a:off x="800100" y="3964632"/>
            <a:ext cx="10287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C3</a:t>
            </a:r>
            <a:endParaRPr lang="en-US" sz="1800" dirty="0"/>
          </a:p>
        </p:txBody>
      </p:sp>
      <p:sp>
        <p:nvSpPr>
          <p:cNvPr id="20" name="Text 18"/>
          <p:cNvSpPr/>
          <p:nvPr/>
        </p:nvSpPr>
        <p:spPr>
          <a:xfrm>
            <a:off x="1981200" y="3978920"/>
            <a:ext cx="112395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Theta</a:t>
            </a:r>
            <a:endParaRPr lang="en-US" sz="1800" dirty="0"/>
          </a:p>
        </p:txBody>
      </p:sp>
      <p:sp>
        <p:nvSpPr>
          <p:cNvPr id="21" name="Shape 19"/>
          <p:cNvSpPr/>
          <p:nvPr/>
        </p:nvSpPr>
        <p:spPr>
          <a:xfrm>
            <a:off x="3257550" y="4050357"/>
            <a:ext cx="2914650" cy="133350"/>
          </a:xfrm>
          <a:prstGeom prst="roundRect">
            <a:avLst>
              <a:gd name="adj" fmla="val 50000"/>
            </a:avLst>
          </a:prstGeom>
          <a:solidFill>
            <a:srgbClr val="ECECEC"/>
          </a:solidFill>
          <a:ln/>
        </p:spPr>
      </p:sp>
      <p:sp>
        <p:nvSpPr>
          <p:cNvPr id="22" name="Shape 20"/>
          <p:cNvSpPr/>
          <p:nvPr/>
        </p:nvSpPr>
        <p:spPr>
          <a:xfrm>
            <a:off x="3257550" y="4050357"/>
            <a:ext cx="2885480" cy="133350"/>
          </a:xfrm>
          <a:prstGeom prst="roundRect">
            <a:avLst>
              <a:gd name="adj" fmla="val 50000"/>
            </a:avLst>
          </a:prstGeom>
          <a:solidFill>
            <a:srgbClr val="1F4B8E"/>
          </a:solidFill>
          <a:ln/>
        </p:spPr>
      </p:sp>
      <p:sp>
        <p:nvSpPr>
          <p:cNvPr id="23" name="Text 21"/>
          <p:cNvSpPr/>
          <p:nvPr/>
        </p:nvSpPr>
        <p:spPr>
          <a:xfrm>
            <a:off x="6324600" y="3983682"/>
            <a:ext cx="2552700" cy="304800"/>
          </a:xfrm>
          <a:prstGeom prst="rect">
            <a:avLst/>
          </a:prstGeom>
          <a:noFill/>
          <a:ln/>
        </p:spPr>
        <p:txBody>
          <a:bodyPr wrap="square" lIns="25400" tIns="25400" rIns="25400" bIns="25400" rtlCol="0" anchor="t">
            <a:normAutofit/>
          </a:bodyPr>
          <a:lstStyle/>
          <a:p>
            <a:pPr algn="r" indent="0" marL="0">
              <a:buNone/>
            </a:pPr>
            <a:r>
              <a:rPr lang="en-US" sz="1800" dirty="0">
                <a:solidFill>
                  <a:srgbClr val="6A7280"/>
                </a:solidFill>
                <a:latin typeface="Arial" pitchFamily="34" charset="0"/>
                <a:ea typeface="Arial" pitchFamily="34" charset="-122"/>
                <a:cs typeface="Arial" pitchFamily="34" charset="-120"/>
              </a:rPr>
              <a:t>7.48 · p &lt; 1e-11</a:t>
            </a:r>
            <a:endParaRPr lang="en-US" sz="1800" dirty="0"/>
          </a:p>
        </p:txBody>
      </p:sp>
      <p:sp>
        <p:nvSpPr>
          <p:cNvPr id="24" name="Shape 22"/>
          <p:cNvSpPr/>
          <p:nvPr/>
        </p:nvSpPr>
        <p:spPr>
          <a:xfrm>
            <a:off x="762000" y="5002857"/>
            <a:ext cx="8153400" cy="9525"/>
          </a:xfrm>
          <a:prstGeom prst="rect">
            <a:avLst/>
          </a:prstGeom>
          <a:solidFill>
            <a:srgbClr val="ECECEC"/>
          </a:solidFill>
          <a:ln/>
        </p:spPr>
      </p:sp>
      <p:sp>
        <p:nvSpPr>
          <p:cNvPr id="25" name="Text 23"/>
          <p:cNvSpPr/>
          <p:nvPr/>
        </p:nvSpPr>
        <p:spPr>
          <a:xfrm>
            <a:off x="800100" y="4602807"/>
            <a:ext cx="10287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C4</a:t>
            </a:r>
            <a:endParaRPr lang="en-US" sz="1800" dirty="0"/>
          </a:p>
        </p:txBody>
      </p:sp>
      <p:sp>
        <p:nvSpPr>
          <p:cNvPr id="26" name="Text 24"/>
          <p:cNvSpPr/>
          <p:nvPr/>
        </p:nvSpPr>
        <p:spPr>
          <a:xfrm>
            <a:off x="1981200" y="4617095"/>
            <a:ext cx="112395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Theta</a:t>
            </a:r>
            <a:endParaRPr lang="en-US" sz="1800" dirty="0"/>
          </a:p>
        </p:txBody>
      </p:sp>
      <p:sp>
        <p:nvSpPr>
          <p:cNvPr id="27" name="Shape 25"/>
          <p:cNvSpPr/>
          <p:nvPr/>
        </p:nvSpPr>
        <p:spPr>
          <a:xfrm>
            <a:off x="3257550" y="4688532"/>
            <a:ext cx="2914650" cy="133350"/>
          </a:xfrm>
          <a:prstGeom prst="roundRect">
            <a:avLst>
              <a:gd name="adj" fmla="val 50000"/>
            </a:avLst>
          </a:prstGeom>
          <a:solidFill>
            <a:srgbClr val="ECECEC"/>
          </a:solidFill>
          <a:ln/>
        </p:spPr>
      </p:sp>
      <p:sp>
        <p:nvSpPr>
          <p:cNvPr id="28" name="Shape 26"/>
          <p:cNvSpPr/>
          <p:nvPr/>
        </p:nvSpPr>
        <p:spPr>
          <a:xfrm>
            <a:off x="3257550" y="4688532"/>
            <a:ext cx="2841724" cy="133350"/>
          </a:xfrm>
          <a:prstGeom prst="roundRect">
            <a:avLst>
              <a:gd name="adj" fmla="val 50000"/>
            </a:avLst>
          </a:prstGeom>
          <a:solidFill>
            <a:srgbClr val="1F4B8E"/>
          </a:solidFill>
          <a:ln/>
        </p:spPr>
      </p:sp>
      <p:sp>
        <p:nvSpPr>
          <p:cNvPr id="29" name="Text 27"/>
          <p:cNvSpPr/>
          <p:nvPr/>
        </p:nvSpPr>
        <p:spPr>
          <a:xfrm>
            <a:off x="6324600" y="4621857"/>
            <a:ext cx="2552700" cy="304800"/>
          </a:xfrm>
          <a:prstGeom prst="rect">
            <a:avLst/>
          </a:prstGeom>
          <a:noFill/>
          <a:ln/>
        </p:spPr>
        <p:txBody>
          <a:bodyPr wrap="square" lIns="25400" tIns="25400" rIns="25400" bIns="25400" rtlCol="0" anchor="t">
            <a:normAutofit/>
          </a:bodyPr>
          <a:lstStyle/>
          <a:p>
            <a:pPr algn="r" indent="0" marL="0">
              <a:buNone/>
            </a:pPr>
            <a:r>
              <a:rPr lang="en-US" sz="1800" dirty="0">
                <a:solidFill>
                  <a:srgbClr val="6A7280"/>
                </a:solidFill>
                <a:latin typeface="Arial" pitchFamily="34" charset="0"/>
                <a:ea typeface="Arial" pitchFamily="34" charset="-122"/>
                <a:cs typeface="Arial" pitchFamily="34" charset="-120"/>
              </a:rPr>
              <a:t>7.39 · p &lt; 1e-11</a:t>
            </a:r>
            <a:endParaRPr lang="en-US" sz="1800" dirty="0"/>
          </a:p>
        </p:txBody>
      </p:sp>
      <p:sp>
        <p:nvSpPr>
          <p:cNvPr id="30" name="Shape 28"/>
          <p:cNvSpPr/>
          <p:nvPr/>
        </p:nvSpPr>
        <p:spPr>
          <a:xfrm>
            <a:off x="762000" y="5641032"/>
            <a:ext cx="8153400" cy="9525"/>
          </a:xfrm>
          <a:prstGeom prst="rect">
            <a:avLst/>
          </a:prstGeom>
          <a:solidFill>
            <a:srgbClr val="ECECEC"/>
          </a:solidFill>
          <a:ln/>
        </p:spPr>
      </p:sp>
      <p:sp>
        <p:nvSpPr>
          <p:cNvPr id="31" name="Text 29"/>
          <p:cNvSpPr/>
          <p:nvPr/>
        </p:nvSpPr>
        <p:spPr>
          <a:xfrm>
            <a:off x="800100" y="5240982"/>
            <a:ext cx="10287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F3</a:t>
            </a:r>
            <a:endParaRPr lang="en-US" sz="1800" dirty="0"/>
          </a:p>
        </p:txBody>
      </p:sp>
      <p:sp>
        <p:nvSpPr>
          <p:cNvPr id="32" name="Text 30"/>
          <p:cNvSpPr/>
          <p:nvPr/>
        </p:nvSpPr>
        <p:spPr>
          <a:xfrm>
            <a:off x="1981200" y="5255270"/>
            <a:ext cx="112395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Theta</a:t>
            </a:r>
            <a:endParaRPr lang="en-US" sz="1800" dirty="0"/>
          </a:p>
        </p:txBody>
      </p:sp>
      <p:sp>
        <p:nvSpPr>
          <p:cNvPr id="33" name="Shape 31"/>
          <p:cNvSpPr/>
          <p:nvPr/>
        </p:nvSpPr>
        <p:spPr>
          <a:xfrm>
            <a:off x="3257550" y="5326707"/>
            <a:ext cx="2914650" cy="133350"/>
          </a:xfrm>
          <a:prstGeom prst="roundRect">
            <a:avLst>
              <a:gd name="adj" fmla="val 50000"/>
            </a:avLst>
          </a:prstGeom>
          <a:solidFill>
            <a:srgbClr val="ECECEC"/>
          </a:solidFill>
          <a:ln/>
        </p:spPr>
      </p:sp>
      <p:sp>
        <p:nvSpPr>
          <p:cNvPr id="34" name="Shape 32"/>
          <p:cNvSpPr/>
          <p:nvPr/>
        </p:nvSpPr>
        <p:spPr>
          <a:xfrm>
            <a:off x="3257550" y="5326707"/>
            <a:ext cx="2739628" cy="133350"/>
          </a:xfrm>
          <a:prstGeom prst="roundRect">
            <a:avLst>
              <a:gd name="adj" fmla="val 50000"/>
            </a:avLst>
          </a:prstGeom>
          <a:solidFill>
            <a:srgbClr val="1F4B8E"/>
          </a:solidFill>
          <a:ln/>
        </p:spPr>
      </p:sp>
      <p:sp>
        <p:nvSpPr>
          <p:cNvPr id="35" name="Text 33"/>
          <p:cNvSpPr/>
          <p:nvPr/>
        </p:nvSpPr>
        <p:spPr>
          <a:xfrm>
            <a:off x="6324600" y="5260032"/>
            <a:ext cx="2552700" cy="304800"/>
          </a:xfrm>
          <a:prstGeom prst="rect">
            <a:avLst/>
          </a:prstGeom>
          <a:noFill/>
          <a:ln/>
        </p:spPr>
        <p:txBody>
          <a:bodyPr wrap="square" lIns="25400" tIns="25400" rIns="25400" bIns="25400" rtlCol="0" anchor="t">
            <a:normAutofit/>
          </a:bodyPr>
          <a:lstStyle/>
          <a:p>
            <a:pPr algn="r" indent="0" marL="0">
              <a:buNone/>
            </a:pPr>
            <a:r>
              <a:rPr lang="en-US" sz="1800" dirty="0">
                <a:solidFill>
                  <a:srgbClr val="6A7280"/>
                </a:solidFill>
                <a:latin typeface="Arial" pitchFamily="34" charset="0"/>
                <a:ea typeface="Arial" pitchFamily="34" charset="-122"/>
                <a:cs typeface="Arial" pitchFamily="34" charset="-120"/>
              </a:rPr>
              <a:t>7.11 · p &lt; 1e-10</a:t>
            </a:r>
            <a:endParaRPr lang="en-US" sz="1800" dirty="0"/>
          </a:p>
        </p:txBody>
      </p:sp>
      <p:sp>
        <p:nvSpPr>
          <p:cNvPr id="36" name="Shape 34"/>
          <p:cNvSpPr/>
          <p:nvPr/>
        </p:nvSpPr>
        <p:spPr>
          <a:xfrm>
            <a:off x="762000" y="6279207"/>
            <a:ext cx="8153400" cy="9525"/>
          </a:xfrm>
          <a:prstGeom prst="rect">
            <a:avLst/>
          </a:prstGeom>
          <a:solidFill>
            <a:srgbClr val="ECECEC"/>
          </a:solidFill>
          <a:ln/>
        </p:spPr>
      </p:sp>
      <p:sp>
        <p:nvSpPr>
          <p:cNvPr id="37" name="Text 35"/>
          <p:cNvSpPr/>
          <p:nvPr/>
        </p:nvSpPr>
        <p:spPr>
          <a:xfrm>
            <a:off x="800100" y="5879157"/>
            <a:ext cx="10287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F4</a:t>
            </a:r>
            <a:endParaRPr lang="en-US" sz="1800" dirty="0"/>
          </a:p>
        </p:txBody>
      </p:sp>
      <p:sp>
        <p:nvSpPr>
          <p:cNvPr id="38" name="Text 36"/>
          <p:cNvSpPr/>
          <p:nvPr/>
        </p:nvSpPr>
        <p:spPr>
          <a:xfrm>
            <a:off x="1981200" y="5893445"/>
            <a:ext cx="112395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Theta</a:t>
            </a:r>
            <a:endParaRPr lang="en-US" sz="1800" dirty="0"/>
          </a:p>
        </p:txBody>
      </p:sp>
      <p:sp>
        <p:nvSpPr>
          <p:cNvPr id="39" name="Shape 37"/>
          <p:cNvSpPr/>
          <p:nvPr/>
        </p:nvSpPr>
        <p:spPr>
          <a:xfrm>
            <a:off x="3257550" y="5964882"/>
            <a:ext cx="2914650" cy="133350"/>
          </a:xfrm>
          <a:prstGeom prst="roundRect">
            <a:avLst>
              <a:gd name="adj" fmla="val 50000"/>
            </a:avLst>
          </a:prstGeom>
          <a:solidFill>
            <a:srgbClr val="ECECEC"/>
          </a:solidFill>
          <a:ln/>
        </p:spPr>
      </p:sp>
      <p:sp>
        <p:nvSpPr>
          <p:cNvPr id="40" name="Shape 38"/>
          <p:cNvSpPr/>
          <p:nvPr/>
        </p:nvSpPr>
        <p:spPr>
          <a:xfrm>
            <a:off x="3257550" y="5964882"/>
            <a:ext cx="2710607" cy="133350"/>
          </a:xfrm>
          <a:prstGeom prst="roundRect">
            <a:avLst>
              <a:gd name="adj" fmla="val 50000"/>
            </a:avLst>
          </a:prstGeom>
          <a:solidFill>
            <a:srgbClr val="1F4B8E"/>
          </a:solidFill>
          <a:ln/>
        </p:spPr>
      </p:sp>
      <p:sp>
        <p:nvSpPr>
          <p:cNvPr id="41" name="Text 39"/>
          <p:cNvSpPr/>
          <p:nvPr/>
        </p:nvSpPr>
        <p:spPr>
          <a:xfrm>
            <a:off x="6324600" y="5898207"/>
            <a:ext cx="2552700" cy="304800"/>
          </a:xfrm>
          <a:prstGeom prst="rect">
            <a:avLst/>
          </a:prstGeom>
          <a:noFill/>
          <a:ln/>
        </p:spPr>
        <p:txBody>
          <a:bodyPr wrap="square" lIns="25400" tIns="25400" rIns="25400" bIns="25400" rtlCol="0" anchor="t">
            <a:normAutofit/>
          </a:bodyPr>
          <a:lstStyle/>
          <a:p>
            <a:pPr algn="r" indent="0" marL="0">
              <a:buNone/>
            </a:pPr>
            <a:r>
              <a:rPr lang="en-US" sz="1800" dirty="0">
                <a:solidFill>
                  <a:srgbClr val="6A7280"/>
                </a:solidFill>
                <a:latin typeface="Arial" pitchFamily="34" charset="0"/>
                <a:ea typeface="Arial" pitchFamily="34" charset="-122"/>
                <a:cs typeface="Arial" pitchFamily="34" charset="-120"/>
              </a:rPr>
              <a:t>7.03 · p &lt; 1e-10</a:t>
            </a:r>
            <a:endParaRPr lang="en-US" sz="1800" dirty="0"/>
          </a:p>
        </p:txBody>
      </p:sp>
      <p:sp>
        <p:nvSpPr>
          <p:cNvPr id="42" name="Shape 40"/>
          <p:cNvSpPr/>
          <p:nvPr/>
        </p:nvSpPr>
        <p:spPr>
          <a:xfrm>
            <a:off x="762000" y="6917382"/>
            <a:ext cx="8153400" cy="9525"/>
          </a:xfrm>
          <a:prstGeom prst="rect">
            <a:avLst/>
          </a:prstGeom>
          <a:solidFill>
            <a:srgbClr val="ECECEC"/>
          </a:solidFill>
          <a:ln/>
        </p:spPr>
      </p:sp>
      <p:sp>
        <p:nvSpPr>
          <p:cNvPr id="43" name="Text 41"/>
          <p:cNvSpPr/>
          <p:nvPr/>
        </p:nvSpPr>
        <p:spPr>
          <a:xfrm>
            <a:off x="800100" y="6517332"/>
            <a:ext cx="10287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Fp1</a:t>
            </a:r>
            <a:endParaRPr lang="en-US" sz="1800" dirty="0"/>
          </a:p>
        </p:txBody>
      </p:sp>
      <p:sp>
        <p:nvSpPr>
          <p:cNvPr id="44" name="Text 42"/>
          <p:cNvSpPr/>
          <p:nvPr/>
        </p:nvSpPr>
        <p:spPr>
          <a:xfrm>
            <a:off x="1981200" y="6531620"/>
            <a:ext cx="112395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Beta</a:t>
            </a:r>
            <a:endParaRPr lang="en-US" sz="1800" dirty="0"/>
          </a:p>
        </p:txBody>
      </p:sp>
      <p:sp>
        <p:nvSpPr>
          <p:cNvPr id="45" name="Shape 43"/>
          <p:cNvSpPr/>
          <p:nvPr/>
        </p:nvSpPr>
        <p:spPr>
          <a:xfrm>
            <a:off x="3257550" y="6603057"/>
            <a:ext cx="2914650" cy="133350"/>
          </a:xfrm>
          <a:prstGeom prst="roundRect">
            <a:avLst>
              <a:gd name="adj" fmla="val 50000"/>
            </a:avLst>
          </a:prstGeom>
          <a:solidFill>
            <a:srgbClr val="ECECEC"/>
          </a:solidFill>
          <a:ln/>
        </p:spPr>
      </p:sp>
      <p:sp>
        <p:nvSpPr>
          <p:cNvPr id="46" name="Shape 44"/>
          <p:cNvSpPr/>
          <p:nvPr/>
        </p:nvSpPr>
        <p:spPr>
          <a:xfrm>
            <a:off x="3257550" y="6603057"/>
            <a:ext cx="2564755" cy="133350"/>
          </a:xfrm>
          <a:prstGeom prst="roundRect">
            <a:avLst>
              <a:gd name="adj" fmla="val 50000"/>
            </a:avLst>
          </a:prstGeom>
          <a:solidFill>
            <a:srgbClr val="1F4B8E"/>
          </a:solidFill>
          <a:ln/>
        </p:spPr>
      </p:sp>
      <p:sp>
        <p:nvSpPr>
          <p:cNvPr id="47" name="Text 45"/>
          <p:cNvSpPr/>
          <p:nvPr/>
        </p:nvSpPr>
        <p:spPr>
          <a:xfrm>
            <a:off x="6324600" y="6536382"/>
            <a:ext cx="2552700" cy="304800"/>
          </a:xfrm>
          <a:prstGeom prst="rect">
            <a:avLst/>
          </a:prstGeom>
          <a:noFill/>
          <a:ln/>
        </p:spPr>
        <p:txBody>
          <a:bodyPr wrap="square" lIns="25400" tIns="25400" rIns="25400" bIns="25400" rtlCol="0" anchor="t">
            <a:normAutofit/>
          </a:bodyPr>
          <a:lstStyle/>
          <a:p>
            <a:pPr algn="r" indent="0" marL="0">
              <a:buNone/>
            </a:pPr>
            <a:r>
              <a:rPr lang="en-US" sz="1800" dirty="0">
                <a:solidFill>
                  <a:srgbClr val="6A7280"/>
                </a:solidFill>
                <a:latin typeface="Arial" pitchFamily="34" charset="0"/>
                <a:ea typeface="Arial" pitchFamily="34" charset="-122"/>
                <a:cs typeface="Arial" pitchFamily="34" charset="-120"/>
              </a:rPr>
              <a:t>6.67 · p &lt; 1e-9</a:t>
            </a:r>
            <a:endParaRPr lang="en-US" sz="1800" dirty="0"/>
          </a:p>
        </p:txBody>
      </p:sp>
      <p:sp>
        <p:nvSpPr>
          <p:cNvPr id="48" name="Shape 46"/>
          <p:cNvSpPr/>
          <p:nvPr/>
        </p:nvSpPr>
        <p:spPr>
          <a:xfrm>
            <a:off x="762000" y="7555557"/>
            <a:ext cx="8153400" cy="9525"/>
          </a:xfrm>
          <a:prstGeom prst="rect">
            <a:avLst/>
          </a:prstGeom>
          <a:solidFill>
            <a:srgbClr val="ECECEC"/>
          </a:solidFill>
          <a:ln/>
        </p:spPr>
      </p:sp>
      <p:sp>
        <p:nvSpPr>
          <p:cNvPr id="49" name="Text 47"/>
          <p:cNvSpPr/>
          <p:nvPr/>
        </p:nvSpPr>
        <p:spPr>
          <a:xfrm>
            <a:off x="800100" y="7155507"/>
            <a:ext cx="10287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F7</a:t>
            </a:r>
            <a:endParaRPr lang="en-US" sz="1800" dirty="0"/>
          </a:p>
        </p:txBody>
      </p:sp>
      <p:sp>
        <p:nvSpPr>
          <p:cNvPr id="50" name="Text 48"/>
          <p:cNvSpPr/>
          <p:nvPr/>
        </p:nvSpPr>
        <p:spPr>
          <a:xfrm>
            <a:off x="1981200" y="7169795"/>
            <a:ext cx="112395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Theta</a:t>
            </a:r>
            <a:endParaRPr lang="en-US" sz="1800" dirty="0"/>
          </a:p>
        </p:txBody>
      </p:sp>
      <p:sp>
        <p:nvSpPr>
          <p:cNvPr id="51" name="Shape 49"/>
          <p:cNvSpPr/>
          <p:nvPr/>
        </p:nvSpPr>
        <p:spPr>
          <a:xfrm>
            <a:off x="3257550" y="7241232"/>
            <a:ext cx="2914650" cy="133350"/>
          </a:xfrm>
          <a:prstGeom prst="roundRect">
            <a:avLst>
              <a:gd name="adj" fmla="val 50000"/>
            </a:avLst>
          </a:prstGeom>
          <a:solidFill>
            <a:srgbClr val="ECECEC"/>
          </a:solidFill>
          <a:ln/>
        </p:spPr>
      </p:sp>
      <p:sp>
        <p:nvSpPr>
          <p:cNvPr id="52" name="Shape 50"/>
          <p:cNvSpPr/>
          <p:nvPr/>
        </p:nvSpPr>
        <p:spPr>
          <a:xfrm>
            <a:off x="3257550" y="7241232"/>
            <a:ext cx="2462808" cy="133350"/>
          </a:xfrm>
          <a:prstGeom prst="roundRect">
            <a:avLst>
              <a:gd name="adj" fmla="val 50000"/>
            </a:avLst>
          </a:prstGeom>
          <a:solidFill>
            <a:srgbClr val="1F4B8E"/>
          </a:solidFill>
          <a:ln/>
        </p:spPr>
      </p:sp>
      <p:sp>
        <p:nvSpPr>
          <p:cNvPr id="53" name="Text 51"/>
          <p:cNvSpPr/>
          <p:nvPr/>
        </p:nvSpPr>
        <p:spPr>
          <a:xfrm>
            <a:off x="6324600" y="7174557"/>
            <a:ext cx="2552700" cy="304800"/>
          </a:xfrm>
          <a:prstGeom prst="rect">
            <a:avLst/>
          </a:prstGeom>
          <a:noFill/>
          <a:ln/>
        </p:spPr>
        <p:txBody>
          <a:bodyPr wrap="square" lIns="25400" tIns="25400" rIns="25400" bIns="25400" rtlCol="0" anchor="t">
            <a:normAutofit/>
          </a:bodyPr>
          <a:lstStyle/>
          <a:p>
            <a:pPr algn="r" indent="0" marL="0">
              <a:buNone/>
            </a:pPr>
            <a:r>
              <a:rPr lang="en-US" sz="1800" dirty="0">
                <a:solidFill>
                  <a:srgbClr val="6A7280"/>
                </a:solidFill>
                <a:latin typeface="Arial" pitchFamily="34" charset="0"/>
                <a:ea typeface="Arial" pitchFamily="34" charset="-122"/>
                <a:cs typeface="Arial" pitchFamily="34" charset="-120"/>
              </a:rPr>
              <a:t>6.40 · p &lt; 1e-8</a:t>
            </a:r>
            <a:endParaRPr lang="en-US" sz="1800" dirty="0"/>
          </a:p>
        </p:txBody>
      </p:sp>
      <p:sp>
        <p:nvSpPr>
          <p:cNvPr id="54" name="Shape 52"/>
          <p:cNvSpPr/>
          <p:nvPr/>
        </p:nvSpPr>
        <p:spPr>
          <a:xfrm>
            <a:off x="9372600" y="2621607"/>
            <a:ext cx="8153400" cy="6474768"/>
          </a:xfrm>
          <a:prstGeom prst="roundRect">
            <a:avLst>
              <a:gd name="adj" fmla="val 883"/>
            </a:avLst>
          </a:prstGeom>
          <a:solidFill>
            <a:srgbClr val="FFFFFF"/>
          </a:solidFill>
          <a:ln w="9525">
            <a:solidFill>
              <a:srgbClr val="D9DADB"/>
            </a:solidFill>
            <a:prstDash val="solid"/>
          </a:ln>
        </p:spPr>
      </p:sp>
      <p:sp>
        <p:nvSpPr>
          <p:cNvPr id="55" name="Text 53"/>
          <p:cNvSpPr/>
          <p:nvPr/>
        </p:nvSpPr>
        <p:spPr>
          <a:xfrm>
            <a:off x="9610725" y="2859732"/>
            <a:ext cx="7907465"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RELATIVE BAND POWER DIFFERENCE (AD − HC) / HC</a:t>
            </a:r>
            <a:endParaRPr lang="en-US" sz="1800" dirty="0"/>
          </a:p>
        </p:txBody>
      </p:sp>
      <p:pic>
        <p:nvPicPr>
          <p:cNvPr id="56" name="Image 0" descr="preencoded.png">    </p:cNvPr>
          <p:cNvPicPr>
            <a:picLocks noChangeAspect="1"/>
          </p:cNvPicPr>
          <p:nvPr/>
        </p:nvPicPr>
        <p:blipFill>
          <a:blip r:embed="rId1"/>
          <a:srcRect l="0" r="0" t="0" b="0"/>
          <a:stretch/>
        </p:blipFill>
        <p:spPr>
          <a:xfrm>
            <a:off x="9610725" y="3259782"/>
            <a:ext cx="7677150" cy="4953000"/>
          </a:xfrm>
          <a:prstGeom prst="rect">
            <a:avLst/>
          </a:prstGeom>
        </p:spPr>
      </p:pic>
      <p:sp>
        <p:nvSpPr>
          <p:cNvPr id="57" name="Shape 54"/>
          <p:cNvSpPr/>
          <p:nvPr/>
        </p:nvSpPr>
        <p:spPr>
          <a:xfrm>
            <a:off x="762000" y="9096375"/>
            <a:ext cx="16764000" cy="9525"/>
          </a:xfrm>
          <a:prstGeom prst="rect">
            <a:avLst/>
          </a:prstGeom>
          <a:solidFill>
            <a:srgbClr val="D9DADB"/>
          </a:solidFill>
          <a:ln/>
        </p:spPr>
      </p:sp>
      <p:sp>
        <p:nvSpPr>
          <p:cNvPr id="58" name="Text 55"/>
          <p:cNvSpPr/>
          <p:nvPr/>
        </p:nvSpPr>
        <p:spPr>
          <a:xfrm>
            <a:off x="762000" y="93726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59" name="Text 56"/>
          <p:cNvSpPr/>
          <p:nvPr/>
        </p:nvSpPr>
        <p:spPr>
          <a:xfrm>
            <a:off x="17271653" y="93916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2A2F36"/>
          </a:solidFill>
          <a:ln/>
        </p:spPr>
      </p:sp>
      <p:sp>
        <p:nvSpPr>
          <p:cNvPr id="3" name="Text 1"/>
          <p:cNvSpPr/>
          <p:nvPr/>
        </p:nvSpPr>
        <p:spPr>
          <a:xfrm>
            <a:off x="952500" y="952500"/>
            <a:ext cx="110043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PART 03</a:t>
            </a:r>
            <a:endParaRPr lang="en-US" sz="1800" dirty="0"/>
          </a:p>
        </p:txBody>
      </p:sp>
      <p:sp>
        <p:nvSpPr>
          <p:cNvPr id="4" name="Text 2"/>
          <p:cNvSpPr/>
          <p:nvPr/>
        </p:nvSpPr>
        <p:spPr>
          <a:xfrm>
            <a:off x="2243435" y="981075"/>
            <a:ext cx="1368772"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9AA0A8"/>
                </a:solidFill>
                <a:latin typeface="Arial" pitchFamily="34" charset="0"/>
                <a:ea typeface="Arial" pitchFamily="34" charset="-122"/>
                <a:cs typeface="Arial" pitchFamily="34" charset="-120"/>
              </a:rPr>
              <a:t>MODELING</a:t>
            </a:r>
            <a:endParaRPr lang="en-US" sz="1800" dirty="0"/>
          </a:p>
        </p:txBody>
      </p:sp>
      <p:sp>
        <p:nvSpPr>
          <p:cNvPr id="5" name="Text 3"/>
          <p:cNvSpPr/>
          <p:nvPr/>
        </p:nvSpPr>
        <p:spPr>
          <a:xfrm>
            <a:off x="16311265" y="952500"/>
            <a:ext cx="1100435"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9AA0A8"/>
                </a:solidFill>
                <a:latin typeface="Arial" pitchFamily="34" charset="0"/>
                <a:ea typeface="Arial" pitchFamily="34" charset="-122"/>
                <a:cs typeface="Arial" pitchFamily="34" charset="-120"/>
              </a:rPr>
              <a:t>11 — 16</a:t>
            </a:r>
            <a:endParaRPr lang="en-US" sz="1800" dirty="0"/>
          </a:p>
        </p:txBody>
      </p:sp>
      <p:sp>
        <p:nvSpPr>
          <p:cNvPr id="6" name="Text 4"/>
          <p:cNvSpPr/>
          <p:nvPr/>
        </p:nvSpPr>
        <p:spPr>
          <a:xfrm>
            <a:off x="952500" y="1495425"/>
            <a:ext cx="16874490" cy="3429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9BB0D0"/>
                </a:solidFill>
                <a:latin typeface="Arial" pitchFamily="34" charset="0"/>
                <a:ea typeface="Arial" pitchFamily="34" charset="-122"/>
                <a:cs typeface="Arial" pitchFamily="34" charset="-120"/>
              </a:rPr>
              <a:t>PART THREE</a:t>
            </a:r>
            <a:endParaRPr lang="en-US" sz="1800" dirty="0"/>
          </a:p>
        </p:txBody>
      </p:sp>
      <p:sp>
        <p:nvSpPr>
          <p:cNvPr id="7" name="Text 5"/>
          <p:cNvSpPr/>
          <p:nvPr/>
        </p:nvSpPr>
        <p:spPr>
          <a:xfrm>
            <a:off x="952500" y="2105025"/>
            <a:ext cx="15697200" cy="4152900"/>
          </a:xfrm>
          <a:prstGeom prst="rect">
            <a:avLst/>
          </a:prstGeom>
          <a:noFill/>
          <a:ln/>
        </p:spPr>
        <p:txBody>
          <a:bodyPr wrap="square" lIns="25400" tIns="25400" rIns="25400" bIns="25400" rtlCol="0" anchor="t">
            <a:normAutofit/>
          </a:bodyPr>
          <a:lstStyle/>
          <a:p>
            <a:pPr algn="l" indent="0" marL="0">
              <a:lnSpc>
                <a:spcPct val="100000"/>
              </a:lnSpc>
              <a:buNone/>
            </a:pPr>
            <a:r>
              <a:rPr lang="en-US" sz="10800" b="1" spc="-324" kern="0" dirty="0">
                <a:solidFill>
                  <a:srgbClr val="F6F4EF"/>
                </a:solidFill>
                <a:latin typeface="Arial" pitchFamily="34" charset="0"/>
                <a:ea typeface="Arial" pitchFamily="34" charset="-122"/>
                <a:cs typeface="Arial" pitchFamily="34" charset="-120"/>
              </a:rPr>
              <a:t>Two models, same 76 features, same folds.</a:t>
            </a:r>
            <a:endParaRPr lang="en-US" sz="10800" dirty="0"/>
          </a:p>
        </p:txBody>
      </p:sp>
      <p:sp>
        <p:nvSpPr>
          <p:cNvPr id="8" name="Shape 6"/>
          <p:cNvSpPr/>
          <p:nvPr/>
        </p:nvSpPr>
        <p:spPr>
          <a:xfrm>
            <a:off x="952500" y="8943975"/>
            <a:ext cx="16383000" cy="9525"/>
          </a:xfrm>
          <a:prstGeom prst="rect">
            <a:avLst/>
          </a:prstGeom>
          <a:solidFill>
            <a:srgbClr val="2A2F36"/>
          </a:solidFill>
          <a:ln/>
        </p:spPr>
      </p:sp>
      <p:sp>
        <p:nvSpPr>
          <p:cNvPr id="9" name="Text 7"/>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F6F4EF"/>
                </a:solidFill>
                <a:latin typeface="Arial" pitchFamily="34" charset="0"/>
                <a:ea typeface="Arial" pitchFamily="34" charset="-122"/>
                <a:cs typeface="Arial" pitchFamily="34" charset="-120"/>
              </a:rPr>
              <a:t>EEG · ALZHEIMER'S DETECTION</a:t>
            </a:r>
            <a:endParaRPr lang="en-US" sz="1800" dirty="0"/>
          </a:p>
        </p:txBody>
      </p:sp>
      <p:sp>
        <p:nvSpPr>
          <p:cNvPr id="10" name="Text 8"/>
          <p:cNvSpPr/>
          <p:nvPr/>
        </p:nvSpPr>
        <p:spPr>
          <a:xfrm>
            <a:off x="17098119" y="9239250"/>
            <a:ext cx="31358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Arial" pitchFamily="34" charset="0"/>
                <a:ea typeface="Arial" pitchFamily="34" charset="-122"/>
                <a:cs typeface="Arial" pitchFamily="34" charset="-120"/>
              </a:rPr>
              <a:t>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12</a:t>
            </a:r>
            <a:endParaRPr lang="en-US" sz="1800" dirty="0"/>
          </a:p>
        </p:txBody>
      </p:sp>
      <p:sp>
        <p:nvSpPr>
          <p:cNvPr id="4" name="Text 2"/>
          <p:cNvSpPr/>
          <p:nvPr/>
        </p:nvSpPr>
        <p:spPr>
          <a:xfrm>
            <a:off x="1511945" y="981075"/>
            <a:ext cx="1096566"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MODELS</a:t>
            </a:r>
            <a:endParaRPr lang="en-US" sz="1800" dirty="0"/>
          </a:p>
        </p:txBody>
      </p:sp>
      <p:sp>
        <p:nvSpPr>
          <p:cNvPr id="5" name="Text 3"/>
          <p:cNvSpPr/>
          <p:nvPr/>
        </p:nvSpPr>
        <p:spPr>
          <a:xfrm>
            <a:off x="13092559" y="952500"/>
            <a:ext cx="4370229"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SAME 76 FEATURES · SAME FOLDS</a:t>
            </a:r>
            <a:endParaRPr lang="en-US" sz="1800" dirty="0"/>
          </a:p>
        </p:txBody>
      </p:sp>
      <p:sp>
        <p:nvSpPr>
          <p:cNvPr id="6" name="Text 4"/>
          <p:cNvSpPr/>
          <p:nvPr/>
        </p:nvSpPr>
        <p:spPr>
          <a:xfrm>
            <a:off x="952500" y="2257425"/>
            <a:ext cx="16874490" cy="830461"/>
          </a:xfrm>
          <a:prstGeom prst="rect">
            <a:avLst/>
          </a:prstGeom>
          <a:noFill/>
          <a:ln/>
        </p:spPr>
        <p:txBody>
          <a:bodyPr wrap="square" lIns="25400" tIns="25400" rIns="25400" bIns="25400" rtlCol="0" anchor="t">
            <a:normAutofit/>
          </a:bodyPr>
          <a:lstStyle/>
          <a:p>
            <a:pPr algn="l" indent="0" marL="0">
              <a:lnSpc>
                <a:spcPct val="104000"/>
              </a:lnSpc>
              <a:buNone/>
            </a:pPr>
            <a:r>
              <a:rPr lang="en-US" sz="6000" b="1" spc="-120" kern="0" dirty="0">
                <a:solidFill>
                  <a:srgbClr val="14181D"/>
                </a:solidFill>
                <a:latin typeface="Arial" pitchFamily="34" charset="0"/>
                <a:ea typeface="Arial" pitchFamily="34" charset="-122"/>
                <a:cs typeface="Arial" pitchFamily="34" charset="-120"/>
              </a:rPr>
              <a:t>Two classifiers, same input.</a:t>
            </a:r>
            <a:endParaRPr lang="en-US" sz="6000" dirty="0"/>
          </a:p>
        </p:txBody>
      </p:sp>
      <p:sp>
        <p:nvSpPr>
          <p:cNvPr id="7" name="Shape 5"/>
          <p:cNvSpPr/>
          <p:nvPr/>
        </p:nvSpPr>
        <p:spPr>
          <a:xfrm>
            <a:off x="8753475" y="3659386"/>
            <a:ext cx="9525" cy="3495675"/>
          </a:xfrm>
          <a:prstGeom prst="rect">
            <a:avLst/>
          </a:prstGeom>
          <a:solidFill>
            <a:srgbClr val="D9DADB"/>
          </a:solidFill>
          <a:ln/>
        </p:spPr>
      </p:sp>
      <p:sp>
        <p:nvSpPr>
          <p:cNvPr id="8" name="Text 6"/>
          <p:cNvSpPr/>
          <p:nvPr/>
        </p:nvSpPr>
        <p:spPr>
          <a:xfrm>
            <a:off x="952500" y="4116586"/>
            <a:ext cx="7485602" cy="657225"/>
          </a:xfrm>
          <a:prstGeom prst="rect">
            <a:avLst/>
          </a:prstGeom>
          <a:noFill/>
          <a:ln/>
        </p:spPr>
        <p:txBody>
          <a:bodyPr wrap="square" lIns="25400" tIns="25400" rIns="25400" bIns="25400" rtlCol="0" anchor="t">
            <a:normAutofit/>
          </a:bodyPr>
          <a:lstStyle/>
          <a:p>
            <a:pPr algn="l" indent="0" marL="0">
              <a:buNone/>
            </a:pPr>
            <a:r>
              <a:rPr lang="en-US" sz="4050" b="1" spc="-61" kern="0" dirty="0">
                <a:solidFill>
                  <a:srgbClr val="14181D"/>
                </a:solidFill>
                <a:latin typeface="Arial" pitchFamily="34" charset="0"/>
                <a:ea typeface="Arial" pitchFamily="34" charset="-122"/>
                <a:cs typeface="Arial" pitchFamily="34" charset="-120"/>
              </a:rPr>
              <a:t>Logistic Regression</a:t>
            </a:r>
            <a:endParaRPr lang="en-US" sz="4050" dirty="0"/>
          </a:p>
        </p:txBody>
      </p:sp>
      <p:sp>
        <p:nvSpPr>
          <p:cNvPr id="9" name="Text 7"/>
          <p:cNvSpPr/>
          <p:nvPr/>
        </p:nvSpPr>
        <p:spPr>
          <a:xfrm>
            <a:off x="952500" y="4964311"/>
            <a:ext cx="7485602"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B3138"/>
                </a:solidFill>
                <a:latin typeface="Arial" pitchFamily="34" charset="0"/>
                <a:ea typeface="Arial" pitchFamily="34" charset="-122"/>
                <a:cs typeface="Arial" pitchFamily="34" charset="-120"/>
              </a:rPr>
              <a:t>Linear model. Each coefficient directly shows which channel-band pushes toward AD.</a:t>
            </a:r>
            <a:endParaRPr lang="en-US" sz="2100" dirty="0"/>
          </a:p>
        </p:txBody>
      </p:sp>
      <p:sp>
        <p:nvSpPr>
          <p:cNvPr id="10" name="Text 8"/>
          <p:cNvSpPr/>
          <p:nvPr/>
        </p:nvSpPr>
        <p:spPr>
          <a:xfrm>
            <a:off x="952500" y="6031111"/>
            <a:ext cx="7485602"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A7280"/>
                </a:solidFill>
                <a:latin typeface="Arial" pitchFamily="34" charset="0"/>
                <a:ea typeface="Arial" pitchFamily="34" charset="-122"/>
                <a:cs typeface="Arial" pitchFamily="34" charset="-120"/>
              </a:rPr>
              <a:t>log1p transform · StandardScaler · class_weight='balanced'</a:t>
            </a:r>
            <a:endParaRPr lang="en-US" sz="2100" dirty="0"/>
          </a:p>
        </p:txBody>
      </p:sp>
      <p:sp>
        <p:nvSpPr>
          <p:cNvPr id="11" name="Text 9"/>
          <p:cNvSpPr/>
          <p:nvPr/>
        </p:nvSpPr>
        <p:spPr>
          <a:xfrm>
            <a:off x="8724900" y="3659386"/>
            <a:ext cx="838200" cy="3533775"/>
          </a:xfrm>
          <a:prstGeom prst="rect">
            <a:avLst/>
          </a:prstGeom>
          <a:noFill/>
          <a:ln/>
        </p:spPr>
        <p:txBody>
          <a:bodyPr wrap="square" lIns="25400" tIns="25400" rIns="25400" bIns="25400" rtlCol="0" anchor="ctr">
            <a:normAutofit/>
          </a:bodyPr>
          <a:lstStyle/>
          <a:p>
            <a:pPr algn="ctr" indent="0" marL="0">
              <a:buNone/>
            </a:pPr>
            <a:r>
              <a:rPr lang="en-US" sz="1800" spc="144" kern="0" dirty="0">
                <a:solidFill>
                  <a:srgbClr val="6A7280"/>
                </a:solidFill>
                <a:latin typeface="Arial" pitchFamily="34" charset="0"/>
                <a:ea typeface="Arial" pitchFamily="34" charset="-122"/>
                <a:cs typeface="Arial" pitchFamily="34" charset="-120"/>
              </a:rPr>
              <a:t>VS</a:t>
            </a:r>
            <a:endParaRPr lang="en-US" sz="1800" dirty="0"/>
          </a:p>
        </p:txBody>
      </p:sp>
      <p:sp>
        <p:nvSpPr>
          <p:cNvPr id="12" name="Text 10"/>
          <p:cNvSpPr/>
          <p:nvPr/>
        </p:nvSpPr>
        <p:spPr>
          <a:xfrm>
            <a:off x="10058400" y="4116586"/>
            <a:ext cx="7495413" cy="657225"/>
          </a:xfrm>
          <a:prstGeom prst="rect">
            <a:avLst/>
          </a:prstGeom>
          <a:noFill/>
          <a:ln/>
        </p:spPr>
        <p:txBody>
          <a:bodyPr wrap="square" lIns="25400" tIns="25400" rIns="25400" bIns="25400" rtlCol="0" anchor="t">
            <a:normAutofit/>
          </a:bodyPr>
          <a:lstStyle/>
          <a:p>
            <a:pPr algn="l" indent="0" marL="0">
              <a:buNone/>
            </a:pPr>
            <a:r>
              <a:rPr lang="en-US" sz="4050" b="1" spc="-61" kern="0" dirty="0">
                <a:solidFill>
                  <a:srgbClr val="14181D"/>
                </a:solidFill>
                <a:latin typeface="Arial" pitchFamily="34" charset="0"/>
                <a:ea typeface="Arial" pitchFamily="34" charset="-122"/>
                <a:cs typeface="Arial" pitchFamily="34" charset="-120"/>
              </a:rPr>
              <a:t>Random Forest</a:t>
            </a:r>
            <a:endParaRPr lang="en-US" sz="4050" dirty="0"/>
          </a:p>
        </p:txBody>
      </p:sp>
      <p:sp>
        <p:nvSpPr>
          <p:cNvPr id="13" name="Text 11"/>
          <p:cNvSpPr/>
          <p:nvPr/>
        </p:nvSpPr>
        <p:spPr>
          <a:xfrm>
            <a:off x="10058400" y="4964311"/>
            <a:ext cx="7495413"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B3138"/>
                </a:solidFill>
                <a:latin typeface="Arial" pitchFamily="34" charset="0"/>
                <a:ea typeface="Arial" pitchFamily="34" charset="-122"/>
                <a:cs typeface="Arial" pitchFamily="34" charset="-120"/>
              </a:rPr>
              <a:t>Ensemble of decision trees. Captures non-linear interactions across channels.</a:t>
            </a:r>
            <a:endParaRPr lang="en-US" sz="2100" dirty="0"/>
          </a:p>
        </p:txBody>
      </p:sp>
      <p:sp>
        <p:nvSpPr>
          <p:cNvPr id="14" name="Text 12"/>
          <p:cNvSpPr/>
          <p:nvPr/>
        </p:nvSpPr>
        <p:spPr>
          <a:xfrm>
            <a:off x="10058400" y="6031111"/>
            <a:ext cx="7495413"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6A7280"/>
                </a:solidFill>
                <a:latin typeface="Arial" pitchFamily="34" charset="0"/>
                <a:ea typeface="Arial" pitchFamily="34" charset="-122"/>
                <a:cs typeface="Arial" pitchFamily="34" charset="-120"/>
              </a:rPr>
              <a:t>100 trees · class_weight='balanced' · no scaling needed</a:t>
            </a:r>
            <a:endParaRPr lang="en-US" sz="2100" dirty="0"/>
          </a:p>
        </p:txBody>
      </p:sp>
      <p:sp>
        <p:nvSpPr>
          <p:cNvPr id="15" name="Shape 13"/>
          <p:cNvSpPr/>
          <p:nvPr/>
        </p:nvSpPr>
        <p:spPr>
          <a:xfrm>
            <a:off x="952500" y="8943975"/>
            <a:ext cx="16383000" cy="9525"/>
          </a:xfrm>
          <a:prstGeom prst="rect">
            <a:avLst/>
          </a:prstGeom>
          <a:solidFill>
            <a:srgbClr val="D9DADB"/>
          </a:solidFill>
          <a:ln/>
        </p:spPr>
      </p:sp>
      <p:sp>
        <p:nvSpPr>
          <p:cNvPr id="16" name="Text 14"/>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17" name="Text 15"/>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13</a:t>
            </a:r>
            <a:endParaRPr lang="en-US" sz="1800" dirty="0"/>
          </a:p>
        </p:txBody>
      </p:sp>
      <p:sp>
        <p:nvSpPr>
          <p:cNvPr id="4" name="Text 2"/>
          <p:cNvSpPr/>
          <p:nvPr/>
        </p:nvSpPr>
        <p:spPr>
          <a:xfrm>
            <a:off x="1511945" y="981075"/>
            <a:ext cx="2812466"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EXPERIMENTAL SETUP</a:t>
            </a:r>
            <a:endParaRPr lang="en-US" sz="1800" dirty="0"/>
          </a:p>
        </p:txBody>
      </p:sp>
      <p:sp>
        <p:nvSpPr>
          <p:cNvPr id="5" name="Text 3"/>
          <p:cNvSpPr/>
          <p:nvPr/>
        </p:nvSpPr>
        <p:spPr>
          <a:xfrm>
            <a:off x="12214771" y="952500"/>
            <a:ext cx="5274351"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SUBJECT-LEVEL · STRATIFIED · 5-FOLD</a:t>
            </a:r>
            <a:endParaRPr lang="en-US" sz="1800" dirty="0"/>
          </a:p>
        </p:txBody>
      </p:sp>
      <p:sp>
        <p:nvSpPr>
          <p:cNvPr id="6" name="Text 4"/>
          <p:cNvSpPr/>
          <p:nvPr/>
        </p:nvSpPr>
        <p:spPr>
          <a:xfrm>
            <a:off x="952500" y="2257425"/>
            <a:ext cx="16874490" cy="1622822"/>
          </a:xfrm>
          <a:prstGeom prst="rect">
            <a:avLst/>
          </a:prstGeom>
          <a:noFill/>
          <a:ln/>
        </p:spPr>
        <p:txBody>
          <a:bodyPr wrap="square" lIns="25400" tIns="25400" rIns="25400" bIns="25400" rtlCol="0" anchor="t">
            <a:normAutofit/>
          </a:bodyPr>
          <a:lstStyle/>
          <a:p>
            <a:pPr algn="l" indent="0" marL="0">
              <a:lnSpc>
                <a:spcPct val="104000"/>
              </a:lnSpc>
              <a:buNone/>
            </a:pPr>
            <a:r>
              <a:rPr lang="en-US" sz="6000" b="1" spc="-120" kern="0" dirty="0">
                <a:solidFill>
                  <a:srgbClr val="14181D"/>
                </a:solidFill>
                <a:latin typeface="Arial" pitchFamily="34" charset="0"/>
                <a:ea typeface="Arial" pitchFamily="34" charset="-122"/>
                <a:cs typeface="Arial" pitchFamily="34" charset="-120"/>
              </a:rPr>
              <a:t>Same data. Same folds. Only the model changes.</a:t>
            </a:r>
            <a:endParaRPr lang="en-US" sz="6000" dirty="0"/>
          </a:p>
        </p:txBody>
      </p:sp>
      <p:sp>
        <p:nvSpPr>
          <p:cNvPr id="7" name="Shape 5"/>
          <p:cNvSpPr/>
          <p:nvPr/>
        </p:nvSpPr>
        <p:spPr>
          <a:xfrm>
            <a:off x="952500" y="4604147"/>
            <a:ext cx="5156150" cy="9525"/>
          </a:xfrm>
          <a:prstGeom prst="rect">
            <a:avLst/>
          </a:prstGeom>
          <a:solidFill>
            <a:srgbClr val="D9DADB"/>
          </a:solidFill>
          <a:ln/>
        </p:spPr>
      </p:sp>
      <p:sp>
        <p:nvSpPr>
          <p:cNvPr id="8" name="Text 6"/>
          <p:cNvSpPr/>
          <p:nvPr/>
        </p:nvSpPr>
        <p:spPr>
          <a:xfrm>
            <a:off x="952500" y="4842272"/>
            <a:ext cx="5310835"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1F4B8E"/>
                </a:solidFill>
                <a:latin typeface="Arial" pitchFamily="34" charset="0"/>
                <a:ea typeface="Arial" pitchFamily="34" charset="-122"/>
                <a:cs typeface="Arial" pitchFamily="34" charset="-120"/>
              </a:rPr>
              <a:t>200</a:t>
            </a:r>
            <a:endParaRPr lang="en-US" sz="4800" dirty="0"/>
          </a:p>
        </p:txBody>
      </p:sp>
      <p:sp>
        <p:nvSpPr>
          <p:cNvPr id="9" name="Text 7"/>
          <p:cNvSpPr/>
          <p:nvPr/>
        </p:nvSpPr>
        <p:spPr>
          <a:xfrm>
            <a:off x="952500" y="5604272"/>
            <a:ext cx="5310835"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SUBJECTS (122 AD · 78 HC)</a:t>
            </a:r>
            <a:endParaRPr lang="en-US" sz="1800" dirty="0"/>
          </a:p>
        </p:txBody>
      </p:sp>
      <p:sp>
        <p:nvSpPr>
          <p:cNvPr id="10" name="Shape 8"/>
          <p:cNvSpPr/>
          <p:nvPr/>
        </p:nvSpPr>
        <p:spPr>
          <a:xfrm>
            <a:off x="6565850" y="4604147"/>
            <a:ext cx="5156150" cy="9525"/>
          </a:xfrm>
          <a:prstGeom prst="rect">
            <a:avLst/>
          </a:prstGeom>
          <a:solidFill>
            <a:srgbClr val="D9DADB"/>
          </a:solidFill>
          <a:ln/>
        </p:spPr>
      </p:sp>
      <p:sp>
        <p:nvSpPr>
          <p:cNvPr id="11" name="Text 9"/>
          <p:cNvSpPr/>
          <p:nvPr/>
        </p:nvSpPr>
        <p:spPr>
          <a:xfrm>
            <a:off x="6565850" y="4842272"/>
            <a:ext cx="5310835"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1F4B8E"/>
                </a:solidFill>
                <a:latin typeface="Arial" pitchFamily="34" charset="0"/>
                <a:ea typeface="Arial" pitchFamily="34" charset="-122"/>
                <a:cs typeface="Arial" pitchFamily="34" charset="-120"/>
              </a:rPr>
              <a:t>76</a:t>
            </a:r>
            <a:endParaRPr lang="en-US" sz="4800" dirty="0"/>
          </a:p>
        </p:txBody>
      </p:sp>
      <p:sp>
        <p:nvSpPr>
          <p:cNvPr id="12" name="Text 10"/>
          <p:cNvSpPr/>
          <p:nvPr/>
        </p:nvSpPr>
        <p:spPr>
          <a:xfrm>
            <a:off x="6565850" y="5604272"/>
            <a:ext cx="5310835"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FEATURES PER SUBJECT</a:t>
            </a:r>
            <a:endParaRPr lang="en-US" sz="1800" dirty="0"/>
          </a:p>
        </p:txBody>
      </p:sp>
      <p:sp>
        <p:nvSpPr>
          <p:cNvPr id="13" name="Shape 11"/>
          <p:cNvSpPr/>
          <p:nvPr/>
        </p:nvSpPr>
        <p:spPr>
          <a:xfrm>
            <a:off x="12179201" y="4604147"/>
            <a:ext cx="5156150" cy="9525"/>
          </a:xfrm>
          <a:prstGeom prst="rect">
            <a:avLst/>
          </a:prstGeom>
          <a:solidFill>
            <a:srgbClr val="D9DADB"/>
          </a:solidFill>
          <a:ln/>
        </p:spPr>
      </p:sp>
      <p:sp>
        <p:nvSpPr>
          <p:cNvPr id="14" name="Text 12"/>
          <p:cNvSpPr/>
          <p:nvPr/>
        </p:nvSpPr>
        <p:spPr>
          <a:xfrm>
            <a:off x="12179201" y="4842272"/>
            <a:ext cx="5310835"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spc="-120" kern="0" dirty="0">
                <a:solidFill>
                  <a:srgbClr val="1F4B8E"/>
                </a:solidFill>
                <a:latin typeface="Arial" pitchFamily="34" charset="0"/>
                <a:ea typeface="Arial" pitchFamily="34" charset="-122"/>
                <a:cs typeface="Arial" pitchFamily="34" charset="-120"/>
              </a:rPr>
              <a:t>5-fold</a:t>
            </a:r>
            <a:endParaRPr lang="en-US" sz="4800" dirty="0"/>
          </a:p>
        </p:txBody>
      </p:sp>
      <p:sp>
        <p:nvSpPr>
          <p:cNvPr id="15" name="Text 13"/>
          <p:cNvSpPr/>
          <p:nvPr/>
        </p:nvSpPr>
        <p:spPr>
          <a:xfrm>
            <a:off x="12179201" y="5604272"/>
            <a:ext cx="5310835" cy="5715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SUBJECT-LEVEL STRATIFIED CV · SEED 42</a:t>
            </a:r>
            <a:endParaRPr lang="en-US" sz="1800" dirty="0"/>
          </a:p>
        </p:txBody>
      </p:sp>
      <p:sp>
        <p:nvSpPr>
          <p:cNvPr id="16" name="Text 14"/>
          <p:cNvSpPr/>
          <p:nvPr/>
        </p:nvSpPr>
        <p:spPr>
          <a:xfrm>
            <a:off x="952500" y="6747272"/>
            <a:ext cx="13735050" cy="860822"/>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2B3138"/>
                </a:solidFill>
                <a:latin typeface="Arial" pitchFamily="34" charset="0"/>
                <a:ea typeface="Arial" pitchFamily="34" charset="-122"/>
                <a:cs typeface="Arial" pitchFamily="34" charset="-120"/>
              </a:rPr>
              <a:t>Sensitivity = how many AD patients we caught. Specificity = how many healthy subjects we correctly cleared.</a:t>
            </a:r>
            <a:endParaRPr lang="en-US" sz="2400" dirty="0"/>
          </a:p>
        </p:txBody>
      </p:sp>
      <p:sp>
        <p:nvSpPr>
          <p:cNvPr id="17" name="Shape 15"/>
          <p:cNvSpPr/>
          <p:nvPr/>
        </p:nvSpPr>
        <p:spPr>
          <a:xfrm>
            <a:off x="952500" y="8943975"/>
            <a:ext cx="16383000" cy="9525"/>
          </a:xfrm>
          <a:prstGeom prst="rect">
            <a:avLst/>
          </a:prstGeom>
          <a:solidFill>
            <a:srgbClr val="D9DADB"/>
          </a:solidFill>
          <a:ln/>
        </p:spPr>
      </p:sp>
      <p:sp>
        <p:nvSpPr>
          <p:cNvPr id="18" name="Text 16"/>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19" name="Text 17"/>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14</a:t>
            </a:r>
            <a:endParaRPr lang="en-US" sz="1800" dirty="0"/>
          </a:p>
        </p:txBody>
      </p:sp>
      <p:sp>
        <p:nvSpPr>
          <p:cNvPr id="4" name="Text 2"/>
          <p:cNvSpPr/>
          <p:nvPr/>
        </p:nvSpPr>
        <p:spPr>
          <a:xfrm>
            <a:off x="1511945" y="981075"/>
            <a:ext cx="2466826"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HEADLINE RESULTS</a:t>
            </a:r>
            <a:endParaRPr lang="en-US" sz="1800" dirty="0"/>
          </a:p>
        </p:txBody>
      </p:sp>
      <p:sp>
        <p:nvSpPr>
          <p:cNvPr id="5" name="Text 3"/>
          <p:cNvSpPr/>
          <p:nvPr/>
        </p:nvSpPr>
        <p:spPr>
          <a:xfrm>
            <a:off x="14555688" y="952500"/>
            <a:ext cx="2863206"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5-FOLD CV · N = 200</a:t>
            </a:r>
            <a:endParaRPr lang="en-US" sz="1800" dirty="0"/>
          </a:p>
        </p:txBody>
      </p:sp>
      <p:sp>
        <p:nvSpPr>
          <p:cNvPr id="6" name="Text 4"/>
          <p:cNvSpPr/>
          <p:nvPr/>
        </p:nvSpPr>
        <p:spPr>
          <a:xfrm>
            <a:off x="952500" y="1952625"/>
            <a:ext cx="16874490" cy="3429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4B8E"/>
                </a:solidFill>
                <a:latin typeface="Arial" pitchFamily="34" charset="0"/>
                <a:ea typeface="Arial" pitchFamily="34" charset="-122"/>
                <a:cs typeface="Arial" pitchFamily="34" charset="-120"/>
              </a:rPr>
              <a:t>HEADLINE RESULTS</a:t>
            </a:r>
            <a:endParaRPr lang="en-US" sz="1800" dirty="0"/>
          </a:p>
        </p:txBody>
      </p:sp>
      <p:sp>
        <p:nvSpPr>
          <p:cNvPr id="7" name="Text 5"/>
          <p:cNvSpPr/>
          <p:nvPr/>
        </p:nvSpPr>
        <p:spPr>
          <a:xfrm>
            <a:off x="952500" y="2790825"/>
            <a:ext cx="16874490"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4181D"/>
                </a:solidFill>
                <a:latin typeface="Arial" pitchFamily="34" charset="0"/>
                <a:ea typeface="Arial" pitchFamily="34" charset="-122"/>
                <a:cs typeface="Arial" pitchFamily="34" charset="-120"/>
              </a:rPr>
              <a:t>Both models land in roughly the same ballpark.</a:t>
            </a:r>
            <a:endParaRPr lang="en-US" sz="4500" dirty="0"/>
          </a:p>
        </p:txBody>
      </p:sp>
      <p:sp>
        <p:nvSpPr>
          <p:cNvPr id="8" name="Shape 6"/>
          <p:cNvSpPr/>
          <p:nvPr/>
        </p:nvSpPr>
        <p:spPr>
          <a:xfrm>
            <a:off x="952500" y="4512766"/>
            <a:ext cx="8001000" cy="3631109"/>
          </a:xfrm>
          <a:prstGeom prst="roundRect">
            <a:avLst>
              <a:gd name="adj" fmla="val 1574"/>
            </a:avLst>
          </a:prstGeom>
          <a:solidFill>
            <a:srgbClr val="FFFFFF"/>
          </a:solidFill>
          <a:ln w="9525">
            <a:solidFill>
              <a:srgbClr val="D9DADB"/>
            </a:solidFill>
            <a:prstDash val="solid"/>
          </a:ln>
        </p:spPr>
      </p:sp>
      <p:sp>
        <p:nvSpPr>
          <p:cNvPr id="9" name="Text 7"/>
          <p:cNvSpPr/>
          <p:nvPr/>
        </p:nvSpPr>
        <p:spPr>
          <a:xfrm>
            <a:off x="1343025" y="4893766"/>
            <a:ext cx="2785487" cy="381000"/>
          </a:xfrm>
          <a:prstGeom prst="rect">
            <a:avLst/>
          </a:prstGeom>
          <a:noFill/>
          <a:ln/>
        </p:spPr>
        <p:txBody>
          <a:bodyPr wrap="square" lIns="0" tIns="0" rIns="0" bIns="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Logistic Regression</a:t>
            </a:r>
            <a:endParaRPr lang="en-US" sz="2250" dirty="0"/>
          </a:p>
        </p:txBody>
      </p:sp>
      <p:sp>
        <p:nvSpPr>
          <p:cNvPr id="10" name="Shape 8"/>
          <p:cNvSpPr/>
          <p:nvPr/>
        </p:nvSpPr>
        <p:spPr>
          <a:xfrm>
            <a:off x="4180731" y="4865191"/>
            <a:ext cx="1180356" cy="400050"/>
          </a:xfrm>
          <a:prstGeom prst="roundRect">
            <a:avLst>
              <a:gd name="adj" fmla="val 50000"/>
            </a:avLst>
          </a:prstGeom>
          <a:ln w="9525">
            <a:solidFill>
              <a:srgbClr val="1F4B8E"/>
            </a:solidFill>
            <a:prstDash val="solid"/>
          </a:ln>
        </p:spPr>
      </p:sp>
      <p:sp>
        <p:nvSpPr>
          <p:cNvPr id="11" name="Text 9"/>
          <p:cNvSpPr/>
          <p:nvPr/>
        </p:nvSpPr>
        <p:spPr>
          <a:xfrm>
            <a:off x="4304556" y="4912816"/>
            <a:ext cx="1008906"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1F4B8E"/>
                </a:solidFill>
                <a:latin typeface="Arial" pitchFamily="34" charset="0"/>
                <a:ea typeface="Arial" pitchFamily="34" charset="-122"/>
                <a:cs typeface="Arial" pitchFamily="34" charset="-120"/>
              </a:rPr>
              <a:t>LINEAR</a:t>
            </a:r>
            <a:endParaRPr lang="en-US" sz="1800" dirty="0"/>
          </a:p>
        </p:txBody>
      </p:sp>
      <p:sp>
        <p:nvSpPr>
          <p:cNvPr id="12" name="Text 10"/>
          <p:cNvSpPr/>
          <p:nvPr/>
        </p:nvSpPr>
        <p:spPr>
          <a:xfrm>
            <a:off x="1343025" y="5512891"/>
            <a:ext cx="356130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14181D"/>
                </a:solidFill>
                <a:latin typeface="Arial" pitchFamily="34" charset="0"/>
                <a:ea typeface="Arial" pitchFamily="34" charset="-122"/>
                <a:cs typeface="Arial" pitchFamily="34" charset="-120"/>
              </a:rPr>
              <a:t>0.83</a:t>
            </a:r>
            <a:endParaRPr lang="en-US" sz="4200" dirty="0"/>
          </a:p>
        </p:txBody>
      </p:sp>
      <p:sp>
        <p:nvSpPr>
          <p:cNvPr id="13" name="Text 11"/>
          <p:cNvSpPr/>
          <p:nvPr/>
        </p:nvSpPr>
        <p:spPr>
          <a:xfrm>
            <a:off x="1343025" y="6122491"/>
            <a:ext cx="3561302"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A7280"/>
                </a:solidFill>
                <a:latin typeface="Arial" pitchFamily="34" charset="0"/>
                <a:ea typeface="Arial" pitchFamily="34" charset="-122"/>
                <a:cs typeface="Arial" pitchFamily="34" charset="-120"/>
              </a:rPr>
              <a:t>ACCURACY</a:t>
            </a:r>
            <a:endParaRPr lang="en-US" sz="1800" dirty="0"/>
          </a:p>
        </p:txBody>
      </p:sp>
      <p:sp>
        <p:nvSpPr>
          <p:cNvPr id="14" name="Text 12"/>
          <p:cNvSpPr/>
          <p:nvPr/>
        </p:nvSpPr>
        <p:spPr>
          <a:xfrm>
            <a:off x="5105400" y="5512891"/>
            <a:ext cx="356130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14181D"/>
                </a:solidFill>
                <a:latin typeface="Arial" pitchFamily="34" charset="0"/>
                <a:ea typeface="Arial" pitchFamily="34" charset="-122"/>
                <a:cs typeface="Arial" pitchFamily="34" charset="-120"/>
              </a:rPr>
              <a:t>0.918</a:t>
            </a:r>
            <a:endParaRPr lang="en-US" sz="4200" dirty="0"/>
          </a:p>
        </p:txBody>
      </p:sp>
      <p:sp>
        <p:nvSpPr>
          <p:cNvPr id="15" name="Text 13"/>
          <p:cNvSpPr/>
          <p:nvPr/>
        </p:nvSpPr>
        <p:spPr>
          <a:xfrm>
            <a:off x="5105400" y="6122491"/>
            <a:ext cx="3561302"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A7280"/>
                </a:solidFill>
                <a:latin typeface="Arial" pitchFamily="34" charset="0"/>
                <a:ea typeface="Arial" pitchFamily="34" charset="-122"/>
                <a:cs typeface="Arial" pitchFamily="34" charset="-120"/>
              </a:rPr>
              <a:t>ROC-AUC</a:t>
            </a:r>
            <a:endParaRPr lang="en-US" sz="1800" dirty="0"/>
          </a:p>
        </p:txBody>
      </p:sp>
      <p:sp>
        <p:nvSpPr>
          <p:cNvPr id="16" name="Text 14"/>
          <p:cNvSpPr/>
          <p:nvPr/>
        </p:nvSpPr>
        <p:spPr>
          <a:xfrm>
            <a:off x="1343025" y="6579691"/>
            <a:ext cx="356130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14181D"/>
                </a:solidFill>
                <a:latin typeface="Arial" pitchFamily="34" charset="0"/>
                <a:ea typeface="Arial" pitchFamily="34" charset="-122"/>
                <a:cs typeface="Arial" pitchFamily="34" charset="-120"/>
              </a:rPr>
              <a:t>0.754</a:t>
            </a:r>
            <a:endParaRPr lang="en-US" sz="4200" dirty="0"/>
          </a:p>
        </p:txBody>
      </p:sp>
      <p:sp>
        <p:nvSpPr>
          <p:cNvPr id="17" name="Text 15"/>
          <p:cNvSpPr/>
          <p:nvPr/>
        </p:nvSpPr>
        <p:spPr>
          <a:xfrm>
            <a:off x="1343025" y="7189291"/>
            <a:ext cx="3561302"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A7280"/>
                </a:solidFill>
                <a:latin typeface="Arial" pitchFamily="34" charset="0"/>
                <a:ea typeface="Arial" pitchFamily="34" charset="-122"/>
                <a:cs typeface="Arial" pitchFamily="34" charset="-120"/>
              </a:rPr>
              <a:t>SENSITIVITY (AD)</a:t>
            </a:r>
            <a:endParaRPr lang="en-US" sz="1800" dirty="0"/>
          </a:p>
        </p:txBody>
      </p:sp>
      <p:sp>
        <p:nvSpPr>
          <p:cNvPr id="18" name="Text 16"/>
          <p:cNvSpPr/>
          <p:nvPr/>
        </p:nvSpPr>
        <p:spPr>
          <a:xfrm>
            <a:off x="5105400" y="6579691"/>
            <a:ext cx="356130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1F4B8E"/>
                </a:solidFill>
                <a:latin typeface="Arial" pitchFamily="34" charset="0"/>
                <a:ea typeface="Arial" pitchFamily="34" charset="-122"/>
                <a:cs typeface="Arial" pitchFamily="34" charset="-120"/>
              </a:rPr>
              <a:t>0.949</a:t>
            </a:r>
            <a:endParaRPr lang="en-US" sz="4200" dirty="0"/>
          </a:p>
        </p:txBody>
      </p:sp>
      <p:sp>
        <p:nvSpPr>
          <p:cNvPr id="19" name="Text 17"/>
          <p:cNvSpPr/>
          <p:nvPr/>
        </p:nvSpPr>
        <p:spPr>
          <a:xfrm>
            <a:off x="5105400" y="7189291"/>
            <a:ext cx="3561302"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A7280"/>
                </a:solidFill>
                <a:latin typeface="Arial" pitchFamily="34" charset="0"/>
                <a:ea typeface="Arial" pitchFamily="34" charset="-122"/>
                <a:cs typeface="Arial" pitchFamily="34" charset="-120"/>
              </a:rPr>
              <a:t>SPECIFICITY (HC)</a:t>
            </a:r>
            <a:endParaRPr lang="en-US" sz="1800" dirty="0"/>
          </a:p>
        </p:txBody>
      </p:sp>
      <p:sp>
        <p:nvSpPr>
          <p:cNvPr id="20" name="Shape 18"/>
          <p:cNvSpPr/>
          <p:nvPr/>
        </p:nvSpPr>
        <p:spPr>
          <a:xfrm>
            <a:off x="9334500" y="4512766"/>
            <a:ext cx="8001000" cy="3631109"/>
          </a:xfrm>
          <a:prstGeom prst="roundRect">
            <a:avLst>
              <a:gd name="adj" fmla="val 1574"/>
            </a:avLst>
          </a:prstGeom>
          <a:solidFill>
            <a:srgbClr val="FFFFFF"/>
          </a:solidFill>
          <a:ln w="9525">
            <a:solidFill>
              <a:srgbClr val="1F4B8E"/>
            </a:solidFill>
            <a:prstDash val="solid"/>
          </a:ln>
        </p:spPr>
      </p:sp>
      <p:sp>
        <p:nvSpPr>
          <p:cNvPr id="21" name="Text 19"/>
          <p:cNvSpPr/>
          <p:nvPr/>
        </p:nvSpPr>
        <p:spPr>
          <a:xfrm>
            <a:off x="9725025" y="4893766"/>
            <a:ext cx="2148632" cy="381000"/>
          </a:xfrm>
          <a:prstGeom prst="rect">
            <a:avLst/>
          </a:prstGeom>
          <a:noFill/>
          <a:ln/>
        </p:spPr>
        <p:txBody>
          <a:bodyPr wrap="square" lIns="0" tIns="0" rIns="0" bIns="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Random Forest</a:t>
            </a:r>
            <a:endParaRPr lang="en-US" sz="2250" dirty="0"/>
          </a:p>
        </p:txBody>
      </p:sp>
      <p:sp>
        <p:nvSpPr>
          <p:cNvPr id="22" name="Shape 20"/>
          <p:cNvSpPr/>
          <p:nvPr/>
        </p:nvSpPr>
        <p:spPr>
          <a:xfrm>
            <a:off x="11930807" y="4865191"/>
            <a:ext cx="1802160" cy="400050"/>
          </a:xfrm>
          <a:prstGeom prst="roundRect">
            <a:avLst>
              <a:gd name="adj" fmla="val 50000"/>
            </a:avLst>
          </a:prstGeom>
          <a:ln w="9525">
            <a:solidFill>
              <a:srgbClr val="1F4B8E"/>
            </a:solidFill>
            <a:prstDash val="solid"/>
          </a:ln>
        </p:spPr>
      </p:sp>
      <p:sp>
        <p:nvSpPr>
          <p:cNvPr id="23" name="Text 21"/>
          <p:cNvSpPr/>
          <p:nvPr/>
        </p:nvSpPr>
        <p:spPr>
          <a:xfrm>
            <a:off x="12054632" y="4912816"/>
            <a:ext cx="163071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1F4B8E"/>
                </a:solidFill>
                <a:latin typeface="Arial" pitchFamily="34" charset="0"/>
                <a:ea typeface="Arial" pitchFamily="34" charset="-122"/>
                <a:cs typeface="Arial" pitchFamily="34" charset="-120"/>
              </a:rPr>
              <a:t>NON-LINEAR</a:t>
            </a:r>
            <a:endParaRPr lang="en-US" sz="1800" dirty="0"/>
          </a:p>
        </p:txBody>
      </p:sp>
      <p:sp>
        <p:nvSpPr>
          <p:cNvPr id="24" name="Text 22"/>
          <p:cNvSpPr/>
          <p:nvPr/>
        </p:nvSpPr>
        <p:spPr>
          <a:xfrm>
            <a:off x="9725025" y="5512891"/>
            <a:ext cx="356130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1F4B8E"/>
                </a:solidFill>
                <a:latin typeface="Arial" pitchFamily="34" charset="0"/>
                <a:ea typeface="Arial" pitchFamily="34" charset="-122"/>
                <a:cs typeface="Arial" pitchFamily="34" charset="-120"/>
              </a:rPr>
              <a:t>0.84</a:t>
            </a:r>
            <a:endParaRPr lang="en-US" sz="4200" dirty="0"/>
          </a:p>
        </p:txBody>
      </p:sp>
      <p:sp>
        <p:nvSpPr>
          <p:cNvPr id="25" name="Text 23"/>
          <p:cNvSpPr/>
          <p:nvPr/>
        </p:nvSpPr>
        <p:spPr>
          <a:xfrm>
            <a:off x="9725025" y="6122491"/>
            <a:ext cx="3561302"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A7280"/>
                </a:solidFill>
                <a:latin typeface="Arial" pitchFamily="34" charset="0"/>
                <a:ea typeface="Arial" pitchFamily="34" charset="-122"/>
                <a:cs typeface="Arial" pitchFamily="34" charset="-120"/>
              </a:rPr>
              <a:t>ACCURACY</a:t>
            </a:r>
            <a:endParaRPr lang="en-US" sz="1800" dirty="0"/>
          </a:p>
        </p:txBody>
      </p:sp>
      <p:sp>
        <p:nvSpPr>
          <p:cNvPr id="26" name="Text 24"/>
          <p:cNvSpPr/>
          <p:nvPr/>
        </p:nvSpPr>
        <p:spPr>
          <a:xfrm>
            <a:off x="13487400" y="5512891"/>
            <a:ext cx="356130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1F4B8E"/>
                </a:solidFill>
                <a:latin typeface="Arial" pitchFamily="34" charset="0"/>
                <a:ea typeface="Arial" pitchFamily="34" charset="-122"/>
                <a:cs typeface="Arial" pitchFamily="34" charset="-120"/>
              </a:rPr>
              <a:t>0.929</a:t>
            </a:r>
            <a:endParaRPr lang="en-US" sz="4200" dirty="0"/>
          </a:p>
        </p:txBody>
      </p:sp>
      <p:sp>
        <p:nvSpPr>
          <p:cNvPr id="27" name="Text 25"/>
          <p:cNvSpPr/>
          <p:nvPr/>
        </p:nvSpPr>
        <p:spPr>
          <a:xfrm>
            <a:off x="13487400" y="6122491"/>
            <a:ext cx="3561302"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A7280"/>
                </a:solidFill>
                <a:latin typeface="Arial" pitchFamily="34" charset="0"/>
                <a:ea typeface="Arial" pitchFamily="34" charset="-122"/>
                <a:cs typeface="Arial" pitchFamily="34" charset="-120"/>
              </a:rPr>
              <a:t>ROC-AUC</a:t>
            </a:r>
            <a:endParaRPr lang="en-US" sz="1800" dirty="0"/>
          </a:p>
        </p:txBody>
      </p:sp>
      <p:sp>
        <p:nvSpPr>
          <p:cNvPr id="28" name="Text 26"/>
          <p:cNvSpPr/>
          <p:nvPr/>
        </p:nvSpPr>
        <p:spPr>
          <a:xfrm>
            <a:off x="9725025" y="6579691"/>
            <a:ext cx="356130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1F4B8E"/>
                </a:solidFill>
                <a:latin typeface="Arial" pitchFamily="34" charset="0"/>
                <a:ea typeface="Arial" pitchFamily="34" charset="-122"/>
                <a:cs typeface="Arial" pitchFamily="34" charset="-120"/>
              </a:rPr>
              <a:t>0.877</a:t>
            </a:r>
            <a:endParaRPr lang="en-US" sz="4200" dirty="0"/>
          </a:p>
        </p:txBody>
      </p:sp>
      <p:sp>
        <p:nvSpPr>
          <p:cNvPr id="29" name="Text 27"/>
          <p:cNvSpPr/>
          <p:nvPr/>
        </p:nvSpPr>
        <p:spPr>
          <a:xfrm>
            <a:off x="9725025" y="7189291"/>
            <a:ext cx="3561302"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A7280"/>
                </a:solidFill>
                <a:latin typeface="Arial" pitchFamily="34" charset="0"/>
                <a:ea typeface="Arial" pitchFamily="34" charset="-122"/>
                <a:cs typeface="Arial" pitchFamily="34" charset="-120"/>
              </a:rPr>
              <a:t>SENSITIVITY (AD)</a:t>
            </a:r>
            <a:endParaRPr lang="en-US" sz="1800" dirty="0"/>
          </a:p>
        </p:txBody>
      </p:sp>
      <p:sp>
        <p:nvSpPr>
          <p:cNvPr id="30" name="Text 28"/>
          <p:cNvSpPr/>
          <p:nvPr/>
        </p:nvSpPr>
        <p:spPr>
          <a:xfrm>
            <a:off x="13487400" y="6579691"/>
            <a:ext cx="3561302"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14181D"/>
                </a:solidFill>
                <a:latin typeface="Arial" pitchFamily="34" charset="0"/>
                <a:ea typeface="Arial" pitchFamily="34" charset="-122"/>
                <a:cs typeface="Arial" pitchFamily="34" charset="-120"/>
              </a:rPr>
              <a:t>0.782</a:t>
            </a:r>
            <a:endParaRPr lang="en-US" sz="4200" dirty="0"/>
          </a:p>
        </p:txBody>
      </p:sp>
      <p:sp>
        <p:nvSpPr>
          <p:cNvPr id="31" name="Text 29"/>
          <p:cNvSpPr/>
          <p:nvPr/>
        </p:nvSpPr>
        <p:spPr>
          <a:xfrm>
            <a:off x="13487400" y="7189291"/>
            <a:ext cx="3561302" cy="304800"/>
          </a:xfrm>
          <a:prstGeom prst="rect">
            <a:avLst/>
          </a:prstGeom>
          <a:noFill/>
          <a:ln/>
        </p:spPr>
        <p:txBody>
          <a:bodyPr wrap="square" lIns="25400" tIns="25400" rIns="25400" bIns="25400" rtlCol="0" anchor="t">
            <a:normAutofit/>
          </a:bodyPr>
          <a:lstStyle/>
          <a:p>
            <a:pPr algn="l" indent="0" marL="0">
              <a:buNone/>
            </a:pPr>
            <a:r>
              <a:rPr lang="en-US" sz="1800" spc="108" kern="0" dirty="0">
                <a:solidFill>
                  <a:srgbClr val="6A7280"/>
                </a:solidFill>
                <a:latin typeface="Arial" pitchFamily="34" charset="0"/>
                <a:ea typeface="Arial" pitchFamily="34" charset="-122"/>
                <a:cs typeface="Arial" pitchFamily="34" charset="-120"/>
              </a:rPr>
              <a:t>SPECIFICITY (HC)</a:t>
            </a:r>
            <a:endParaRPr lang="en-US" sz="1800" dirty="0"/>
          </a:p>
        </p:txBody>
      </p:sp>
      <p:sp>
        <p:nvSpPr>
          <p:cNvPr id="32" name="Text 30"/>
          <p:cNvSpPr/>
          <p:nvPr/>
        </p:nvSpPr>
        <p:spPr>
          <a:xfrm>
            <a:off x="952500" y="8372475"/>
            <a:ext cx="1687449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A7280"/>
                </a:solidFill>
                <a:latin typeface="Arial" pitchFamily="34" charset="0"/>
                <a:ea typeface="Arial" pitchFamily="34" charset="-122"/>
                <a:cs typeface="Arial" pitchFamily="34" charset="-120"/>
              </a:rPr>
              <a:t>Best run per model · 5-fold subject-level stratified CV · 200 subjects (122 AD, 78 HC) · seed = 42.</a:t>
            </a:r>
            <a:endParaRPr lang="en-US" sz="1800" dirty="0"/>
          </a:p>
        </p:txBody>
      </p:sp>
      <p:sp>
        <p:nvSpPr>
          <p:cNvPr id="33" name="Shape 31"/>
          <p:cNvSpPr/>
          <p:nvPr/>
        </p:nvSpPr>
        <p:spPr>
          <a:xfrm>
            <a:off x="952500" y="8943975"/>
            <a:ext cx="16383000" cy="9525"/>
          </a:xfrm>
          <a:prstGeom prst="rect">
            <a:avLst/>
          </a:prstGeom>
          <a:solidFill>
            <a:srgbClr val="D9DADB"/>
          </a:solidFill>
          <a:ln/>
        </p:spPr>
      </p:sp>
      <p:sp>
        <p:nvSpPr>
          <p:cNvPr id="34" name="Text 32"/>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35" name="Text 33"/>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14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15</a:t>
            </a:r>
            <a:endParaRPr lang="en-US" sz="1800" dirty="0"/>
          </a:p>
        </p:txBody>
      </p:sp>
      <p:sp>
        <p:nvSpPr>
          <p:cNvPr id="4" name="Text 2"/>
          <p:cNvSpPr/>
          <p:nvPr/>
        </p:nvSpPr>
        <p:spPr>
          <a:xfrm>
            <a:off x="1511945" y="981075"/>
            <a:ext cx="1689348"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SIDE-BY-SIDE</a:t>
            </a:r>
            <a:endParaRPr lang="en-US" sz="1800" dirty="0"/>
          </a:p>
        </p:txBody>
      </p:sp>
      <p:sp>
        <p:nvSpPr>
          <p:cNvPr id="5" name="Text 3"/>
          <p:cNvSpPr/>
          <p:nvPr/>
        </p:nvSpPr>
        <p:spPr>
          <a:xfrm>
            <a:off x="12653665" y="952500"/>
            <a:ext cx="4822290"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WHERE THE MODELS ACTUALLY DIFFER</a:t>
            </a:r>
            <a:endParaRPr lang="en-US" sz="1800" dirty="0"/>
          </a:p>
        </p:txBody>
      </p:sp>
      <p:sp>
        <p:nvSpPr>
          <p:cNvPr id="6" name="Text 4"/>
          <p:cNvSpPr/>
          <p:nvPr/>
        </p:nvSpPr>
        <p:spPr>
          <a:xfrm>
            <a:off x="952500" y="1952625"/>
            <a:ext cx="16874490" cy="3429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4B8E"/>
                </a:solidFill>
                <a:latin typeface="Arial" pitchFamily="34" charset="0"/>
                <a:ea typeface="Arial" pitchFamily="34" charset="-122"/>
                <a:cs typeface="Arial" pitchFamily="34" charset="-120"/>
              </a:rPr>
              <a:t>LOGISTIC REGRESSION VS. RANDOM FOREST</a:t>
            </a:r>
            <a:endParaRPr lang="en-US" sz="1800" dirty="0"/>
          </a:p>
        </p:txBody>
      </p:sp>
      <p:sp>
        <p:nvSpPr>
          <p:cNvPr id="7" name="Text 5"/>
          <p:cNvSpPr/>
          <p:nvPr/>
        </p:nvSpPr>
        <p:spPr>
          <a:xfrm>
            <a:off x="952500" y="2790825"/>
            <a:ext cx="16874490"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4181D"/>
                </a:solidFill>
                <a:latin typeface="Arial" pitchFamily="34" charset="0"/>
                <a:ea typeface="Arial" pitchFamily="34" charset="-122"/>
                <a:cs typeface="Arial" pitchFamily="34" charset="-120"/>
              </a:rPr>
              <a:t>Same overall score. Opposite operating point.</a:t>
            </a:r>
            <a:endParaRPr lang="en-US" sz="4500" dirty="0"/>
          </a:p>
        </p:txBody>
      </p:sp>
      <p:sp>
        <p:nvSpPr>
          <p:cNvPr id="8" name="Shape 6"/>
          <p:cNvSpPr/>
          <p:nvPr/>
        </p:nvSpPr>
        <p:spPr>
          <a:xfrm>
            <a:off x="952500" y="4769941"/>
            <a:ext cx="4372570" cy="19050"/>
          </a:xfrm>
          <a:prstGeom prst="rect">
            <a:avLst/>
          </a:prstGeom>
          <a:solidFill>
            <a:srgbClr val="14181D"/>
          </a:solidFill>
          <a:ln/>
        </p:spPr>
      </p:sp>
      <p:sp>
        <p:nvSpPr>
          <p:cNvPr id="9" name="Text 7"/>
          <p:cNvSpPr/>
          <p:nvPr/>
        </p:nvSpPr>
        <p:spPr>
          <a:xfrm>
            <a:off x="1143000" y="4341316"/>
            <a:ext cx="4122747" cy="333375"/>
          </a:xfrm>
          <a:prstGeom prst="rect">
            <a:avLst/>
          </a:prstGeom>
          <a:noFill/>
          <a:ln/>
        </p:spPr>
        <p:txBody>
          <a:bodyPr wrap="square" lIns="25400" tIns="25400" rIns="25400" bIns="25400" rtlCol="0" anchor="ctr">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METRIC</a:t>
            </a:r>
            <a:endParaRPr lang="en-US" sz="1800" dirty="0"/>
          </a:p>
        </p:txBody>
      </p:sp>
      <p:sp>
        <p:nvSpPr>
          <p:cNvPr id="10" name="Shape 8"/>
          <p:cNvSpPr/>
          <p:nvPr/>
        </p:nvSpPr>
        <p:spPr>
          <a:xfrm>
            <a:off x="5325070" y="4769941"/>
            <a:ext cx="4380905" cy="19050"/>
          </a:xfrm>
          <a:prstGeom prst="rect">
            <a:avLst/>
          </a:prstGeom>
          <a:solidFill>
            <a:srgbClr val="14181D"/>
          </a:solidFill>
          <a:ln/>
        </p:spPr>
      </p:sp>
      <p:sp>
        <p:nvSpPr>
          <p:cNvPr id="11" name="Text 9"/>
          <p:cNvSpPr/>
          <p:nvPr/>
        </p:nvSpPr>
        <p:spPr>
          <a:xfrm>
            <a:off x="5515570" y="4341316"/>
            <a:ext cx="4131332" cy="333375"/>
          </a:xfrm>
          <a:prstGeom prst="rect">
            <a:avLst/>
          </a:prstGeom>
          <a:noFill/>
          <a:ln/>
        </p:spPr>
        <p:txBody>
          <a:bodyPr wrap="square" lIns="25400" tIns="25400" rIns="25400" bIns="25400" rtlCol="0" anchor="ctr">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LOGISTIC REGRESSION</a:t>
            </a:r>
            <a:endParaRPr lang="en-US" sz="1800" dirty="0"/>
          </a:p>
        </p:txBody>
      </p:sp>
      <p:sp>
        <p:nvSpPr>
          <p:cNvPr id="12" name="Shape 10"/>
          <p:cNvSpPr/>
          <p:nvPr/>
        </p:nvSpPr>
        <p:spPr>
          <a:xfrm>
            <a:off x="9705975" y="4769941"/>
            <a:ext cx="3155603" cy="19050"/>
          </a:xfrm>
          <a:prstGeom prst="rect">
            <a:avLst/>
          </a:prstGeom>
          <a:solidFill>
            <a:srgbClr val="14181D"/>
          </a:solidFill>
          <a:ln/>
        </p:spPr>
      </p:sp>
      <p:sp>
        <p:nvSpPr>
          <p:cNvPr id="13" name="Text 11"/>
          <p:cNvSpPr/>
          <p:nvPr/>
        </p:nvSpPr>
        <p:spPr>
          <a:xfrm>
            <a:off x="9896475" y="4341316"/>
            <a:ext cx="2869271" cy="333375"/>
          </a:xfrm>
          <a:prstGeom prst="rect">
            <a:avLst/>
          </a:prstGeom>
          <a:noFill/>
          <a:ln/>
        </p:spPr>
        <p:txBody>
          <a:bodyPr wrap="square" lIns="25400" tIns="25400" rIns="25400" bIns="25400" rtlCol="0" anchor="ctr">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RANDOM FOREST</a:t>
            </a:r>
            <a:endParaRPr lang="en-US" sz="1800" dirty="0"/>
          </a:p>
        </p:txBody>
      </p:sp>
      <p:sp>
        <p:nvSpPr>
          <p:cNvPr id="14" name="Shape 12"/>
          <p:cNvSpPr/>
          <p:nvPr/>
        </p:nvSpPr>
        <p:spPr>
          <a:xfrm>
            <a:off x="12861578" y="4769941"/>
            <a:ext cx="2747665" cy="19050"/>
          </a:xfrm>
          <a:prstGeom prst="rect">
            <a:avLst/>
          </a:prstGeom>
          <a:solidFill>
            <a:srgbClr val="14181D"/>
          </a:solidFill>
          <a:ln/>
        </p:spPr>
      </p:sp>
      <p:sp>
        <p:nvSpPr>
          <p:cNvPr id="15" name="Text 13"/>
          <p:cNvSpPr/>
          <p:nvPr/>
        </p:nvSpPr>
        <p:spPr>
          <a:xfrm>
            <a:off x="13052078" y="4341316"/>
            <a:ext cx="2449095" cy="333375"/>
          </a:xfrm>
          <a:prstGeom prst="rect">
            <a:avLst/>
          </a:prstGeom>
          <a:noFill/>
          <a:ln/>
        </p:spPr>
        <p:txBody>
          <a:bodyPr wrap="square" lIns="25400" tIns="25400" rIns="25400" bIns="25400" rtlCol="0" anchor="ctr">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Δ (RF − LR)</a:t>
            </a:r>
            <a:endParaRPr lang="en-US" sz="1800" dirty="0"/>
          </a:p>
        </p:txBody>
      </p:sp>
      <p:sp>
        <p:nvSpPr>
          <p:cNvPr id="16" name="Shape 14"/>
          <p:cNvSpPr/>
          <p:nvPr/>
        </p:nvSpPr>
        <p:spPr>
          <a:xfrm>
            <a:off x="15609243" y="4769941"/>
            <a:ext cx="1726257" cy="19050"/>
          </a:xfrm>
          <a:prstGeom prst="rect">
            <a:avLst/>
          </a:prstGeom>
          <a:solidFill>
            <a:srgbClr val="14181D"/>
          </a:solidFill>
          <a:ln/>
        </p:spPr>
      </p:sp>
      <p:sp>
        <p:nvSpPr>
          <p:cNvPr id="17" name="Text 15"/>
          <p:cNvSpPr/>
          <p:nvPr/>
        </p:nvSpPr>
        <p:spPr>
          <a:xfrm>
            <a:off x="15799743" y="4341316"/>
            <a:ext cx="1421457" cy="333375"/>
          </a:xfrm>
          <a:prstGeom prst="rect">
            <a:avLst/>
          </a:prstGeom>
          <a:noFill/>
          <a:ln/>
        </p:spPr>
        <p:txBody>
          <a:bodyPr wrap="square" lIns="25400" tIns="25400" rIns="25400" bIns="25400" rtlCol="0" anchor="ctr">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WINNER</a:t>
            </a:r>
            <a:endParaRPr lang="en-US" sz="1800" dirty="0"/>
          </a:p>
        </p:txBody>
      </p:sp>
      <p:sp>
        <p:nvSpPr>
          <p:cNvPr id="18" name="Shape 16"/>
          <p:cNvSpPr/>
          <p:nvPr/>
        </p:nvSpPr>
        <p:spPr>
          <a:xfrm>
            <a:off x="952500" y="5336679"/>
            <a:ext cx="4372570" cy="9525"/>
          </a:xfrm>
          <a:prstGeom prst="rect">
            <a:avLst/>
          </a:prstGeom>
          <a:solidFill>
            <a:srgbClr val="D9DADB"/>
          </a:solidFill>
          <a:ln/>
        </p:spPr>
      </p:sp>
      <p:sp>
        <p:nvSpPr>
          <p:cNvPr id="19" name="Text 17"/>
          <p:cNvSpPr/>
          <p:nvPr/>
        </p:nvSpPr>
        <p:spPr>
          <a:xfrm>
            <a:off x="1143000" y="4922341"/>
            <a:ext cx="4122747" cy="319088"/>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Accuracy</a:t>
            </a:r>
            <a:endParaRPr lang="en-US" sz="1800" dirty="0"/>
          </a:p>
        </p:txBody>
      </p:sp>
      <p:sp>
        <p:nvSpPr>
          <p:cNvPr id="20" name="Shape 18"/>
          <p:cNvSpPr/>
          <p:nvPr/>
        </p:nvSpPr>
        <p:spPr>
          <a:xfrm>
            <a:off x="5325070" y="5336679"/>
            <a:ext cx="4380905" cy="9525"/>
          </a:xfrm>
          <a:prstGeom prst="rect">
            <a:avLst/>
          </a:prstGeom>
          <a:solidFill>
            <a:srgbClr val="D9DADB"/>
          </a:solidFill>
          <a:ln/>
        </p:spPr>
      </p:sp>
      <p:sp>
        <p:nvSpPr>
          <p:cNvPr id="21" name="Text 19"/>
          <p:cNvSpPr/>
          <p:nvPr/>
        </p:nvSpPr>
        <p:spPr>
          <a:xfrm>
            <a:off x="5515570" y="4922341"/>
            <a:ext cx="4131332" cy="319088"/>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0.830</a:t>
            </a:r>
            <a:endParaRPr lang="en-US" sz="1800" dirty="0"/>
          </a:p>
        </p:txBody>
      </p:sp>
      <p:sp>
        <p:nvSpPr>
          <p:cNvPr id="22" name="Shape 20"/>
          <p:cNvSpPr/>
          <p:nvPr/>
        </p:nvSpPr>
        <p:spPr>
          <a:xfrm>
            <a:off x="9705975" y="5336679"/>
            <a:ext cx="3155603" cy="9525"/>
          </a:xfrm>
          <a:prstGeom prst="rect">
            <a:avLst/>
          </a:prstGeom>
          <a:solidFill>
            <a:srgbClr val="D9DADB"/>
          </a:solidFill>
          <a:ln/>
        </p:spPr>
      </p:sp>
      <p:sp>
        <p:nvSpPr>
          <p:cNvPr id="23" name="Text 21"/>
          <p:cNvSpPr/>
          <p:nvPr/>
        </p:nvSpPr>
        <p:spPr>
          <a:xfrm>
            <a:off x="9896475" y="4922341"/>
            <a:ext cx="2869271" cy="319088"/>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0.840</a:t>
            </a:r>
            <a:endParaRPr lang="en-US" sz="1800" dirty="0"/>
          </a:p>
        </p:txBody>
      </p:sp>
      <p:sp>
        <p:nvSpPr>
          <p:cNvPr id="24" name="Shape 22"/>
          <p:cNvSpPr/>
          <p:nvPr/>
        </p:nvSpPr>
        <p:spPr>
          <a:xfrm>
            <a:off x="12861578" y="5336679"/>
            <a:ext cx="2747665" cy="9525"/>
          </a:xfrm>
          <a:prstGeom prst="rect">
            <a:avLst/>
          </a:prstGeom>
          <a:solidFill>
            <a:srgbClr val="D9DADB"/>
          </a:solidFill>
          <a:ln/>
        </p:spPr>
      </p:sp>
      <p:sp>
        <p:nvSpPr>
          <p:cNvPr id="25" name="Text 23"/>
          <p:cNvSpPr/>
          <p:nvPr/>
        </p:nvSpPr>
        <p:spPr>
          <a:xfrm>
            <a:off x="13052078" y="4922341"/>
            <a:ext cx="2449095" cy="319088"/>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+0.010</a:t>
            </a:r>
            <a:endParaRPr lang="en-US" sz="1800" dirty="0"/>
          </a:p>
        </p:txBody>
      </p:sp>
      <p:sp>
        <p:nvSpPr>
          <p:cNvPr id="26" name="Shape 24"/>
          <p:cNvSpPr/>
          <p:nvPr/>
        </p:nvSpPr>
        <p:spPr>
          <a:xfrm>
            <a:off x="15609243" y="5336679"/>
            <a:ext cx="1726257" cy="9525"/>
          </a:xfrm>
          <a:prstGeom prst="rect">
            <a:avLst/>
          </a:prstGeom>
          <a:solidFill>
            <a:srgbClr val="D9DADB"/>
          </a:solidFill>
          <a:ln/>
        </p:spPr>
      </p:sp>
      <p:sp>
        <p:nvSpPr>
          <p:cNvPr id="27" name="Text 25"/>
          <p:cNvSpPr/>
          <p:nvPr/>
        </p:nvSpPr>
        <p:spPr>
          <a:xfrm>
            <a:off x="15799743" y="4922341"/>
            <a:ext cx="1421457" cy="319088"/>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RF</a:t>
            </a:r>
            <a:endParaRPr lang="en-US" sz="1800" dirty="0"/>
          </a:p>
        </p:txBody>
      </p:sp>
      <p:sp>
        <p:nvSpPr>
          <p:cNvPr id="28" name="Shape 26"/>
          <p:cNvSpPr/>
          <p:nvPr/>
        </p:nvSpPr>
        <p:spPr>
          <a:xfrm>
            <a:off x="952500" y="5889129"/>
            <a:ext cx="4372570" cy="9525"/>
          </a:xfrm>
          <a:prstGeom prst="rect">
            <a:avLst/>
          </a:prstGeom>
          <a:solidFill>
            <a:srgbClr val="D9DADB"/>
          </a:solidFill>
          <a:ln/>
        </p:spPr>
      </p:sp>
      <p:sp>
        <p:nvSpPr>
          <p:cNvPr id="29" name="Text 27"/>
          <p:cNvSpPr/>
          <p:nvPr/>
        </p:nvSpPr>
        <p:spPr>
          <a:xfrm>
            <a:off x="1143000" y="5479554"/>
            <a:ext cx="4122747"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ROC-AUC</a:t>
            </a:r>
            <a:endParaRPr lang="en-US" sz="1800" dirty="0"/>
          </a:p>
        </p:txBody>
      </p:sp>
      <p:sp>
        <p:nvSpPr>
          <p:cNvPr id="30" name="Shape 28"/>
          <p:cNvSpPr/>
          <p:nvPr/>
        </p:nvSpPr>
        <p:spPr>
          <a:xfrm>
            <a:off x="5325070" y="5889129"/>
            <a:ext cx="4380905" cy="9525"/>
          </a:xfrm>
          <a:prstGeom prst="rect">
            <a:avLst/>
          </a:prstGeom>
          <a:solidFill>
            <a:srgbClr val="D9DADB"/>
          </a:solidFill>
          <a:ln/>
        </p:spPr>
      </p:sp>
      <p:sp>
        <p:nvSpPr>
          <p:cNvPr id="31" name="Text 29"/>
          <p:cNvSpPr/>
          <p:nvPr/>
        </p:nvSpPr>
        <p:spPr>
          <a:xfrm>
            <a:off x="5515570" y="5479554"/>
            <a:ext cx="4131332"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0.918</a:t>
            </a:r>
            <a:endParaRPr lang="en-US" sz="1800" dirty="0"/>
          </a:p>
        </p:txBody>
      </p:sp>
      <p:sp>
        <p:nvSpPr>
          <p:cNvPr id="32" name="Shape 30"/>
          <p:cNvSpPr/>
          <p:nvPr/>
        </p:nvSpPr>
        <p:spPr>
          <a:xfrm>
            <a:off x="9705975" y="5889129"/>
            <a:ext cx="3155603" cy="9525"/>
          </a:xfrm>
          <a:prstGeom prst="rect">
            <a:avLst/>
          </a:prstGeom>
          <a:solidFill>
            <a:srgbClr val="D9DADB"/>
          </a:solidFill>
          <a:ln/>
        </p:spPr>
      </p:sp>
      <p:sp>
        <p:nvSpPr>
          <p:cNvPr id="33" name="Text 31"/>
          <p:cNvSpPr/>
          <p:nvPr/>
        </p:nvSpPr>
        <p:spPr>
          <a:xfrm>
            <a:off x="9896475" y="5479554"/>
            <a:ext cx="2869271"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0.929</a:t>
            </a:r>
            <a:endParaRPr lang="en-US" sz="1800" dirty="0"/>
          </a:p>
        </p:txBody>
      </p:sp>
      <p:sp>
        <p:nvSpPr>
          <p:cNvPr id="34" name="Shape 32"/>
          <p:cNvSpPr/>
          <p:nvPr/>
        </p:nvSpPr>
        <p:spPr>
          <a:xfrm>
            <a:off x="12861578" y="5889129"/>
            <a:ext cx="2747665" cy="9525"/>
          </a:xfrm>
          <a:prstGeom prst="rect">
            <a:avLst/>
          </a:prstGeom>
          <a:solidFill>
            <a:srgbClr val="D9DADB"/>
          </a:solidFill>
          <a:ln/>
        </p:spPr>
      </p:sp>
      <p:sp>
        <p:nvSpPr>
          <p:cNvPr id="35" name="Text 33"/>
          <p:cNvSpPr/>
          <p:nvPr/>
        </p:nvSpPr>
        <p:spPr>
          <a:xfrm>
            <a:off x="13052078" y="5479554"/>
            <a:ext cx="2449095"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+0.012</a:t>
            </a:r>
            <a:endParaRPr lang="en-US" sz="1800" dirty="0"/>
          </a:p>
        </p:txBody>
      </p:sp>
      <p:sp>
        <p:nvSpPr>
          <p:cNvPr id="36" name="Shape 34"/>
          <p:cNvSpPr/>
          <p:nvPr/>
        </p:nvSpPr>
        <p:spPr>
          <a:xfrm>
            <a:off x="15609243" y="5889129"/>
            <a:ext cx="1726257" cy="9525"/>
          </a:xfrm>
          <a:prstGeom prst="rect">
            <a:avLst/>
          </a:prstGeom>
          <a:solidFill>
            <a:srgbClr val="D9DADB"/>
          </a:solidFill>
          <a:ln/>
        </p:spPr>
      </p:sp>
      <p:sp>
        <p:nvSpPr>
          <p:cNvPr id="37" name="Text 35"/>
          <p:cNvSpPr/>
          <p:nvPr/>
        </p:nvSpPr>
        <p:spPr>
          <a:xfrm>
            <a:off x="15799743" y="5479554"/>
            <a:ext cx="1421457"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RF</a:t>
            </a:r>
            <a:endParaRPr lang="en-US" sz="1800" dirty="0"/>
          </a:p>
        </p:txBody>
      </p:sp>
      <p:sp>
        <p:nvSpPr>
          <p:cNvPr id="38" name="Shape 36"/>
          <p:cNvSpPr/>
          <p:nvPr/>
        </p:nvSpPr>
        <p:spPr>
          <a:xfrm>
            <a:off x="952500" y="5898654"/>
            <a:ext cx="4372570" cy="552450"/>
          </a:xfrm>
          <a:prstGeom prst="rect">
            <a:avLst/>
          </a:prstGeom>
          <a:solidFill>
            <a:srgbClr val="E6ECF5"/>
          </a:solidFill>
          <a:ln/>
        </p:spPr>
      </p:sp>
      <p:sp>
        <p:nvSpPr>
          <p:cNvPr id="39" name="Shape 37"/>
          <p:cNvSpPr/>
          <p:nvPr/>
        </p:nvSpPr>
        <p:spPr>
          <a:xfrm>
            <a:off x="952500" y="6441579"/>
            <a:ext cx="4372570" cy="9525"/>
          </a:xfrm>
          <a:prstGeom prst="rect">
            <a:avLst/>
          </a:prstGeom>
          <a:solidFill>
            <a:srgbClr val="D9DADB"/>
          </a:solidFill>
          <a:ln/>
        </p:spPr>
      </p:sp>
      <p:sp>
        <p:nvSpPr>
          <p:cNvPr id="40" name="Text 38"/>
          <p:cNvSpPr/>
          <p:nvPr/>
        </p:nvSpPr>
        <p:spPr>
          <a:xfrm>
            <a:off x="1143000" y="6032004"/>
            <a:ext cx="4122747" cy="314325"/>
          </a:xfrm>
          <a:prstGeom prst="rect">
            <a:avLst/>
          </a:prstGeom>
          <a:noFill/>
          <a:ln/>
        </p:spPr>
        <p:txBody>
          <a:bodyPr wrap="square" lIns="25400" tIns="25400" rIns="25400" bIns="25400" rtlCol="0" anchor="ctr">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Sensitivity (AD recall)</a:t>
            </a:r>
            <a:endParaRPr lang="en-US" sz="1800" dirty="0"/>
          </a:p>
        </p:txBody>
      </p:sp>
      <p:sp>
        <p:nvSpPr>
          <p:cNvPr id="41" name="Shape 39"/>
          <p:cNvSpPr/>
          <p:nvPr/>
        </p:nvSpPr>
        <p:spPr>
          <a:xfrm>
            <a:off x="5325070" y="5898654"/>
            <a:ext cx="4380905" cy="552450"/>
          </a:xfrm>
          <a:prstGeom prst="rect">
            <a:avLst/>
          </a:prstGeom>
          <a:solidFill>
            <a:srgbClr val="E6ECF5"/>
          </a:solidFill>
          <a:ln/>
        </p:spPr>
      </p:sp>
      <p:sp>
        <p:nvSpPr>
          <p:cNvPr id="42" name="Shape 40"/>
          <p:cNvSpPr/>
          <p:nvPr/>
        </p:nvSpPr>
        <p:spPr>
          <a:xfrm>
            <a:off x="5325070" y="6441579"/>
            <a:ext cx="4380905" cy="9525"/>
          </a:xfrm>
          <a:prstGeom prst="rect">
            <a:avLst/>
          </a:prstGeom>
          <a:solidFill>
            <a:srgbClr val="D9DADB"/>
          </a:solidFill>
          <a:ln/>
        </p:spPr>
      </p:sp>
      <p:sp>
        <p:nvSpPr>
          <p:cNvPr id="43" name="Text 41"/>
          <p:cNvSpPr/>
          <p:nvPr/>
        </p:nvSpPr>
        <p:spPr>
          <a:xfrm>
            <a:off x="5515570" y="6032004"/>
            <a:ext cx="4131332"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0.754</a:t>
            </a:r>
            <a:endParaRPr lang="en-US" sz="1800" dirty="0"/>
          </a:p>
        </p:txBody>
      </p:sp>
      <p:sp>
        <p:nvSpPr>
          <p:cNvPr id="44" name="Shape 42"/>
          <p:cNvSpPr/>
          <p:nvPr/>
        </p:nvSpPr>
        <p:spPr>
          <a:xfrm>
            <a:off x="9705975" y="5898654"/>
            <a:ext cx="3155603" cy="552450"/>
          </a:xfrm>
          <a:prstGeom prst="rect">
            <a:avLst/>
          </a:prstGeom>
          <a:solidFill>
            <a:srgbClr val="E6ECF5"/>
          </a:solidFill>
          <a:ln/>
        </p:spPr>
      </p:sp>
      <p:sp>
        <p:nvSpPr>
          <p:cNvPr id="45" name="Shape 43"/>
          <p:cNvSpPr/>
          <p:nvPr/>
        </p:nvSpPr>
        <p:spPr>
          <a:xfrm>
            <a:off x="9705975" y="6441579"/>
            <a:ext cx="3155603" cy="9525"/>
          </a:xfrm>
          <a:prstGeom prst="rect">
            <a:avLst/>
          </a:prstGeom>
          <a:solidFill>
            <a:srgbClr val="D9DADB"/>
          </a:solidFill>
          <a:ln/>
        </p:spPr>
      </p:sp>
      <p:sp>
        <p:nvSpPr>
          <p:cNvPr id="46" name="Text 44"/>
          <p:cNvSpPr/>
          <p:nvPr/>
        </p:nvSpPr>
        <p:spPr>
          <a:xfrm>
            <a:off x="9896475" y="6032004"/>
            <a:ext cx="2869271" cy="314325"/>
          </a:xfrm>
          <a:prstGeom prst="rect">
            <a:avLst/>
          </a:prstGeom>
          <a:noFill/>
          <a:ln/>
        </p:spPr>
        <p:txBody>
          <a:bodyPr wrap="square" lIns="25400" tIns="25400" rIns="25400" bIns="25400" rtlCol="0" anchor="ctr">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0.877</a:t>
            </a:r>
            <a:endParaRPr lang="en-US" sz="1800" dirty="0"/>
          </a:p>
        </p:txBody>
      </p:sp>
      <p:sp>
        <p:nvSpPr>
          <p:cNvPr id="47" name="Shape 45"/>
          <p:cNvSpPr/>
          <p:nvPr/>
        </p:nvSpPr>
        <p:spPr>
          <a:xfrm>
            <a:off x="12861578" y="5898654"/>
            <a:ext cx="2747665" cy="552450"/>
          </a:xfrm>
          <a:prstGeom prst="rect">
            <a:avLst/>
          </a:prstGeom>
          <a:solidFill>
            <a:srgbClr val="E6ECF5"/>
          </a:solidFill>
          <a:ln/>
        </p:spPr>
      </p:sp>
      <p:sp>
        <p:nvSpPr>
          <p:cNvPr id="48" name="Shape 46"/>
          <p:cNvSpPr/>
          <p:nvPr/>
        </p:nvSpPr>
        <p:spPr>
          <a:xfrm>
            <a:off x="12861578" y="6441579"/>
            <a:ext cx="2747665" cy="9525"/>
          </a:xfrm>
          <a:prstGeom prst="rect">
            <a:avLst/>
          </a:prstGeom>
          <a:solidFill>
            <a:srgbClr val="D9DADB"/>
          </a:solidFill>
          <a:ln/>
        </p:spPr>
      </p:sp>
      <p:sp>
        <p:nvSpPr>
          <p:cNvPr id="49" name="Text 47"/>
          <p:cNvSpPr/>
          <p:nvPr/>
        </p:nvSpPr>
        <p:spPr>
          <a:xfrm>
            <a:off x="13052078" y="6032004"/>
            <a:ext cx="2449095"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+0.123</a:t>
            </a:r>
            <a:endParaRPr lang="en-US" sz="1800" dirty="0"/>
          </a:p>
        </p:txBody>
      </p:sp>
      <p:sp>
        <p:nvSpPr>
          <p:cNvPr id="50" name="Shape 48"/>
          <p:cNvSpPr/>
          <p:nvPr/>
        </p:nvSpPr>
        <p:spPr>
          <a:xfrm>
            <a:off x="15609243" y="5898654"/>
            <a:ext cx="1726257" cy="552450"/>
          </a:xfrm>
          <a:prstGeom prst="rect">
            <a:avLst/>
          </a:prstGeom>
          <a:solidFill>
            <a:srgbClr val="E6ECF5"/>
          </a:solidFill>
          <a:ln/>
        </p:spPr>
      </p:sp>
      <p:sp>
        <p:nvSpPr>
          <p:cNvPr id="51" name="Shape 49"/>
          <p:cNvSpPr/>
          <p:nvPr/>
        </p:nvSpPr>
        <p:spPr>
          <a:xfrm>
            <a:off x="15609243" y="6441579"/>
            <a:ext cx="1726257" cy="9525"/>
          </a:xfrm>
          <a:prstGeom prst="rect">
            <a:avLst/>
          </a:prstGeom>
          <a:solidFill>
            <a:srgbClr val="D9DADB"/>
          </a:solidFill>
          <a:ln/>
        </p:spPr>
      </p:sp>
      <p:sp>
        <p:nvSpPr>
          <p:cNvPr id="52" name="Text 50"/>
          <p:cNvSpPr/>
          <p:nvPr/>
        </p:nvSpPr>
        <p:spPr>
          <a:xfrm>
            <a:off x="15799743" y="6032004"/>
            <a:ext cx="1421457" cy="314325"/>
          </a:xfrm>
          <a:prstGeom prst="rect">
            <a:avLst/>
          </a:prstGeom>
          <a:noFill/>
          <a:ln/>
        </p:spPr>
        <p:txBody>
          <a:bodyPr wrap="square" lIns="25400" tIns="25400" rIns="25400" bIns="25400" rtlCol="0" anchor="ctr">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RF</a:t>
            </a:r>
            <a:endParaRPr lang="en-US" sz="1800" dirty="0"/>
          </a:p>
        </p:txBody>
      </p:sp>
      <p:sp>
        <p:nvSpPr>
          <p:cNvPr id="53" name="Shape 51"/>
          <p:cNvSpPr/>
          <p:nvPr/>
        </p:nvSpPr>
        <p:spPr>
          <a:xfrm>
            <a:off x="952500" y="6451104"/>
            <a:ext cx="4372570" cy="552450"/>
          </a:xfrm>
          <a:prstGeom prst="rect">
            <a:avLst/>
          </a:prstGeom>
          <a:solidFill>
            <a:srgbClr val="E6ECF5"/>
          </a:solidFill>
          <a:ln/>
        </p:spPr>
      </p:sp>
      <p:sp>
        <p:nvSpPr>
          <p:cNvPr id="54" name="Shape 52"/>
          <p:cNvSpPr/>
          <p:nvPr/>
        </p:nvSpPr>
        <p:spPr>
          <a:xfrm>
            <a:off x="952500" y="6994029"/>
            <a:ext cx="4372570" cy="9525"/>
          </a:xfrm>
          <a:prstGeom prst="rect">
            <a:avLst/>
          </a:prstGeom>
          <a:solidFill>
            <a:srgbClr val="D9DADB"/>
          </a:solidFill>
          <a:ln/>
        </p:spPr>
      </p:sp>
      <p:sp>
        <p:nvSpPr>
          <p:cNvPr id="55" name="Text 53"/>
          <p:cNvSpPr/>
          <p:nvPr/>
        </p:nvSpPr>
        <p:spPr>
          <a:xfrm>
            <a:off x="1143000" y="6584454"/>
            <a:ext cx="4122747" cy="314325"/>
          </a:xfrm>
          <a:prstGeom prst="rect">
            <a:avLst/>
          </a:prstGeom>
          <a:noFill/>
          <a:ln/>
        </p:spPr>
        <p:txBody>
          <a:bodyPr wrap="square" lIns="25400" tIns="25400" rIns="25400" bIns="25400" rtlCol="0" anchor="ctr">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Specificity (HC recall)</a:t>
            </a:r>
            <a:endParaRPr lang="en-US" sz="1800" dirty="0"/>
          </a:p>
        </p:txBody>
      </p:sp>
      <p:sp>
        <p:nvSpPr>
          <p:cNvPr id="56" name="Shape 54"/>
          <p:cNvSpPr/>
          <p:nvPr/>
        </p:nvSpPr>
        <p:spPr>
          <a:xfrm>
            <a:off x="5325070" y="6451104"/>
            <a:ext cx="4380905" cy="552450"/>
          </a:xfrm>
          <a:prstGeom prst="rect">
            <a:avLst/>
          </a:prstGeom>
          <a:solidFill>
            <a:srgbClr val="E6ECF5"/>
          </a:solidFill>
          <a:ln/>
        </p:spPr>
      </p:sp>
      <p:sp>
        <p:nvSpPr>
          <p:cNvPr id="57" name="Shape 55"/>
          <p:cNvSpPr/>
          <p:nvPr/>
        </p:nvSpPr>
        <p:spPr>
          <a:xfrm>
            <a:off x="5325070" y="6994029"/>
            <a:ext cx="4380905" cy="9525"/>
          </a:xfrm>
          <a:prstGeom prst="rect">
            <a:avLst/>
          </a:prstGeom>
          <a:solidFill>
            <a:srgbClr val="D9DADB"/>
          </a:solidFill>
          <a:ln/>
        </p:spPr>
      </p:sp>
      <p:sp>
        <p:nvSpPr>
          <p:cNvPr id="58" name="Text 56"/>
          <p:cNvSpPr/>
          <p:nvPr/>
        </p:nvSpPr>
        <p:spPr>
          <a:xfrm>
            <a:off x="5515570" y="6584454"/>
            <a:ext cx="4131332" cy="314325"/>
          </a:xfrm>
          <a:prstGeom prst="rect">
            <a:avLst/>
          </a:prstGeom>
          <a:noFill/>
          <a:ln/>
        </p:spPr>
        <p:txBody>
          <a:bodyPr wrap="square" lIns="25400" tIns="25400" rIns="25400" bIns="25400" rtlCol="0" anchor="ctr">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0.949</a:t>
            </a:r>
            <a:endParaRPr lang="en-US" sz="1800" dirty="0"/>
          </a:p>
        </p:txBody>
      </p:sp>
      <p:sp>
        <p:nvSpPr>
          <p:cNvPr id="59" name="Shape 57"/>
          <p:cNvSpPr/>
          <p:nvPr/>
        </p:nvSpPr>
        <p:spPr>
          <a:xfrm>
            <a:off x="9705975" y="6451104"/>
            <a:ext cx="3155603" cy="552450"/>
          </a:xfrm>
          <a:prstGeom prst="rect">
            <a:avLst/>
          </a:prstGeom>
          <a:solidFill>
            <a:srgbClr val="E6ECF5"/>
          </a:solidFill>
          <a:ln/>
        </p:spPr>
      </p:sp>
      <p:sp>
        <p:nvSpPr>
          <p:cNvPr id="60" name="Shape 58"/>
          <p:cNvSpPr/>
          <p:nvPr/>
        </p:nvSpPr>
        <p:spPr>
          <a:xfrm>
            <a:off x="9705975" y="6994029"/>
            <a:ext cx="3155603" cy="9525"/>
          </a:xfrm>
          <a:prstGeom prst="rect">
            <a:avLst/>
          </a:prstGeom>
          <a:solidFill>
            <a:srgbClr val="D9DADB"/>
          </a:solidFill>
          <a:ln/>
        </p:spPr>
      </p:sp>
      <p:sp>
        <p:nvSpPr>
          <p:cNvPr id="61" name="Text 59"/>
          <p:cNvSpPr/>
          <p:nvPr/>
        </p:nvSpPr>
        <p:spPr>
          <a:xfrm>
            <a:off x="9896475" y="6584454"/>
            <a:ext cx="2869271"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0.782</a:t>
            </a:r>
            <a:endParaRPr lang="en-US" sz="1800" dirty="0"/>
          </a:p>
        </p:txBody>
      </p:sp>
      <p:sp>
        <p:nvSpPr>
          <p:cNvPr id="62" name="Shape 60"/>
          <p:cNvSpPr/>
          <p:nvPr/>
        </p:nvSpPr>
        <p:spPr>
          <a:xfrm>
            <a:off x="12861578" y="6451104"/>
            <a:ext cx="2747665" cy="552450"/>
          </a:xfrm>
          <a:prstGeom prst="rect">
            <a:avLst/>
          </a:prstGeom>
          <a:solidFill>
            <a:srgbClr val="E6ECF5"/>
          </a:solidFill>
          <a:ln/>
        </p:spPr>
      </p:sp>
      <p:sp>
        <p:nvSpPr>
          <p:cNvPr id="63" name="Shape 61"/>
          <p:cNvSpPr/>
          <p:nvPr/>
        </p:nvSpPr>
        <p:spPr>
          <a:xfrm>
            <a:off x="12861578" y="6994029"/>
            <a:ext cx="2747665" cy="9525"/>
          </a:xfrm>
          <a:prstGeom prst="rect">
            <a:avLst/>
          </a:prstGeom>
          <a:solidFill>
            <a:srgbClr val="D9DADB"/>
          </a:solidFill>
          <a:ln/>
        </p:spPr>
      </p:sp>
      <p:sp>
        <p:nvSpPr>
          <p:cNvPr id="64" name="Text 62"/>
          <p:cNvSpPr/>
          <p:nvPr/>
        </p:nvSpPr>
        <p:spPr>
          <a:xfrm>
            <a:off x="13052078" y="6584454"/>
            <a:ext cx="2449095"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−0.167</a:t>
            </a:r>
            <a:endParaRPr lang="en-US" sz="1800" dirty="0"/>
          </a:p>
        </p:txBody>
      </p:sp>
      <p:sp>
        <p:nvSpPr>
          <p:cNvPr id="65" name="Shape 63"/>
          <p:cNvSpPr/>
          <p:nvPr/>
        </p:nvSpPr>
        <p:spPr>
          <a:xfrm>
            <a:off x="15609243" y="6451104"/>
            <a:ext cx="1726257" cy="552450"/>
          </a:xfrm>
          <a:prstGeom prst="rect">
            <a:avLst/>
          </a:prstGeom>
          <a:solidFill>
            <a:srgbClr val="E6ECF5"/>
          </a:solidFill>
          <a:ln/>
        </p:spPr>
      </p:sp>
      <p:sp>
        <p:nvSpPr>
          <p:cNvPr id="66" name="Shape 64"/>
          <p:cNvSpPr/>
          <p:nvPr/>
        </p:nvSpPr>
        <p:spPr>
          <a:xfrm>
            <a:off x="15609243" y="6994029"/>
            <a:ext cx="1726257" cy="9525"/>
          </a:xfrm>
          <a:prstGeom prst="rect">
            <a:avLst/>
          </a:prstGeom>
          <a:solidFill>
            <a:srgbClr val="D9DADB"/>
          </a:solidFill>
          <a:ln/>
        </p:spPr>
      </p:sp>
      <p:sp>
        <p:nvSpPr>
          <p:cNvPr id="67" name="Text 65"/>
          <p:cNvSpPr/>
          <p:nvPr/>
        </p:nvSpPr>
        <p:spPr>
          <a:xfrm>
            <a:off x="15799743" y="6584454"/>
            <a:ext cx="1421457" cy="314325"/>
          </a:xfrm>
          <a:prstGeom prst="rect">
            <a:avLst/>
          </a:prstGeom>
          <a:noFill/>
          <a:ln/>
        </p:spPr>
        <p:txBody>
          <a:bodyPr wrap="square" lIns="25400" tIns="25400" rIns="25400" bIns="25400" rtlCol="0" anchor="ctr">
            <a:normAutofit/>
          </a:bodyPr>
          <a:lstStyle/>
          <a:p>
            <a:pPr algn="l" indent="0" marL="0">
              <a:buNone/>
            </a:pPr>
            <a:r>
              <a:rPr lang="en-US" sz="1800" b="1" dirty="0">
                <a:solidFill>
                  <a:srgbClr val="14181D"/>
                </a:solidFill>
                <a:latin typeface="Arial" pitchFamily="34" charset="0"/>
                <a:ea typeface="Arial" pitchFamily="34" charset="-122"/>
                <a:cs typeface="Arial" pitchFamily="34" charset="-120"/>
              </a:rPr>
              <a:t>LR</a:t>
            </a:r>
            <a:endParaRPr lang="en-US" sz="1800" dirty="0"/>
          </a:p>
        </p:txBody>
      </p:sp>
      <p:sp>
        <p:nvSpPr>
          <p:cNvPr id="68" name="Shape 66"/>
          <p:cNvSpPr/>
          <p:nvPr/>
        </p:nvSpPr>
        <p:spPr>
          <a:xfrm>
            <a:off x="952500" y="7546479"/>
            <a:ext cx="4372570" cy="9525"/>
          </a:xfrm>
          <a:prstGeom prst="rect">
            <a:avLst/>
          </a:prstGeom>
          <a:solidFill>
            <a:srgbClr val="D9DADB"/>
          </a:solidFill>
          <a:ln/>
        </p:spPr>
      </p:sp>
      <p:sp>
        <p:nvSpPr>
          <p:cNvPr id="69" name="Text 67"/>
          <p:cNvSpPr/>
          <p:nvPr/>
        </p:nvSpPr>
        <p:spPr>
          <a:xfrm>
            <a:off x="1143000" y="7136904"/>
            <a:ext cx="4122747"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False negatives (missed AD)</a:t>
            </a:r>
            <a:endParaRPr lang="en-US" sz="1800" dirty="0"/>
          </a:p>
        </p:txBody>
      </p:sp>
      <p:sp>
        <p:nvSpPr>
          <p:cNvPr id="70" name="Shape 68"/>
          <p:cNvSpPr/>
          <p:nvPr/>
        </p:nvSpPr>
        <p:spPr>
          <a:xfrm>
            <a:off x="5325070" y="7546479"/>
            <a:ext cx="4380905" cy="9525"/>
          </a:xfrm>
          <a:prstGeom prst="rect">
            <a:avLst/>
          </a:prstGeom>
          <a:solidFill>
            <a:srgbClr val="D9DADB"/>
          </a:solidFill>
          <a:ln/>
        </p:spPr>
      </p:sp>
      <p:sp>
        <p:nvSpPr>
          <p:cNvPr id="71" name="Text 69"/>
          <p:cNvSpPr/>
          <p:nvPr/>
        </p:nvSpPr>
        <p:spPr>
          <a:xfrm>
            <a:off x="5515570" y="7136904"/>
            <a:ext cx="4131332"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30</a:t>
            </a:r>
            <a:endParaRPr lang="en-US" sz="1800" dirty="0"/>
          </a:p>
        </p:txBody>
      </p:sp>
      <p:sp>
        <p:nvSpPr>
          <p:cNvPr id="72" name="Shape 70"/>
          <p:cNvSpPr/>
          <p:nvPr/>
        </p:nvSpPr>
        <p:spPr>
          <a:xfrm>
            <a:off x="9705975" y="7546479"/>
            <a:ext cx="3155603" cy="9525"/>
          </a:xfrm>
          <a:prstGeom prst="rect">
            <a:avLst/>
          </a:prstGeom>
          <a:solidFill>
            <a:srgbClr val="D9DADB"/>
          </a:solidFill>
          <a:ln/>
        </p:spPr>
      </p:sp>
      <p:sp>
        <p:nvSpPr>
          <p:cNvPr id="73" name="Text 71"/>
          <p:cNvSpPr/>
          <p:nvPr/>
        </p:nvSpPr>
        <p:spPr>
          <a:xfrm>
            <a:off x="9896475" y="7136904"/>
            <a:ext cx="2869271"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15</a:t>
            </a:r>
            <a:endParaRPr lang="en-US" sz="1800" dirty="0"/>
          </a:p>
        </p:txBody>
      </p:sp>
      <p:sp>
        <p:nvSpPr>
          <p:cNvPr id="74" name="Shape 72"/>
          <p:cNvSpPr/>
          <p:nvPr/>
        </p:nvSpPr>
        <p:spPr>
          <a:xfrm>
            <a:off x="12861578" y="7546479"/>
            <a:ext cx="2747665" cy="9525"/>
          </a:xfrm>
          <a:prstGeom prst="rect">
            <a:avLst/>
          </a:prstGeom>
          <a:solidFill>
            <a:srgbClr val="D9DADB"/>
          </a:solidFill>
          <a:ln/>
        </p:spPr>
      </p:sp>
      <p:sp>
        <p:nvSpPr>
          <p:cNvPr id="75" name="Text 73"/>
          <p:cNvSpPr/>
          <p:nvPr/>
        </p:nvSpPr>
        <p:spPr>
          <a:xfrm>
            <a:off x="13052078" y="7136904"/>
            <a:ext cx="2449095"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−15</a:t>
            </a:r>
            <a:endParaRPr lang="en-US" sz="1800" dirty="0"/>
          </a:p>
        </p:txBody>
      </p:sp>
      <p:sp>
        <p:nvSpPr>
          <p:cNvPr id="76" name="Shape 74"/>
          <p:cNvSpPr/>
          <p:nvPr/>
        </p:nvSpPr>
        <p:spPr>
          <a:xfrm>
            <a:off x="15609243" y="7546479"/>
            <a:ext cx="1726257" cy="9525"/>
          </a:xfrm>
          <a:prstGeom prst="rect">
            <a:avLst/>
          </a:prstGeom>
          <a:solidFill>
            <a:srgbClr val="D9DADB"/>
          </a:solidFill>
          <a:ln/>
        </p:spPr>
      </p:sp>
      <p:sp>
        <p:nvSpPr>
          <p:cNvPr id="77" name="Text 75"/>
          <p:cNvSpPr/>
          <p:nvPr/>
        </p:nvSpPr>
        <p:spPr>
          <a:xfrm>
            <a:off x="15799743" y="7136904"/>
            <a:ext cx="1421457"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RF</a:t>
            </a:r>
            <a:endParaRPr lang="en-US" sz="1800" dirty="0"/>
          </a:p>
        </p:txBody>
      </p:sp>
      <p:sp>
        <p:nvSpPr>
          <p:cNvPr id="78" name="Shape 76"/>
          <p:cNvSpPr/>
          <p:nvPr/>
        </p:nvSpPr>
        <p:spPr>
          <a:xfrm>
            <a:off x="952500" y="8098929"/>
            <a:ext cx="4372570" cy="9525"/>
          </a:xfrm>
          <a:prstGeom prst="rect">
            <a:avLst/>
          </a:prstGeom>
          <a:solidFill>
            <a:srgbClr val="D9DADB"/>
          </a:solidFill>
          <a:ln/>
        </p:spPr>
      </p:sp>
      <p:sp>
        <p:nvSpPr>
          <p:cNvPr id="79" name="Text 77"/>
          <p:cNvSpPr/>
          <p:nvPr/>
        </p:nvSpPr>
        <p:spPr>
          <a:xfrm>
            <a:off x="1143000" y="7689354"/>
            <a:ext cx="4122747"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False positives (alarmed HC)</a:t>
            </a:r>
            <a:endParaRPr lang="en-US" sz="1800" dirty="0"/>
          </a:p>
        </p:txBody>
      </p:sp>
      <p:sp>
        <p:nvSpPr>
          <p:cNvPr id="80" name="Shape 78"/>
          <p:cNvSpPr/>
          <p:nvPr/>
        </p:nvSpPr>
        <p:spPr>
          <a:xfrm>
            <a:off x="5325070" y="8098929"/>
            <a:ext cx="4380905" cy="9525"/>
          </a:xfrm>
          <a:prstGeom prst="rect">
            <a:avLst/>
          </a:prstGeom>
          <a:solidFill>
            <a:srgbClr val="D9DADB"/>
          </a:solidFill>
          <a:ln/>
        </p:spPr>
      </p:sp>
      <p:sp>
        <p:nvSpPr>
          <p:cNvPr id="81" name="Text 79"/>
          <p:cNvSpPr/>
          <p:nvPr/>
        </p:nvSpPr>
        <p:spPr>
          <a:xfrm>
            <a:off x="5515570" y="7689354"/>
            <a:ext cx="4131332"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4</a:t>
            </a:r>
            <a:endParaRPr lang="en-US" sz="1800" dirty="0"/>
          </a:p>
        </p:txBody>
      </p:sp>
      <p:sp>
        <p:nvSpPr>
          <p:cNvPr id="82" name="Shape 80"/>
          <p:cNvSpPr/>
          <p:nvPr/>
        </p:nvSpPr>
        <p:spPr>
          <a:xfrm>
            <a:off x="9705975" y="8098929"/>
            <a:ext cx="3155603" cy="9525"/>
          </a:xfrm>
          <a:prstGeom prst="rect">
            <a:avLst/>
          </a:prstGeom>
          <a:solidFill>
            <a:srgbClr val="D9DADB"/>
          </a:solidFill>
          <a:ln/>
        </p:spPr>
      </p:sp>
      <p:sp>
        <p:nvSpPr>
          <p:cNvPr id="83" name="Text 81"/>
          <p:cNvSpPr/>
          <p:nvPr/>
        </p:nvSpPr>
        <p:spPr>
          <a:xfrm>
            <a:off x="9896475" y="7689354"/>
            <a:ext cx="2869271"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17</a:t>
            </a:r>
            <a:endParaRPr lang="en-US" sz="1800" dirty="0"/>
          </a:p>
        </p:txBody>
      </p:sp>
      <p:sp>
        <p:nvSpPr>
          <p:cNvPr id="84" name="Shape 82"/>
          <p:cNvSpPr/>
          <p:nvPr/>
        </p:nvSpPr>
        <p:spPr>
          <a:xfrm>
            <a:off x="12861578" y="8098929"/>
            <a:ext cx="2747665" cy="9525"/>
          </a:xfrm>
          <a:prstGeom prst="rect">
            <a:avLst/>
          </a:prstGeom>
          <a:solidFill>
            <a:srgbClr val="D9DADB"/>
          </a:solidFill>
          <a:ln/>
        </p:spPr>
      </p:sp>
      <p:sp>
        <p:nvSpPr>
          <p:cNvPr id="85" name="Text 83"/>
          <p:cNvSpPr/>
          <p:nvPr/>
        </p:nvSpPr>
        <p:spPr>
          <a:xfrm>
            <a:off x="13052078" y="7689354"/>
            <a:ext cx="2449095"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+13</a:t>
            </a:r>
            <a:endParaRPr lang="en-US" sz="1800" dirty="0"/>
          </a:p>
        </p:txBody>
      </p:sp>
      <p:sp>
        <p:nvSpPr>
          <p:cNvPr id="86" name="Shape 84"/>
          <p:cNvSpPr/>
          <p:nvPr/>
        </p:nvSpPr>
        <p:spPr>
          <a:xfrm>
            <a:off x="15609243" y="8098929"/>
            <a:ext cx="1726257" cy="9525"/>
          </a:xfrm>
          <a:prstGeom prst="rect">
            <a:avLst/>
          </a:prstGeom>
          <a:solidFill>
            <a:srgbClr val="D9DADB"/>
          </a:solidFill>
          <a:ln/>
        </p:spPr>
      </p:sp>
      <p:sp>
        <p:nvSpPr>
          <p:cNvPr id="87" name="Text 85"/>
          <p:cNvSpPr/>
          <p:nvPr/>
        </p:nvSpPr>
        <p:spPr>
          <a:xfrm>
            <a:off x="15799743" y="7689354"/>
            <a:ext cx="1421457" cy="314325"/>
          </a:xfrm>
          <a:prstGeom prst="rect">
            <a:avLst/>
          </a:prstGeom>
          <a:noFill/>
          <a:ln/>
        </p:spPr>
        <p:txBody>
          <a:bodyPr wrap="square" lIns="25400" tIns="25400" rIns="25400" bIns="25400" rtlCol="0" anchor="ctr">
            <a:normAutofit/>
          </a:bodyPr>
          <a:lstStyle/>
          <a:p>
            <a:pPr algn="l" indent="0" marL="0">
              <a:buNone/>
            </a:pPr>
            <a:r>
              <a:rPr lang="en-US" sz="1800" dirty="0">
                <a:solidFill>
                  <a:srgbClr val="14181D"/>
                </a:solidFill>
                <a:latin typeface="Arial" pitchFamily="34" charset="0"/>
                <a:ea typeface="Arial" pitchFamily="34" charset="-122"/>
                <a:cs typeface="Arial" pitchFamily="34" charset="-120"/>
              </a:rPr>
              <a:t>LR</a:t>
            </a:r>
            <a:endParaRPr lang="en-US" sz="1800" dirty="0"/>
          </a:p>
        </p:txBody>
      </p:sp>
      <p:sp>
        <p:nvSpPr>
          <p:cNvPr id="88" name="Text 86"/>
          <p:cNvSpPr/>
          <p:nvPr/>
        </p:nvSpPr>
        <p:spPr>
          <a:xfrm>
            <a:off x="952500" y="8303716"/>
            <a:ext cx="14716125"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b="1" dirty="0">
                <a:solidFill>
                  <a:srgbClr val="2B3138"/>
                </a:solidFill>
                <a:latin typeface="Arial" pitchFamily="34" charset="0"/>
                <a:ea typeface="Arial" pitchFamily="34" charset="-122"/>
                <a:cs typeface="Arial" pitchFamily="34" charset="-120"/>
              </a:rPr>
              <a:t>The interesting result is not which model wins overall </a:t>
            </a:r>
            <a:pPr algn="l" indent="0" marL="0">
              <a:lnSpc>
                <a:spcPct val="145000"/>
              </a:lnSpc>
              <a:buNone/>
            </a:pPr>
            <a:r>
              <a:rPr lang="en-US" sz="1800" dirty="0">
                <a:solidFill>
                  <a:srgbClr val="2B3138"/>
                </a:solidFill>
                <a:latin typeface="Arial" pitchFamily="34" charset="0"/>
                <a:ea typeface="Arial" pitchFamily="34" charset="-122"/>
                <a:cs typeface="Arial" pitchFamily="34" charset="-120"/>
              </a:rPr>
              <a:t>— it's that LR and RF land at very different operating points. LR rarely flags healthy subjects; RF catches more disease cases.</a:t>
            </a:r>
            <a:endParaRPr lang="en-US" sz="1800" dirty="0"/>
          </a:p>
        </p:txBody>
      </p:sp>
      <p:sp>
        <p:nvSpPr>
          <p:cNvPr id="89" name="Shape 87"/>
          <p:cNvSpPr/>
          <p:nvPr/>
        </p:nvSpPr>
        <p:spPr>
          <a:xfrm>
            <a:off x="952500" y="9195197"/>
            <a:ext cx="16383000" cy="9525"/>
          </a:xfrm>
          <a:prstGeom prst="rect">
            <a:avLst/>
          </a:prstGeom>
          <a:solidFill>
            <a:srgbClr val="D9DADB"/>
          </a:solidFill>
          <a:ln/>
        </p:spPr>
      </p:sp>
      <p:sp>
        <p:nvSpPr>
          <p:cNvPr id="90" name="Text 88"/>
          <p:cNvSpPr/>
          <p:nvPr/>
        </p:nvSpPr>
        <p:spPr>
          <a:xfrm>
            <a:off x="952500" y="9471422"/>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91" name="Text 89"/>
          <p:cNvSpPr/>
          <p:nvPr/>
        </p:nvSpPr>
        <p:spPr>
          <a:xfrm>
            <a:off x="17081153" y="9490472"/>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15</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16</a:t>
            </a:r>
            <a:endParaRPr lang="en-US" sz="1800" dirty="0"/>
          </a:p>
        </p:txBody>
      </p:sp>
      <p:sp>
        <p:nvSpPr>
          <p:cNvPr id="4" name="Text 2"/>
          <p:cNvSpPr/>
          <p:nvPr/>
        </p:nvSpPr>
        <p:spPr>
          <a:xfrm>
            <a:off x="1511945" y="981075"/>
            <a:ext cx="2846957"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CONFUSION MATRICES</a:t>
            </a:r>
            <a:endParaRPr lang="en-US" sz="1800" dirty="0"/>
          </a:p>
        </p:txBody>
      </p:sp>
      <p:sp>
        <p:nvSpPr>
          <p:cNvPr id="5" name="Text 3"/>
          <p:cNvSpPr/>
          <p:nvPr/>
        </p:nvSpPr>
        <p:spPr>
          <a:xfrm>
            <a:off x="13238857" y="952500"/>
            <a:ext cx="4219542"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COUNTS · POOLED ACROSS FOLDS</a:t>
            </a:r>
            <a:endParaRPr lang="en-US" sz="1800" dirty="0"/>
          </a:p>
        </p:txBody>
      </p:sp>
      <p:sp>
        <p:nvSpPr>
          <p:cNvPr id="6" name="Text 4"/>
          <p:cNvSpPr/>
          <p:nvPr/>
        </p:nvSpPr>
        <p:spPr>
          <a:xfrm>
            <a:off x="952500" y="1952625"/>
            <a:ext cx="16874490" cy="342900"/>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4B8E"/>
                </a:solidFill>
                <a:latin typeface="Arial" pitchFamily="34" charset="0"/>
                <a:ea typeface="Arial" pitchFamily="34" charset="-122"/>
                <a:cs typeface="Arial" pitchFamily="34" charset="-120"/>
              </a:rPr>
              <a:t>WHERE EACH MODEL MAKES ITS MISTAKES</a:t>
            </a:r>
            <a:endParaRPr lang="en-US" sz="1800" dirty="0"/>
          </a:p>
        </p:txBody>
      </p:sp>
      <p:sp>
        <p:nvSpPr>
          <p:cNvPr id="7" name="Text 5"/>
          <p:cNvSpPr/>
          <p:nvPr/>
        </p:nvSpPr>
        <p:spPr>
          <a:xfrm>
            <a:off x="952500" y="2790825"/>
            <a:ext cx="16874490"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90" kern="0" dirty="0">
                <a:solidFill>
                  <a:srgbClr val="14181D"/>
                </a:solidFill>
                <a:latin typeface="Arial" pitchFamily="34" charset="0"/>
                <a:ea typeface="Arial" pitchFamily="34" charset="-122"/>
                <a:cs typeface="Arial" pitchFamily="34" charset="-120"/>
              </a:rPr>
              <a:t>Logistic Regression misses cases; Random Forest over-flags healthy.</a:t>
            </a:r>
            <a:endParaRPr lang="en-US" sz="4500" dirty="0"/>
          </a:p>
        </p:txBody>
      </p:sp>
      <p:sp>
        <p:nvSpPr>
          <p:cNvPr id="8" name="Text 6"/>
          <p:cNvSpPr/>
          <p:nvPr/>
        </p:nvSpPr>
        <p:spPr>
          <a:xfrm>
            <a:off x="952500" y="4436566"/>
            <a:ext cx="2420094"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4181D"/>
                </a:solidFill>
                <a:latin typeface="Arial" pitchFamily="34" charset="0"/>
                <a:ea typeface="Arial" pitchFamily="34" charset="-122"/>
                <a:cs typeface="Arial" pitchFamily="34" charset="-120"/>
              </a:rPr>
              <a:t>Logistic Regression</a:t>
            </a:r>
            <a:endParaRPr lang="en-US" sz="1950" dirty="0"/>
          </a:p>
        </p:txBody>
      </p:sp>
      <p:sp>
        <p:nvSpPr>
          <p:cNvPr id="9" name="Text 7"/>
          <p:cNvSpPr/>
          <p:nvPr/>
        </p:nvSpPr>
        <p:spPr>
          <a:xfrm>
            <a:off x="4916388" y="4436566"/>
            <a:ext cx="404049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6A7280"/>
                </a:solidFill>
                <a:latin typeface="Arial" pitchFamily="34" charset="0"/>
                <a:ea typeface="Arial" pitchFamily="34" charset="-122"/>
                <a:cs typeface="Arial" pitchFamily="34" charset="-120"/>
              </a:rPr>
              <a:t>misses 30 AD · alarms 4 HC</a:t>
            </a:r>
            <a:endParaRPr lang="en-US" sz="1800" dirty="0"/>
          </a:p>
        </p:txBody>
      </p:sp>
      <p:sp>
        <p:nvSpPr>
          <p:cNvPr id="10" name="Text 8"/>
          <p:cNvSpPr/>
          <p:nvPr/>
        </p:nvSpPr>
        <p:spPr>
          <a:xfrm>
            <a:off x="1719072" y="4855666"/>
            <a:ext cx="3610356" cy="609600"/>
          </a:xfrm>
          <a:prstGeom prst="rect">
            <a:avLst/>
          </a:prstGeom>
          <a:noFill/>
          <a:ln/>
        </p:spPr>
        <p:txBody>
          <a:bodyPr wrap="square" lIns="25400" tIns="25400" rIns="25400" bIns="25400" rtlCol="0" anchor="ctr">
            <a:normAutofit/>
          </a:bodyPr>
          <a:lstStyle/>
          <a:p>
            <a:pPr algn="ctr" indent="0" marL="0">
              <a:buNone/>
            </a:pPr>
            <a:r>
              <a:rPr lang="en-US" sz="1800" spc="144" kern="0" dirty="0">
                <a:solidFill>
                  <a:srgbClr val="6A7280"/>
                </a:solidFill>
                <a:latin typeface="Arial" pitchFamily="34" charset="0"/>
                <a:ea typeface="Arial" pitchFamily="34" charset="-122"/>
                <a:cs typeface="Arial" pitchFamily="34" charset="-120"/>
              </a:rPr>
              <a:t>PREDICTED HC</a:t>
            </a:r>
            <a:endParaRPr lang="en-US" sz="1800" dirty="0"/>
          </a:p>
        </p:txBody>
      </p:sp>
      <p:sp>
        <p:nvSpPr>
          <p:cNvPr id="11" name="Text 9"/>
          <p:cNvSpPr/>
          <p:nvPr/>
        </p:nvSpPr>
        <p:spPr>
          <a:xfrm>
            <a:off x="5281422" y="4855666"/>
            <a:ext cx="3610356" cy="609600"/>
          </a:xfrm>
          <a:prstGeom prst="rect">
            <a:avLst/>
          </a:prstGeom>
          <a:noFill/>
          <a:ln/>
        </p:spPr>
        <p:txBody>
          <a:bodyPr wrap="square" lIns="25400" tIns="25400" rIns="25400" bIns="25400" rtlCol="0" anchor="ctr">
            <a:normAutofit/>
          </a:bodyPr>
          <a:lstStyle/>
          <a:p>
            <a:pPr algn="ctr" indent="0" marL="0">
              <a:buNone/>
            </a:pPr>
            <a:r>
              <a:rPr lang="en-US" sz="1800" spc="144" kern="0" dirty="0">
                <a:solidFill>
                  <a:srgbClr val="6A7280"/>
                </a:solidFill>
                <a:latin typeface="Arial" pitchFamily="34" charset="0"/>
                <a:ea typeface="Arial" pitchFamily="34" charset="-122"/>
                <a:cs typeface="Arial" pitchFamily="34" charset="-120"/>
              </a:rPr>
              <a:t>PREDICTED AD</a:t>
            </a:r>
            <a:endParaRPr lang="en-US" sz="1800" dirty="0"/>
          </a:p>
        </p:txBody>
      </p:sp>
      <p:sp>
        <p:nvSpPr>
          <p:cNvPr id="12" name="Text 10"/>
          <p:cNvSpPr/>
          <p:nvPr/>
        </p:nvSpPr>
        <p:spPr>
          <a:xfrm rot="10800000">
            <a:off x="914400" y="5484316"/>
            <a:ext cx="838200" cy="1504950"/>
          </a:xfrm>
          <a:prstGeom prst="rect">
            <a:avLst/>
          </a:prstGeom>
          <a:noFill/>
          <a:ln/>
        </p:spPr>
        <p:txBody>
          <a:bodyPr wrap="square" lIns="25400" tIns="25400" rIns="25400" bIns="25400" rtlCol="0" anchor="ctr">
            <a:normAutofit/>
          </a:bodyPr>
          <a:lstStyle/>
          <a:p>
            <a:pPr algn="ctr" indent="0" marL="0">
              <a:buNone/>
            </a:pPr>
            <a:r>
              <a:rPr lang="en-US" sz="1800" spc="144" kern="0" dirty="0">
                <a:solidFill>
                  <a:srgbClr val="6A7280"/>
                </a:solidFill>
                <a:latin typeface="Arial" pitchFamily="34" charset="0"/>
                <a:ea typeface="Arial" pitchFamily="34" charset="-122"/>
                <a:cs typeface="Arial" pitchFamily="34" charset="-120"/>
              </a:rPr>
              <a:t>ACTUAL HC</a:t>
            </a:r>
            <a:endParaRPr lang="en-US" sz="1800" dirty="0"/>
          </a:p>
        </p:txBody>
      </p:sp>
      <p:sp>
        <p:nvSpPr>
          <p:cNvPr id="13" name="Shape 11"/>
          <p:cNvSpPr/>
          <p:nvPr/>
        </p:nvSpPr>
        <p:spPr>
          <a:xfrm>
            <a:off x="1771650" y="5484316"/>
            <a:ext cx="3505200" cy="1466850"/>
          </a:xfrm>
          <a:prstGeom prst="roundRect">
            <a:avLst>
              <a:gd name="adj" fmla="val 2597"/>
            </a:avLst>
          </a:prstGeom>
          <a:solidFill>
            <a:srgbClr val="EAF0F8"/>
          </a:solidFill>
          <a:ln w="9525">
            <a:solidFill>
              <a:srgbClr val="C6D3E8"/>
            </a:solidFill>
            <a:prstDash val="solid"/>
          </a:ln>
        </p:spPr>
      </p:sp>
      <p:sp>
        <p:nvSpPr>
          <p:cNvPr id="14" name="Text 12"/>
          <p:cNvSpPr/>
          <p:nvPr/>
        </p:nvSpPr>
        <p:spPr>
          <a:xfrm>
            <a:off x="3129707" y="5751016"/>
            <a:ext cx="865138"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1F4B8E"/>
                </a:solidFill>
                <a:latin typeface="Arial" pitchFamily="34" charset="0"/>
                <a:ea typeface="Arial" pitchFamily="34" charset="-122"/>
                <a:cs typeface="Arial" pitchFamily="34" charset="-120"/>
              </a:rPr>
              <a:t>92</a:t>
            </a:r>
            <a:endParaRPr lang="en-US" sz="4800" dirty="0"/>
          </a:p>
        </p:txBody>
      </p:sp>
      <p:sp>
        <p:nvSpPr>
          <p:cNvPr id="15" name="Text 13"/>
          <p:cNvSpPr/>
          <p:nvPr/>
        </p:nvSpPr>
        <p:spPr>
          <a:xfrm>
            <a:off x="2407593" y="6417766"/>
            <a:ext cx="2309515"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TRUE NEGATIVES</a:t>
            </a:r>
            <a:endParaRPr lang="en-US" sz="1800" dirty="0"/>
          </a:p>
        </p:txBody>
      </p:sp>
      <p:sp>
        <p:nvSpPr>
          <p:cNvPr id="16" name="Shape 14"/>
          <p:cNvSpPr/>
          <p:nvPr/>
        </p:nvSpPr>
        <p:spPr>
          <a:xfrm>
            <a:off x="5334000" y="5484316"/>
            <a:ext cx="3505200" cy="1466850"/>
          </a:xfrm>
          <a:prstGeom prst="roundRect">
            <a:avLst>
              <a:gd name="adj" fmla="val 2597"/>
            </a:avLst>
          </a:prstGeom>
          <a:solidFill>
            <a:srgbClr val="F7E9E3"/>
          </a:solidFill>
          <a:ln w="9525">
            <a:solidFill>
              <a:srgbClr val="E8C8B9"/>
            </a:solidFill>
            <a:prstDash val="solid"/>
          </a:ln>
        </p:spPr>
      </p:sp>
      <p:sp>
        <p:nvSpPr>
          <p:cNvPr id="17" name="Text 15"/>
          <p:cNvSpPr/>
          <p:nvPr/>
        </p:nvSpPr>
        <p:spPr>
          <a:xfrm>
            <a:off x="6889254" y="5751016"/>
            <a:ext cx="470743"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B0421F"/>
                </a:solidFill>
                <a:latin typeface="Arial" pitchFamily="34" charset="0"/>
                <a:ea typeface="Arial" pitchFamily="34" charset="-122"/>
                <a:cs typeface="Arial" pitchFamily="34" charset="-120"/>
              </a:rPr>
              <a:t>4</a:t>
            </a:r>
            <a:endParaRPr lang="en-US" sz="4800" dirty="0"/>
          </a:p>
        </p:txBody>
      </p:sp>
      <p:sp>
        <p:nvSpPr>
          <p:cNvPr id="18" name="Text 16"/>
          <p:cNvSpPr/>
          <p:nvPr/>
        </p:nvSpPr>
        <p:spPr>
          <a:xfrm>
            <a:off x="5958334" y="6417766"/>
            <a:ext cx="2332583"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FALSE POSITIVES</a:t>
            </a:r>
            <a:endParaRPr lang="en-US" sz="1800" dirty="0"/>
          </a:p>
        </p:txBody>
      </p:sp>
      <p:sp>
        <p:nvSpPr>
          <p:cNvPr id="19" name="Text 17"/>
          <p:cNvSpPr/>
          <p:nvPr/>
        </p:nvSpPr>
        <p:spPr>
          <a:xfrm rot="10800000">
            <a:off x="914400" y="7008316"/>
            <a:ext cx="838200" cy="1504950"/>
          </a:xfrm>
          <a:prstGeom prst="rect">
            <a:avLst/>
          </a:prstGeom>
          <a:noFill/>
          <a:ln/>
        </p:spPr>
        <p:txBody>
          <a:bodyPr wrap="square" lIns="25400" tIns="25400" rIns="25400" bIns="25400" rtlCol="0" anchor="ctr">
            <a:normAutofit/>
          </a:bodyPr>
          <a:lstStyle/>
          <a:p>
            <a:pPr algn="ctr" indent="0" marL="0">
              <a:buNone/>
            </a:pPr>
            <a:r>
              <a:rPr lang="en-US" sz="1800" spc="144" kern="0" dirty="0">
                <a:solidFill>
                  <a:srgbClr val="6A7280"/>
                </a:solidFill>
                <a:latin typeface="Arial" pitchFamily="34" charset="0"/>
                <a:ea typeface="Arial" pitchFamily="34" charset="-122"/>
                <a:cs typeface="Arial" pitchFamily="34" charset="-120"/>
              </a:rPr>
              <a:t>ACTUAL AD</a:t>
            </a:r>
            <a:endParaRPr lang="en-US" sz="1800" dirty="0"/>
          </a:p>
        </p:txBody>
      </p:sp>
      <p:sp>
        <p:nvSpPr>
          <p:cNvPr id="20" name="Shape 18"/>
          <p:cNvSpPr/>
          <p:nvPr/>
        </p:nvSpPr>
        <p:spPr>
          <a:xfrm>
            <a:off x="1771650" y="7008316"/>
            <a:ext cx="3505200" cy="1466850"/>
          </a:xfrm>
          <a:prstGeom prst="roundRect">
            <a:avLst>
              <a:gd name="adj" fmla="val 2597"/>
            </a:avLst>
          </a:prstGeom>
          <a:solidFill>
            <a:srgbClr val="F7E9E3"/>
          </a:solidFill>
          <a:ln w="9525">
            <a:solidFill>
              <a:srgbClr val="E8C8B9"/>
            </a:solidFill>
            <a:prstDash val="solid"/>
          </a:ln>
        </p:spPr>
      </p:sp>
      <p:sp>
        <p:nvSpPr>
          <p:cNvPr id="21" name="Text 19"/>
          <p:cNvSpPr/>
          <p:nvPr/>
        </p:nvSpPr>
        <p:spPr>
          <a:xfrm>
            <a:off x="3129707" y="7275016"/>
            <a:ext cx="865138"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B0421F"/>
                </a:solidFill>
                <a:latin typeface="Arial" pitchFamily="34" charset="0"/>
                <a:ea typeface="Arial" pitchFamily="34" charset="-122"/>
                <a:cs typeface="Arial" pitchFamily="34" charset="-120"/>
              </a:rPr>
              <a:t>30</a:t>
            </a:r>
            <a:endParaRPr lang="en-US" sz="4800" dirty="0"/>
          </a:p>
        </p:txBody>
      </p:sp>
      <p:sp>
        <p:nvSpPr>
          <p:cNvPr id="22" name="Text 20"/>
          <p:cNvSpPr/>
          <p:nvPr/>
        </p:nvSpPr>
        <p:spPr>
          <a:xfrm>
            <a:off x="2353717" y="7941766"/>
            <a:ext cx="2417118"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FALSE NEGATIVES</a:t>
            </a:r>
            <a:endParaRPr lang="en-US" sz="1800" dirty="0"/>
          </a:p>
        </p:txBody>
      </p:sp>
      <p:sp>
        <p:nvSpPr>
          <p:cNvPr id="23" name="Shape 21"/>
          <p:cNvSpPr/>
          <p:nvPr/>
        </p:nvSpPr>
        <p:spPr>
          <a:xfrm>
            <a:off x="5334000" y="7008316"/>
            <a:ext cx="3505200" cy="1466850"/>
          </a:xfrm>
          <a:prstGeom prst="roundRect">
            <a:avLst>
              <a:gd name="adj" fmla="val 2597"/>
            </a:avLst>
          </a:prstGeom>
          <a:solidFill>
            <a:srgbClr val="EAF0F8"/>
          </a:solidFill>
          <a:ln w="9525">
            <a:solidFill>
              <a:srgbClr val="C6D3E8"/>
            </a:solidFill>
            <a:prstDash val="solid"/>
          </a:ln>
        </p:spPr>
      </p:sp>
      <p:sp>
        <p:nvSpPr>
          <p:cNvPr id="24" name="Text 22"/>
          <p:cNvSpPr/>
          <p:nvPr/>
        </p:nvSpPr>
        <p:spPr>
          <a:xfrm>
            <a:off x="6692057" y="7275016"/>
            <a:ext cx="865138"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1F4B8E"/>
                </a:solidFill>
                <a:latin typeface="Arial" pitchFamily="34" charset="0"/>
                <a:ea typeface="Arial" pitchFamily="34" charset="-122"/>
                <a:cs typeface="Arial" pitchFamily="34" charset="-120"/>
              </a:rPr>
              <a:t>74</a:t>
            </a:r>
            <a:endParaRPr lang="en-US" sz="4800" dirty="0"/>
          </a:p>
        </p:txBody>
      </p:sp>
      <p:sp>
        <p:nvSpPr>
          <p:cNvPr id="25" name="Text 23"/>
          <p:cNvSpPr/>
          <p:nvPr/>
        </p:nvSpPr>
        <p:spPr>
          <a:xfrm>
            <a:off x="6012210" y="7941766"/>
            <a:ext cx="222498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TRUE POSITIVES</a:t>
            </a:r>
            <a:endParaRPr lang="en-US" sz="1800" dirty="0"/>
          </a:p>
        </p:txBody>
      </p:sp>
      <p:sp>
        <p:nvSpPr>
          <p:cNvPr id="26" name="Text 24"/>
          <p:cNvSpPr/>
          <p:nvPr/>
        </p:nvSpPr>
        <p:spPr>
          <a:xfrm>
            <a:off x="9448800" y="4436566"/>
            <a:ext cx="1872258"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4181D"/>
                </a:solidFill>
                <a:latin typeface="Arial" pitchFamily="34" charset="0"/>
                <a:ea typeface="Arial" pitchFamily="34" charset="-122"/>
                <a:cs typeface="Arial" pitchFamily="34" charset="-120"/>
              </a:rPr>
              <a:t>Random Forest</a:t>
            </a:r>
            <a:endParaRPr lang="en-US" sz="1950" dirty="0"/>
          </a:p>
        </p:txBody>
      </p:sp>
      <p:sp>
        <p:nvSpPr>
          <p:cNvPr id="27" name="Text 25"/>
          <p:cNvSpPr/>
          <p:nvPr/>
        </p:nvSpPr>
        <p:spPr>
          <a:xfrm>
            <a:off x="13261777" y="4436566"/>
            <a:ext cx="4195935"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6A7280"/>
                </a:solidFill>
                <a:latin typeface="Arial" pitchFamily="34" charset="0"/>
                <a:ea typeface="Arial" pitchFamily="34" charset="-122"/>
                <a:cs typeface="Arial" pitchFamily="34" charset="-120"/>
              </a:rPr>
              <a:t>misses 15 AD · alarms 17 HC</a:t>
            </a:r>
            <a:endParaRPr lang="en-US" sz="1800" dirty="0"/>
          </a:p>
        </p:txBody>
      </p:sp>
      <p:sp>
        <p:nvSpPr>
          <p:cNvPr id="28" name="Text 26"/>
          <p:cNvSpPr/>
          <p:nvPr/>
        </p:nvSpPr>
        <p:spPr>
          <a:xfrm>
            <a:off x="10215372" y="4855666"/>
            <a:ext cx="3610356" cy="609600"/>
          </a:xfrm>
          <a:prstGeom prst="rect">
            <a:avLst/>
          </a:prstGeom>
          <a:noFill/>
          <a:ln/>
        </p:spPr>
        <p:txBody>
          <a:bodyPr wrap="square" lIns="25400" tIns="25400" rIns="25400" bIns="25400" rtlCol="0" anchor="ctr">
            <a:normAutofit/>
          </a:bodyPr>
          <a:lstStyle/>
          <a:p>
            <a:pPr algn="ctr" indent="0" marL="0">
              <a:buNone/>
            </a:pPr>
            <a:r>
              <a:rPr lang="en-US" sz="1800" spc="144" kern="0" dirty="0">
                <a:solidFill>
                  <a:srgbClr val="6A7280"/>
                </a:solidFill>
                <a:latin typeface="Arial" pitchFamily="34" charset="0"/>
                <a:ea typeface="Arial" pitchFamily="34" charset="-122"/>
                <a:cs typeface="Arial" pitchFamily="34" charset="-120"/>
              </a:rPr>
              <a:t>PREDICTED HC</a:t>
            </a:r>
            <a:endParaRPr lang="en-US" sz="1800" dirty="0"/>
          </a:p>
        </p:txBody>
      </p:sp>
      <p:sp>
        <p:nvSpPr>
          <p:cNvPr id="29" name="Text 27"/>
          <p:cNvSpPr/>
          <p:nvPr/>
        </p:nvSpPr>
        <p:spPr>
          <a:xfrm>
            <a:off x="13777722" y="4855666"/>
            <a:ext cx="3610356" cy="609600"/>
          </a:xfrm>
          <a:prstGeom prst="rect">
            <a:avLst/>
          </a:prstGeom>
          <a:noFill/>
          <a:ln/>
        </p:spPr>
        <p:txBody>
          <a:bodyPr wrap="square" lIns="25400" tIns="25400" rIns="25400" bIns="25400" rtlCol="0" anchor="ctr">
            <a:normAutofit/>
          </a:bodyPr>
          <a:lstStyle/>
          <a:p>
            <a:pPr algn="ctr" indent="0" marL="0">
              <a:buNone/>
            </a:pPr>
            <a:r>
              <a:rPr lang="en-US" sz="1800" spc="144" kern="0" dirty="0">
                <a:solidFill>
                  <a:srgbClr val="6A7280"/>
                </a:solidFill>
                <a:latin typeface="Arial" pitchFamily="34" charset="0"/>
                <a:ea typeface="Arial" pitchFamily="34" charset="-122"/>
                <a:cs typeface="Arial" pitchFamily="34" charset="-120"/>
              </a:rPr>
              <a:t>PREDICTED AD</a:t>
            </a:r>
            <a:endParaRPr lang="en-US" sz="1800" dirty="0"/>
          </a:p>
        </p:txBody>
      </p:sp>
      <p:sp>
        <p:nvSpPr>
          <p:cNvPr id="30" name="Text 28"/>
          <p:cNvSpPr/>
          <p:nvPr/>
        </p:nvSpPr>
        <p:spPr>
          <a:xfrm rot="10800000">
            <a:off x="9410700" y="5484316"/>
            <a:ext cx="838200" cy="1504950"/>
          </a:xfrm>
          <a:prstGeom prst="rect">
            <a:avLst/>
          </a:prstGeom>
          <a:noFill/>
          <a:ln/>
        </p:spPr>
        <p:txBody>
          <a:bodyPr wrap="square" lIns="25400" tIns="25400" rIns="25400" bIns="25400" rtlCol="0" anchor="ctr">
            <a:normAutofit/>
          </a:bodyPr>
          <a:lstStyle/>
          <a:p>
            <a:pPr algn="ctr" indent="0" marL="0">
              <a:buNone/>
            </a:pPr>
            <a:r>
              <a:rPr lang="en-US" sz="1800" spc="144" kern="0" dirty="0">
                <a:solidFill>
                  <a:srgbClr val="6A7280"/>
                </a:solidFill>
                <a:latin typeface="Arial" pitchFamily="34" charset="0"/>
                <a:ea typeface="Arial" pitchFamily="34" charset="-122"/>
                <a:cs typeface="Arial" pitchFamily="34" charset="-120"/>
              </a:rPr>
              <a:t>ACTUAL HC</a:t>
            </a:r>
            <a:endParaRPr lang="en-US" sz="1800" dirty="0"/>
          </a:p>
        </p:txBody>
      </p:sp>
      <p:sp>
        <p:nvSpPr>
          <p:cNvPr id="31" name="Shape 29"/>
          <p:cNvSpPr/>
          <p:nvPr/>
        </p:nvSpPr>
        <p:spPr>
          <a:xfrm>
            <a:off x="10267950" y="5484316"/>
            <a:ext cx="3505200" cy="1466850"/>
          </a:xfrm>
          <a:prstGeom prst="roundRect">
            <a:avLst>
              <a:gd name="adj" fmla="val 2597"/>
            </a:avLst>
          </a:prstGeom>
          <a:solidFill>
            <a:srgbClr val="EAF0F8"/>
          </a:solidFill>
          <a:ln w="9525">
            <a:solidFill>
              <a:srgbClr val="C6D3E8"/>
            </a:solidFill>
            <a:prstDash val="solid"/>
          </a:ln>
        </p:spPr>
      </p:sp>
      <p:sp>
        <p:nvSpPr>
          <p:cNvPr id="32" name="Text 30"/>
          <p:cNvSpPr/>
          <p:nvPr/>
        </p:nvSpPr>
        <p:spPr>
          <a:xfrm>
            <a:off x="11428809" y="5751016"/>
            <a:ext cx="1259532"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1F4B8E"/>
                </a:solidFill>
                <a:latin typeface="Arial" pitchFamily="34" charset="0"/>
                <a:ea typeface="Arial" pitchFamily="34" charset="-122"/>
                <a:cs typeface="Arial" pitchFamily="34" charset="-120"/>
              </a:rPr>
              <a:t>107</a:t>
            </a:r>
            <a:endParaRPr lang="en-US" sz="4800" dirty="0"/>
          </a:p>
        </p:txBody>
      </p:sp>
      <p:sp>
        <p:nvSpPr>
          <p:cNvPr id="33" name="Text 31"/>
          <p:cNvSpPr/>
          <p:nvPr/>
        </p:nvSpPr>
        <p:spPr>
          <a:xfrm>
            <a:off x="10903893" y="6417766"/>
            <a:ext cx="2309515"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TRUE NEGATIVES</a:t>
            </a:r>
            <a:endParaRPr lang="en-US" sz="1800" dirty="0"/>
          </a:p>
        </p:txBody>
      </p:sp>
      <p:sp>
        <p:nvSpPr>
          <p:cNvPr id="34" name="Shape 32"/>
          <p:cNvSpPr/>
          <p:nvPr/>
        </p:nvSpPr>
        <p:spPr>
          <a:xfrm>
            <a:off x="13830300" y="5484316"/>
            <a:ext cx="3505200" cy="1466850"/>
          </a:xfrm>
          <a:prstGeom prst="roundRect">
            <a:avLst>
              <a:gd name="adj" fmla="val 2597"/>
            </a:avLst>
          </a:prstGeom>
          <a:solidFill>
            <a:srgbClr val="F7E9E3"/>
          </a:solidFill>
          <a:ln w="9525">
            <a:solidFill>
              <a:srgbClr val="E8C8B9"/>
            </a:solidFill>
            <a:prstDash val="solid"/>
          </a:ln>
        </p:spPr>
      </p:sp>
      <p:sp>
        <p:nvSpPr>
          <p:cNvPr id="35" name="Text 33"/>
          <p:cNvSpPr/>
          <p:nvPr/>
        </p:nvSpPr>
        <p:spPr>
          <a:xfrm>
            <a:off x="15188357" y="5751016"/>
            <a:ext cx="865138"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B0421F"/>
                </a:solidFill>
                <a:latin typeface="Arial" pitchFamily="34" charset="0"/>
                <a:ea typeface="Arial" pitchFamily="34" charset="-122"/>
                <a:cs typeface="Arial" pitchFamily="34" charset="-120"/>
              </a:rPr>
              <a:t>17</a:t>
            </a:r>
            <a:endParaRPr lang="en-US" sz="4800" dirty="0"/>
          </a:p>
        </p:txBody>
      </p:sp>
      <p:sp>
        <p:nvSpPr>
          <p:cNvPr id="36" name="Text 34"/>
          <p:cNvSpPr/>
          <p:nvPr/>
        </p:nvSpPr>
        <p:spPr>
          <a:xfrm>
            <a:off x="14454634" y="6417766"/>
            <a:ext cx="2332583"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FALSE POSITIVES</a:t>
            </a:r>
            <a:endParaRPr lang="en-US" sz="1800" dirty="0"/>
          </a:p>
        </p:txBody>
      </p:sp>
      <p:sp>
        <p:nvSpPr>
          <p:cNvPr id="37" name="Text 35"/>
          <p:cNvSpPr/>
          <p:nvPr/>
        </p:nvSpPr>
        <p:spPr>
          <a:xfrm rot="10800000">
            <a:off x="9410700" y="7008316"/>
            <a:ext cx="838200" cy="1504950"/>
          </a:xfrm>
          <a:prstGeom prst="rect">
            <a:avLst/>
          </a:prstGeom>
          <a:noFill/>
          <a:ln/>
        </p:spPr>
        <p:txBody>
          <a:bodyPr wrap="square" lIns="25400" tIns="25400" rIns="25400" bIns="25400" rtlCol="0" anchor="ctr">
            <a:normAutofit/>
          </a:bodyPr>
          <a:lstStyle/>
          <a:p>
            <a:pPr algn="ctr" indent="0" marL="0">
              <a:buNone/>
            </a:pPr>
            <a:r>
              <a:rPr lang="en-US" sz="1800" spc="144" kern="0" dirty="0">
                <a:solidFill>
                  <a:srgbClr val="6A7280"/>
                </a:solidFill>
                <a:latin typeface="Arial" pitchFamily="34" charset="0"/>
                <a:ea typeface="Arial" pitchFamily="34" charset="-122"/>
                <a:cs typeface="Arial" pitchFamily="34" charset="-120"/>
              </a:rPr>
              <a:t>ACTUAL AD</a:t>
            </a:r>
            <a:endParaRPr lang="en-US" sz="1800" dirty="0"/>
          </a:p>
        </p:txBody>
      </p:sp>
      <p:sp>
        <p:nvSpPr>
          <p:cNvPr id="38" name="Shape 36"/>
          <p:cNvSpPr/>
          <p:nvPr/>
        </p:nvSpPr>
        <p:spPr>
          <a:xfrm>
            <a:off x="10267950" y="7008316"/>
            <a:ext cx="3505200" cy="1466850"/>
          </a:xfrm>
          <a:prstGeom prst="roundRect">
            <a:avLst>
              <a:gd name="adj" fmla="val 2597"/>
            </a:avLst>
          </a:prstGeom>
          <a:solidFill>
            <a:srgbClr val="F7E9E3"/>
          </a:solidFill>
          <a:ln w="9525">
            <a:solidFill>
              <a:srgbClr val="E8C8B9"/>
            </a:solidFill>
            <a:prstDash val="solid"/>
          </a:ln>
        </p:spPr>
      </p:sp>
      <p:sp>
        <p:nvSpPr>
          <p:cNvPr id="39" name="Text 37"/>
          <p:cNvSpPr/>
          <p:nvPr/>
        </p:nvSpPr>
        <p:spPr>
          <a:xfrm>
            <a:off x="11626007" y="7275016"/>
            <a:ext cx="865138"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B0421F"/>
                </a:solidFill>
                <a:latin typeface="Arial" pitchFamily="34" charset="0"/>
                <a:ea typeface="Arial" pitchFamily="34" charset="-122"/>
                <a:cs typeface="Arial" pitchFamily="34" charset="-120"/>
              </a:rPr>
              <a:t>15</a:t>
            </a:r>
            <a:endParaRPr lang="en-US" sz="4800" dirty="0"/>
          </a:p>
        </p:txBody>
      </p:sp>
      <p:sp>
        <p:nvSpPr>
          <p:cNvPr id="40" name="Text 38"/>
          <p:cNvSpPr/>
          <p:nvPr/>
        </p:nvSpPr>
        <p:spPr>
          <a:xfrm>
            <a:off x="10850017" y="7941766"/>
            <a:ext cx="2417118"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FALSE NEGATIVES</a:t>
            </a:r>
            <a:endParaRPr lang="en-US" sz="1800" dirty="0"/>
          </a:p>
        </p:txBody>
      </p:sp>
      <p:sp>
        <p:nvSpPr>
          <p:cNvPr id="41" name="Shape 39"/>
          <p:cNvSpPr/>
          <p:nvPr/>
        </p:nvSpPr>
        <p:spPr>
          <a:xfrm>
            <a:off x="13830300" y="7008316"/>
            <a:ext cx="3505200" cy="1466850"/>
          </a:xfrm>
          <a:prstGeom prst="roundRect">
            <a:avLst>
              <a:gd name="adj" fmla="val 2597"/>
            </a:avLst>
          </a:prstGeom>
          <a:solidFill>
            <a:srgbClr val="EAF0F8"/>
          </a:solidFill>
          <a:ln w="9525">
            <a:solidFill>
              <a:srgbClr val="C6D3E8"/>
            </a:solidFill>
            <a:prstDash val="solid"/>
          </a:ln>
        </p:spPr>
      </p:sp>
      <p:sp>
        <p:nvSpPr>
          <p:cNvPr id="42" name="Text 40"/>
          <p:cNvSpPr/>
          <p:nvPr/>
        </p:nvSpPr>
        <p:spPr>
          <a:xfrm>
            <a:off x="15188357" y="7275016"/>
            <a:ext cx="865138" cy="647700"/>
          </a:xfrm>
          <a:prstGeom prst="rect">
            <a:avLst/>
          </a:prstGeom>
          <a:noFill/>
          <a:ln/>
        </p:spPr>
        <p:txBody>
          <a:bodyPr wrap="square" lIns="25400" tIns="25400" rIns="25400" bIns="25400" rtlCol="0" anchor="t">
            <a:normAutofit/>
          </a:bodyPr>
          <a:lstStyle/>
          <a:p>
            <a:pPr algn="l" indent="0" marL="0">
              <a:lnSpc>
                <a:spcPct val="100000"/>
              </a:lnSpc>
              <a:buNone/>
            </a:pPr>
            <a:r>
              <a:rPr lang="en-US" sz="4800" b="1" dirty="0">
                <a:solidFill>
                  <a:srgbClr val="1F4B8E"/>
                </a:solidFill>
                <a:latin typeface="Arial" pitchFamily="34" charset="0"/>
                <a:ea typeface="Arial" pitchFamily="34" charset="-122"/>
                <a:cs typeface="Arial" pitchFamily="34" charset="-120"/>
              </a:rPr>
              <a:t>61</a:t>
            </a:r>
            <a:endParaRPr lang="en-US" sz="4800" dirty="0"/>
          </a:p>
        </p:txBody>
      </p:sp>
      <p:sp>
        <p:nvSpPr>
          <p:cNvPr id="43" name="Text 41"/>
          <p:cNvSpPr/>
          <p:nvPr/>
        </p:nvSpPr>
        <p:spPr>
          <a:xfrm>
            <a:off x="14508510" y="7941766"/>
            <a:ext cx="2224980" cy="3048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6A7280"/>
                </a:solidFill>
                <a:latin typeface="Arial" pitchFamily="34" charset="0"/>
                <a:ea typeface="Arial" pitchFamily="34" charset="-122"/>
                <a:cs typeface="Arial" pitchFamily="34" charset="-120"/>
              </a:rPr>
              <a:t>TRUE POSITIVES</a:t>
            </a:r>
            <a:endParaRPr lang="en-US" sz="1800" dirty="0"/>
          </a:p>
        </p:txBody>
      </p:sp>
      <p:sp>
        <p:nvSpPr>
          <p:cNvPr id="44" name="Shape 42"/>
          <p:cNvSpPr/>
          <p:nvPr/>
        </p:nvSpPr>
        <p:spPr>
          <a:xfrm>
            <a:off x="952500" y="8943975"/>
            <a:ext cx="16383000" cy="9525"/>
          </a:xfrm>
          <a:prstGeom prst="rect">
            <a:avLst/>
          </a:prstGeom>
          <a:solidFill>
            <a:srgbClr val="D9DADB"/>
          </a:solidFill>
          <a:ln/>
        </p:spPr>
      </p:sp>
      <p:sp>
        <p:nvSpPr>
          <p:cNvPr id="45" name="Text 43"/>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46" name="Text 44"/>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16</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17</a:t>
            </a:r>
            <a:endParaRPr lang="en-US" sz="1800" dirty="0"/>
          </a:p>
        </p:txBody>
      </p:sp>
      <p:sp>
        <p:nvSpPr>
          <p:cNvPr id="4" name="Text 2"/>
          <p:cNvSpPr/>
          <p:nvPr/>
        </p:nvSpPr>
        <p:spPr>
          <a:xfrm>
            <a:off x="1511945" y="981075"/>
            <a:ext cx="1628180"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TRADE-OFFS</a:t>
            </a:r>
            <a:endParaRPr lang="en-US" sz="1800" dirty="0"/>
          </a:p>
        </p:txBody>
      </p:sp>
      <p:sp>
        <p:nvSpPr>
          <p:cNvPr id="5" name="Text 3"/>
          <p:cNvSpPr/>
          <p:nvPr/>
        </p:nvSpPr>
        <p:spPr>
          <a:xfrm>
            <a:off x="952500" y="2257425"/>
            <a:ext cx="16874490" cy="1622822"/>
          </a:xfrm>
          <a:prstGeom prst="rect">
            <a:avLst/>
          </a:prstGeom>
          <a:noFill/>
          <a:ln/>
        </p:spPr>
        <p:txBody>
          <a:bodyPr wrap="square" lIns="25400" tIns="25400" rIns="25400" bIns="25400" rtlCol="0" anchor="t">
            <a:normAutofit/>
          </a:bodyPr>
          <a:lstStyle/>
          <a:p>
            <a:pPr algn="l" indent="0" marL="0">
              <a:lnSpc>
                <a:spcPct val="104000"/>
              </a:lnSpc>
              <a:buNone/>
            </a:pPr>
            <a:r>
              <a:rPr lang="en-US" sz="6000" b="1" spc="-120" kern="0" dirty="0">
                <a:solidFill>
                  <a:srgbClr val="14181D"/>
                </a:solidFill>
                <a:latin typeface="Arial" pitchFamily="34" charset="0"/>
                <a:ea typeface="Arial" pitchFamily="34" charset="-122"/>
                <a:cs typeface="Arial" pitchFamily="34" charset="-120"/>
              </a:rPr>
              <a:t>Two models, two different types of errors.</a:t>
            </a:r>
            <a:endParaRPr lang="en-US" sz="6000" dirty="0"/>
          </a:p>
        </p:txBody>
      </p:sp>
      <p:sp>
        <p:nvSpPr>
          <p:cNvPr id="6" name="Shape 4"/>
          <p:cNvSpPr/>
          <p:nvPr/>
        </p:nvSpPr>
        <p:spPr>
          <a:xfrm>
            <a:off x="952500" y="4451747"/>
            <a:ext cx="7962900" cy="2760166"/>
          </a:xfrm>
          <a:prstGeom prst="roundRect">
            <a:avLst>
              <a:gd name="adj" fmla="val 2071"/>
            </a:avLst>
          </a:prstGeom>
          <a:solidFill>
            <a:srgbClr val="FFFFFF"/>
          </a:solidFill>
          <a:ln w="9525">
            <a:solidFill>
              <a:srgbClr val="D9DADB"/>
            </a:solidFill>
            <a:prstDash val="solid"/>
          </a:ln>
        </p:spPr>
      </p:sp>
      <p:sp>
        <p:nvSpPr>
          <p:cNvPr id="7" name="Text 5"/>
          <p:cNvSpPr/>
          <p:nvPr/>
        </p:nvSpPr>
        <p:spPr>
          <a:xfrm>
            <a:off x="1266825" y="4766072"/>
            <a:ext cx="7554278" cy="504825"/>
          </a:xfrm>
          <a:prstGeom prst="rect">
            <a:avLst/>
          </a:prstGeom>
          <a:noFill/>
          <a:ln/>
        </p:spPr>
        <p:txBody>
          <a:bodyPr wrap="square" lIns="25400" tIns="25400" rIns="25400" bIns="25400" rtlCol="0" anchor="t">
            <a:normAutofit/>
          </a:bodyPr>
          <a:lstStyle/>
          <a:p>
            <a:pPr algn="l" indent="0" marL="0">
              <a:buNone/>
            </a:pPr>
            <a:r>
              <a:rPr lang="en-US" sz="3000" b="1" dirty="0">
                <a:solidFill>
                  <a:srgbClr val="14181D"/>
                </a:solidFill>
                <a:latin typeface="Arial" pitchFamily="34" charset="0"/>
                <a:ea typeface="Arial" pitchFamily="34" charset="-122"/>
                <a:cs typeface="Arial" pitchFamily="34" charset="-120"/>
              </a:rPr>
              <a:t>Logistic Regression</a:t>
            </a:r>
            <a:endParaRPr lang="en-US" sz="3000" dirty="0"/>
          </a:p>
        </p:txBody>
      </p:sp>
      <p:sp>
        <p:nvSpPr>
          <p:cNvPr id="8" name="Text 6"/>
          <p:cNvSpPr/>
          <p:nvPr/>
        </p:nvSpPr>
        <p:spPr>
          <a:xfrm>
            <a:off x="1266825" y="5632847"/>
            <a:ext cx="3048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6B3A"/>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1628775" y="5613797"/>
            <a:ext cx="7181469" cy="37713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B3138"/>
                </a:solidFill>
                <a:latin typeface="Arial" pitchFamily="34" charset="0"/>
                <a:ea typeface="Arial" pitchFamily="34" charset="-122"/>
                <a:cs typeface="Arial" pitchFamily="34" charset="-120"/>
              </a:rPr>
              <a:t>Specificity 0.949 — rarely flags healthy subjects</a:t>
            </a:r>
            <a:endParaRPr lang="en-US" sz="1800" dirty="0"/>
          </a:p>
        </p:txBody>
      </p:sp>
      <p:sp>
        <p:nvSpPr>
          <p:cNvPr id="10" name="Text 8"/>
          <p:cNvSpPr/>
          <p:nvPr/>
        </p:nvSpPr>
        <p:spPr>
          <a:xfrm>
            <a:off x="1266825" y="6105227"/>
            <a:ext cx="3048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6B3A"/>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1628775" y="6086177"/>
            <a:ext cx="7181469" cy="37713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B3138"/>
                </a:solidFill>
                <a:latin typeface="Arial" pitchFamily="34" charset="0"/>
                <a:ea typeface="Arial" pitchFamily="34" charset="-122"/>
                <a:cs typeface="Arial" pitchFamily="34" charset="-120"/>
              </a:rPr>
              <a:t>Fully interpretable coefficients</a:t>
            </a:r>
            <a:endParaRPr lang="en-US" sz="1800" dirty="0"/>
          </a:p>
        </p:txBody>
      </p:sp>
      <p:sp>
        <p:nvSpPr>
          <p:cNvPr id="12" name="Text 10"/>
          <p:cNvSpPr/>
          <p:nvPr/>
        </p:nvSpPr>
        <p:spPr>
          <a:xfrm>
            <a:off x="1266825" y="6577608"/>
            <a:ext cx="3048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B0421F"/>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628775" y="6558558"/>
            <a:ext cx="7181469" cy="37713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B3138"/>
                </a:solidFill>
                <a:latin typeface="Arial" pitchFamily="34" charset="0"/>
                <a:ea typeface="Arial" pitchFamily="34" charset="-122"/>
                <a:cs typeface="Arial" pitchFamily="34" charset="-120"/>
              </a:rPr>
              <a:t>Sensitivity 0.754 — misses 30 AD cases</a:t>
            </a:r>
            <a:endParaRPr lang="en-US" sz="1800" dirty="0"/>
          </a:p>
        </p:txBody>
      </p:sp>
      <p:sp>
        <p:nvSpPr>
          <p:cNvPr id="14" name="Shape 12"/>
          <p:cNvSpPr/>
          <p:nvPr/>
        </p:nvSpPr>
        <p:spPr>
          <a:xfrm>
            <a:off x="9372600" y="4451747"/>
            <a:ext cx="7962900" cy="2760166"/>
          </a:xfrm>
          <a:prstGeom prst="roundRect">
            <a:avLst>
              <a:gd name="adj" fmla="val 2071"/>
            </a:avLst>
          </a:prstGeom>
          <a:solidFill>
            <a:srgbClr val="FFFFFF"/>
          </a:solidFill>
          <a:ln w="9525">
            <a:solidFill>
              <a:srgbClr val="1F4B8E"/>
            </a:solidFill>
            <a:prstDash val="solid"/>
          </a:ln>
        </p:spPr>
      </p:sp>
      <p:sp>
        <p:nvSpPr>
          <p:cNvPr id="15" name="Text 13"/>
          <p:cNvSpPr/>
          <p:nvPr/>
        </p:nvSpPr>
        <p:spPr>
          <a:xfrm>
            <a:off x="9686925" y="4766072"/>
            <a:ext cx="7554278" cy="504825"/>
          </a:xfrm>
          <a:prstGeom prst="rect">
            <a:avLst/>
          </a:prstGeom>
          <a:noFill/>
          <a:ln/>
        </p:spPr>
        <p:txBody>
          <a:bodyPr wrap="square" lIns="25400" tIns="25400" rIns="25400" bIns="25400" rtlCol="0" anchor="t">
            <a:normAutofit/>
          </a:bodyPr>
          <a:lstStyle/>
          <a:p>
            <a:pPr algn="l" indent="0" marL="0">
              <a:buNone/>
            </a:pPr>
            <a:r>
              <a:rPr lang="en-US" sz="3000" b="1" dirty="0">
                <a:solidFill>
                  <a:srgbClr val="14181D"/>
                </a:solidFill>
                <a:latin typeface="Arial" pitchFamily="34" charset="0"/>
                <a:ea typeface="Arial" pitchFamily="34" charset="-122"/>
                <a:cs typeface="Arial" pitchFamily="34" charset="-120"/>
              </a:rPr>
              <a:t>Random Forest</a:t>
            </a:r>
            <a:endParaRPr lang="en-US" sz="3000" dirty="0"/>
          </a:p>
        </p:txBody>
      </p:sp>
      <p:sp>
        <p:nvSpPr>
          <p:cNvPr id="16" name="Text 14"/>
          <p:cNvSpPr/>
          <p:nvPr/>
        </p:nvSpPr>
        <p:spPr>
          <a:xfrm>
            <a:off x="9686925" y="5632847"/>
            <a:ext cx="3048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6B3A"/>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10048875" y="5613797"/>
            <a:ext cx="7181469" cy="37713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B3138"/>
                </a:solidFill>
                <a:latin typeface="Arial" pitchFamily="34" charset="0"/>
                <a:ea typeface="Arial" pitchFamily="34" charset="-122"/>
                <a:cs typeface="Arial" pitchFamily="34" charset="-120"/>
              </a:rPr>
              <a:t>Sensitivity 0.877 — catches more AD cases</a:t>
            </a:r>
            <a:endParaRPr lang="en-US" sz="1800" dirty="0"/>
          </a:p>
        </p:txBody>
      </p:sp>
      <p:sp>
        <p:nvSpPr>
          <p:cNvPr id="18" name="Text 16"/>
          <p:cNvSpPr/>
          <p:nvPr/>
        </p:nvSpPr>
        <p:spPr>
          <a:xfrm>
            <a:off x="9686925" y="6105227"/>
            <a:ext cx="3048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1F6B3A"/>
                </a:solidFill>
                <a:latin typeface="Arial" pitchFamily="34" charset="0"/>
                <a:ea typeface="Arial" pitchFamily="34" charset="-122"/>
                <a:cs typeface="Arial" pitchFamily="34" charset="-120"/>
              </a:rPr>
              <a:t>+</a:t>
            </a:r>
            <a:endParaRPr lang="en-US" sz="1800" dirty="0"/>
          </a:p>
        </p:txBody>
      </p:sp>
      <p:sp>
        <p:nvSpPr>
          <p:cNvPr id="19" name="Text 17"/>
          <p:cNvSpPr/>
          <p:nvPr/>
        </p:nvSpPr>
        <p:spPr>
          <a:xfrm>
            <a:off x="10048875" y="6086177"/>
            <a:ext cx="7181469" cy="37713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B3138"/>
                </a:solidFill>
                <a:latin typeface="Arial" pitchFamily="34" charset="0"/>
                <a:ea typeface="Arial" pitchFamily="34" charset="-122"/>
                <a:cs typeface="Arial" pitchFamily="34" charset="-120"/>
              </a:rPr>
              <a:t>Best overall accuracy and ROC-AUC</a:t>
            </a:r>
            <a:endParaRPr lang="en-US" sz="1800" dirty="0"/>
          </a:p>
        </p:txBody>
      </p:sp>
      <p:sp>
        <p:nvSpPr>
          <p:cNvPr id="20" name="Text 18"/>
          <p:cNvSpPr/>
          <p:nvPr/>
        </p:nvSpPr>
        <p:spPr>
          <a:xfrm>
            <a:off x="9686925" y="6577608"/>
            <a:ext cx="304800" cy="358080"/>
          </a:xfrm>
          <a:prstGeom prst="rect">
            <a:avLst/>
          </a:prstGeom>
          <a:noFill/>
          <a:ln/>
        </p:spPr>
        <p:txBody>
          <a:bodyPr wrap="square" lIns="25400" tIns="25400" rIns="25400" bIns="25400" rtlCol="0" anchor="t">
            <a:normAutofit/>
          </a:bodyPr>
          <a:lstStyle/>
          <a:p>
            <a:pPr algn="l" indent="0" marL="0">
              <a:lnSpc>
                <a:spcPct val="140000"/>
              </a:lnSpc>
              <a:buNone/>
            </a:pPr>
            <a:r>
              <a:rPr lang="en-US" sz="1800" b="1" dirty="0">
                <a:solidFill>
                  <a:srgbClr val="B0421F"/>
                </a:solidFill>
                <a:latin typeface="Arial" pitchFamily="34" charset="0"/>
                <a:ea typeface="Arial" pitchFamily="34" charset="-122"/>
                <a:cs typeface="Arial" pitchFamily="34" charset="-120"/>
              </a:rPr>
              <a:t>−</a:t>
            </a:r>
            <a:endParaRPr lang="en-US" sz="1800" dirty="0"/>
          </a:p>
        </p:txBody>
      </p:sp>
      <p:sp>
        <p:nvSpPr>
          <p:cNvPr id="21" name="Text 19"/>
          <p:cNvSpPr/>
          <p:nvPr/>
        </p:nvSpPr>
        <p:spPr>
          <a:xfrm>
            <a:off x="10048875" y="6558558"/>
            <a:ext cx="7181469" cy="377130"/>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2B3138"/>
                </a:solidFill>
                <a:latin typeface="Arial" pitchFamily="34" charset="0"/>
                <a:ea typeface="Arial" pitchFamily="34" charset="-122"/>
                <a:cs typeface="Arial" pitchFamily="34" charset="-120"/>
              </a:rPr>
              <a:t>Specificity 0.782 — flags 17 healthy subjects</a:t>
            </a:r>
            <a:endParaRPr lang="en-US" sz="1800" dirty="0"/>
          </a:p>
        </p:txBody>
      </p:sp>
      <p:sp>
        <p:nvSpPr>
          <p:cNvPr id="22" name="Shape 20"/>
          <p:cNvSpPr/>
          <p:nvPr/>
        </p:nvSpPr>
        <p:spPr>
          <a:xfrm>
            <a:off x="952500" y="8943975"/>
            <a:ext cx="16383000" cy="9525"/>
          </a:xfrm>
          <a:prstGeom prst="rect">
            <a:avLst/>
          </a:prstGeom>
          <a:solidFill>
            <a:srgbClr val="D9DADB"/>
          </a:solidFill>
          <a:ln/>
        </p:spPr>
      </p:sp>
      <p:sp>
        <p:nvSpPr>
          <p:cNvPr id="23" name="Text 21"/>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24" name="Text 22"/>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17</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18</a:t>
            </a:r>
            <a:endParaRPr lang="en-US" sz="1800" dirty="0"/>
          </a:p>
        </p:txBody>
      </p:sp>
      <p:sp>
        <p:nvSpPr>
          <p:cNvPr id="4" name="Text 2"/>
          <p:cNvSpPr/>
          <p:nvPr/>
        </p:nvSpPr>
        <p:spPr>
          <a:xfrm>
            <a:off x="1511945" y="981075"/>
            <a:ext cx="1951732"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OBSERVATIONS</a:t>
            </a:r>
            <a:endParaRPr lang="en-US" sz="1800" dirty="0"/>
          </a:p>
        </p:txBody>
      </p:sp>
      <p:sp>
        <p:nvSpPr>
          <p:cNvPr id="5" name="Text 3"/>
          <p:cNvSpPr/>
          <p:nvPr/>
        </p:nvSpPr>
        <p:spPr>
          <a:xfrm>
            <a:off x="952500" y="2257425"/>
            <a:ext cx="16874490" cy="830461"/>
          </a:xfrm>
          <a:prstGeom prst="rect">
            <a:avLst/>
          </a:prstGeom>
          <a:noFill/>
          <a:ln/>
        </p:spPr>
        <p:txBody>
          <a:bodyPr wrap="square" lIns="25400" tIns="25400" rIns="25400" bIns="25400" rtlCol="0" anchor="t">
            <a:normAutofit/>
          </a:bodyPr>
          <a:lstStyle/>
          <a:p>
            <a:pPr algn="l" indent="0" marL="0">
              <a:lnSpc>
                <a:spcPct val="104000"/>
              </a:lnSpc>
              <a:buNone/>
            </a:pPr>
            <a:r>
              <a:rPr lang="en-US" sz="6000" b="1" spc="-120" kern="0" dirty="0">
                <a:solidFill>
                  <a:srgbClr val="14181D"/>
                </a:solidFill>
                <a:latin typeface="Arial" pitchFamily="34" charset="0"/>
                <a:ea typeface="Arial" pitchFamily="34" charset="-122"/>
                <a:cs typeface="Arial" pitchFamily="34" charset="-120"/>
              </a:rPr>
              <a:t>What we learned along the way.</a:t>
            </a:r>
            <a:endParaRPr lang="en-US" sz="6000" dirty="0"/>
          </a:p>
        </p:txBody>
      </p:sp>
      <p:sp>
        <p:nvSpPr>
          <p:cNvPr id="6" name="Shape 4"/>
          <p:cNvSpPr/>
          <p:nvPr/>
        </p:nvSpPr>
        <p:spPr>
          <a:xfrm>
            <a:off x="952500" y="3659386"/>
            <a:ext cx="762000" cy="19050"/>
          </a:xfrm>
          <a:prstGeom prst="rect">
            <a:avLst/>
          </a:prstGeom>
          <a:solidFill>
            <a:srgbClr val="1F4B8E"/>
          </a:solidFill>
          <a:ln/>
        </p:spPr>
      </p:sp>
      <p:sp>
        <p:nvSpPr>
          <p:cNvPr id="7" name="Text 5"/>
          <p:cNvSpPr/>
          <p:nvPr/>
        </p:nvSpPr>
        <p:spPr>
          <a:xfrm>
            <a:off x="952500" y="3754636"/>
            <a:ext cx="838200"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F4B8E"/>
                </a:solidFill>
                <a:latin typeface="Arial" pitchFamily="34" charset="0"/>
                <a:ea typeface="Arial" pitchFamily="34" charset="-122"/>
                <a:cs typeface="Arial" pitchFamily="34" charset="-120"/>
              </a:rPr>
              <a:t>01</a:t>
            </a:r>
            <a:endParaRPr lang="en-US" sz="1800" dirty="0"/>
          </a:p>
        </p:txBody>
      </p:sp>
      <p:sp>
        <p:nvSpPr>
          <p:cNvPr id="8" name="Text 6"/>
          <p:cNvSpPr/>
          <p:nvPr/>
        </p:nvSpPr>
        <p:spPr>
          <a:xfrm>
            <a:off x="1943100" y="3697486"/>
            <a:ext cx="14676882"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Class imbalance matters.</a:t>
            </a:r>
            <a:endParaRPr lang="en-US" sz="2250" dirty="0"/>
          </a:p>
        </p:txBody>
      </p:sp>
      <p:sp>
        <p:nvSpPr>
          <p:cNvPr id="9" name="Text 7"/>
          <p:cNvSpPr/>
          <p:nvPr/>
        </p:nvSpPr>
        <p:spPr>
          <a:xfrm>
            <a:off x="1943100" y="4097536"/>
            <a:ext cx="146768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2B3138"/>
                </a:solidFill>
                <a:latin typeface="Arial" pitchFamily="34" charset="0"/>
                <a:ea typeface="Arial" pitchFamily="34" charset="-122"/>
                <a:cs typeface="Arial" pitchFamily="34" charset="-120"/>
              </a:rPr>
              <a:t>122 AD vs. 78 HC — class weighting helped but didn't fully fix the bias.</a:t>
            </a:r>
            <a:endParaRPr lang="en-US" sz="1800" dirty="0"/>
          </a:p>
        </p:txBody>
      </p:sp>
      <p:sp>
        <p:nvSpPr>
          <p:cNvPr id="10" name="Shape 8"/>
          <p:cNvSpPr/>
          <p:nvPr/>
        </p:nvSpPr>
        <p:spPr>
          <a:xfrm>
            <a:off x="952500" y="4745236"/>
            <a:ext cx="762000" cy="19050"/>
          </a:xfrm>
          <a:prstGeom prst="rect">
            <a:avLst/>
          </a:prstGeom>
          <a:solidFill>
            <a:srgbClr val="1F4B8E"/>
          </a:solidFill>
          <a:ln/>
        </p:spPr>
      </p:sp>
      <p:sp>
        <p:nvSpPr>
          <p:cNvPr id="11" name="Text 9"/>
          <p:cNvSpPr/>
          <p:nvPr/>
        </p:nvSpPr>
        <p:spPr>
          <a:xfrm>
            <a:off x="952500" y="4840486"/>
            <a:ext cx="838200"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F4B8E"/>
                </a:solidFill>
                <a:latin typeface="Arial" pitchFamily="34" charset="0"/>
                <a:ea typeface="Arial" pitchFamily="34" charset="-122"/>
                <a:cs typeface="Arial" pitchFamily="34" charset="-120"/>
              </a:rPr>
              <a:t>02</a:t>
            </a:r>
            <a:endParaRPr lang="en-US" sz="1800" dirty="0"/>
          </a:p>
        </p:txBody>
      </p:sp>
      <p:sp>
        <p:nvSpPr>
          <p:cNvPr id="12" name="Text 10"/>
          <p:cNvSpPr/>
          <p:nvPr/>
        </p:nvSpPr>
        <p:spPr>
          <a:xfrm>
            <a:off x="1943100" y="4783336"/>
            <a:ext cx="14676882"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Subject-level CV is critical.</a:t>
            </a:r>
            <a:endParaRPr lang="en-US" sz="2250" dirty="0"/>
          </a:p>
        </p:txBody>
      </p:sp>
      <p:sp>
        <p:nvSpPr>
          <p:cNvPr id="13" name="Text 11"/>
          <p:cNvSpPr/>
          <p:nvPr/>
        </p:nvSpPr>
        <p:spPr>
          <a:xfrm>
            <a:off x="1943100" y="5183386"/>
            <a:ext cx="146768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2B3138"/>
                </a:solidFill>
                <a:latin typeface="Arial" pitchFamily="34" charset="0"/>
                <a:ea typeface="Arial" pitchFamily="34" charset="-122"/>
                <a:cs typeface="Arial" pitchFamily="34" charset="-120"/>
              </a:rPr>
              <a:t>An early epoch-level split inflated our scores — fixing this was the biggest post-midterm change.</a:t>
            </a:r>
            <a:endParaRPr lang="en-US" sz="1800" dirty="0"/>
          </a:p>
        </p:txBody>
      </p:sp>
      <p:sp>
        <p:nvSpPr>
          <p:cNvPr id="14" name="Shape 12"/>
          <p:cNvSpPr/>
          <p:nvPr/>
        </p:nvSpPr>
        <p:spPr>
          <a:xfrm>
            <a:off x="952500" y="5831086"/>
            <a:ext cx="762000" cy="19050"/>
          </a:xfrm>
          <a:prstGeom prst="rect">
            <a:avLst/>
          </a:prstGeom>
          <a:solidFill>
            <a:srgbClr val="1F4B8E"/>
          </a:solidFill>
          <a:ln/>
        </p:spPr>
      </p:sp>
      <p:sp>
        <p:nvSpPr>
          <p:cNvPr id="15" name="Text 13"/>
          <p:cNvSpPr/>
          <p:nvPr/>
        </p:nvSpPr>
        <p:spPr>
          <a:xfrm>
            <a:off x="952500" y="5926336"/>
            <a:ext cx="838200"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F4B8E"/>
                </a:solidFill>
                <a:latin typeface="Arial" pitchFamily="34" charset="0"/>
                <a:ea typeface="Arial" pitchFamily="34" charset="-122"/>
                <a:cs typeface="Arial" pitchFamily="34" charset="-120"/>
              </a:rPr>
              <a:t>03</a:t>
            </a:r>
            <a:endParaRPr lang="en-US" sz="1800" dirty="0"/>
          </a:p>
        </p:txBody>
      </p:sp>
      <p:sp>
        <p:nvSpPr>
          <p:cNvPr id="16" name="Text 14"/>
          <p:cNvSpPr/>
          <p:nvPr/>
        </p:nvSpPr>
        <p:spPr>
          <a:xfrm>
            <a:off x="1943100" y="5869186"/>
            <a:ext cx="14676882"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The EEG slowing signal is real.</a:t>
            </a:r>
            <a:endParaRPr lang="en-US" sz="2250" dirty="0"/>
          </a:p>
        </p:txBody>
      </p:sp>
      <p:sp>
        <p:nvSpPr>
          <p:cNvPr id="17" name="Text 15"/>
          <p:cNvSpPr/>
          <p:nvPr/>
        </p:nvSpPr>
        <p:spPr>
          <a:xfrm>
            <a:off x="1943100" y="6269236"/>
            <a:ext cx="146768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2B3138"/>
                </a:solidFill>
                <a:latin typeface="Arial" pitchFamily="34" charset="0"/>
                <a:ea typeface="Arial" pitchFamily="34" charset="-122"/>
                <a:cs typeface="Arial" pitchFamily="34" charset="-120"/>
              </a:rPr>
              <a:t>Statistical tests confirmed our features matched known AD biomarkers.</a:t>
            </a:r>
            <a:endParaRPr lang="en-US" sz="1800" dirty="0"/>
          </a:p>
        </p:txBody>
      </p:sp>
      <p:sp>
        <p:nvSpPr>
          <p:cNvPr id="18" name="Shape 16"/>
          <p:cNvSpPr/>
          <p:nvPr/>
        </p:nvSpPr>
        <p:spPr>
          <a:xfrm>
            <a:off x="952500" y="6916936"/>
            <a:ext cx="762000" cy="19050"/>
          </a:xfrm>
          <a:prstGeom prst="rect">
            <a:avLst/>
          </a:prstGeom>
          <a:solidFill>
            <a:srgbClr val="1F4B8E"/>
          </a:solidFill>
          <a:ln/>
        </p:spPr>
      </p:sp>
      <p:sp>
        <p:nvSpPr>
          <p:cNvPr id="19" name="Text 17"/>
          <p:cNvSpPr/>
          <p:nvPr/>
        </p:nvSpPr>
        <p:spPr>
          <a:xfrm>
            <a:off x="952500" y="7012186"/>
            <a:ext cx="838200"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F4B8E"/>
                </a:solidFill>
                <a:latin typeface="Arial" pitchFamily="34" charset="0"/>
                <a:ea typeface="Arial" pitchFamily="34" charset="-122"/>
                <a:cs typeface="Arial" pitchFamily="34" charset="-120"/>
              </a:rPr>
              <a:t>04</a:t>
            </a:r>
            <a:endParaRPr lang="en-US" sz="1800" dirty="0"/>
          </a:p>
        </p:txBody>
      </p:sp>
      <p:sp>
        <p:nvSpPr>
          <p:cNvPr id="20" name="Text 18"/>
          <p:cNvSpPr/>
          <p:nvPr/>
        </p:nvSpPr>
        <p:spPr>
          <a:xfrm>
            <a:off x="1943100" y="6955036"/>
            <a:ext cx="14676882"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Better preprocessing would help.</a:t>
            </a:r>
            <a:endParaRPr lang="en-US" sz="2250" dirty="0"/>
          </a:p>
        </p:txBody>
      </p:sp>
      <p:sp>
        <p:nvSpPr>
          <p:cNvPr id="21" name="Text 19"/>
          <p:cNvSpPr/>
          <p:nvPr/>
        </p:nvSpPr>
        <p:spPr>
          <a:xfrm>
            <a:off x="1943100" y="7355086"/>
            <a:ext cx="146768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2B3138"/>
                </a:solidFill>
                <a:latin typeface="Arial" pitchFamily="34" charset="0"/>
                <a:ea typeface="Arial" pitchFamily="34" charset="-122"/>
                <a:cs typeface="Arial" pitchFamily="34" charset="-120"/>
              </a:rPr>
              <a:t>We kept it minimal — artifact rejection improvements would likely lift both models.</a:t>
            </a:r>
            <a:endParaRPr lang="en-US" sz="1800" dirty="0"/>
          </a:p>
        </p:txBody>
      </p:sp>
      <p:sp>
        <p:nvSpPr>
          <p:cNvPr id="22" name="Shape 20"/>
          <p:cNvSpPr/>
          <p:nvPr/>
        </p:nvSpPr>
        <p:spPr>
          <a:xfrm>
            <a:off x="952500" y="8943975"/>
            <a:ext cx="16383000" cy="9525"/>
          </a:xfrm>
          <a:prstGeom prst="rect">
            <a:avLst/>
          </a:prstGeom>
          <a:solidFill>
            <a:srgbClr val="D9DADB"/>
          </a:solidFill>
          <a:ln/>
        </p:spPr>
      </p:sp>
      <p:sp>
        <p:nvSpPr>
          <p:cNvPr id="23" name="Text 21"/>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24" name="Text 22"/>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18</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D9DADB"/>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19</a:t>
            </a:r>
            <a:endParaRPr lang="en-US" sz="1800" dirty="0"/>
          </a:p>
        </p:txBody>
      </p:sp>
      <p:sp>
        <p:nvSpPr>
          <p:cNvPr id="4" name="Text 2"/>
          <p:cNvSpPr/>
          <p:nvPr/>
        </p:nvSpPr>
        <p:spPr>
          <a:xfrm>
            <a:off x="1511945" y="981075"/>
            <a:ext cx="1878509"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6A7280"/>
                </a:solidFill>
                <a:latin typeface="Arial" pitchFamily="34" charset="0"/>
                <a:ea typeface="Arial" pitchFamily="34" charset="-122"/>
                <a:cs typeface="Arial" pitchFamily="34" charset="-120"/>
              </a:rPr>
              <a:t>FUTURE WORK</a:t>
            </a:r>
            <a:endParaRPr lang="en-US" sz="1800" dirty="0"/>
          </a:p>
        </p:txBody>
      </p:sp>
      <p:sp>
        <p:nvSpPr>
          <p:cNvPr id="5" name="Text 3"/>
          <p:cNvSpPr/>
          <p:nvPr/>
        </p:nvSpPr>
        <p:spPr>
          <a:xfrm>
            <a:off x="952500" y="2257425"/>
            <a:ext cx="16874490" cy="830461"/>
          </a:xfrm>
          <a:prstGeom prst="rect">
            <a:avLst/>
          </a:prstGeom>
          <a:noFill/>
          <a:ln/>
        </p:spPr>
        <p:txBody>
          <a:bodyPr wrap="square" lIns="25400" tIns="25400" rIns="25400" bIns="25400" rtlCol="0" anchor="t">
            <a:normAutofit/>
          </a:bodyPr>
          <a:lstStyle/>
          <a:p>
            <a:pPr algn="l" indent="0" marL="0">
              <a:lnSpc>
                <a:spcPct val="104000"/>
              </a:lnSpc>
              <a:buNone/>
            </a:pPr>
            <a:r>
              <a:rPr lang="en-US" sz="6000" b="1" spc="-120" kern="0" dirty="0">
                <a:solidFill>
                  <a:srgbClr val="14181D"/>
                </a:solidFill>
                <a:latin typeface="Arial" pitchFamily="34" charset="0"/>
                <a:ea typeface="Arial" pitchFamily="34" charset="-122"/>
                <a:cs typeface="Arial" pitchFamily="34" charset="-120"/>
              </a:rPr>
              <a:t>Next steps.</a:t>
            </a:r>
            <a:endParaRPr lang="en-US" sz="6000" dirty="0"/>
          </a:p>
        </p:txBody>
      </p:sp>
      <p:sp>
        <p:nvSpPr>
          <p:cNvPr id="6" name="Shape 4"/>
          <p:cNvSpPr/>
          <p:nvPr/>
        </p:nvSpPr>
        <p:spPr>
          <a:xfrm>
            <a:off x="952500" y="3659386"/>
            <a:ext cx="762000" cy="19050"/>
          </a:xfrm>
          <a:prstGeom prst="rect">
            <a:avLst/>
          </a:prstGeom>
          <a:solidFill>
            <a:srgbClr val="1F4B8E"/>
          </a:solidFill>
          <a:ln/>
        </p:spPr>
      </p:sp>
      <p:sp>
        <p:nvSpPr>
          <p:cNvPr id="7" name="Text 5"/>
          <p:cNvSpPr/>
          <p:nvPr/>
        </p:nvSpPr>
        <p:spPr>
          <a:xfrm>
            <a:off x="952500" y="3754636"/>
            <a:ext cx="838200"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F4B8E"/>
                </a:solidFill>
                <a:latin typeface="Arial" pitchFamily="34" charset="0"/>
                <a:ea typeface="Arial" pitchFamily="34" charset="-122"/>
                <a:cs typeface="Arial" pitchFamily="34" charset="-120"/>
              </a:rPr>
              <a:t>01</a:t>
            </a:r>
            <a:endParaRPr lang="en-US" sz="1800" dirty="0"/>
          </a:p>
        </p:txBody>
      </p:sp>
      <p:sp>
        <p:nvSpPr>
          <p:cNvPr id="8" name="Text 6"/>
          <p:cNvSpPr/>
          <p:nvPr/>
        </p:nvSpPr>
        <p:spPr>
          <a:xfrm>
            <a:off x="1943100" y="3697486"/>
            <a:ext cx="14676882"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Add FTD as a third class.</a:t>
            </a:r>
            <a:endParaRPr lang="en-US" sz="2250" dirty="0"/>
          </a:p>
        </p:txBody>
      </p:sp>
      <p:sp>
        <p:nvSpPr>
          <p:cNvPr id="9" name="Text 7"/>
          <p:cNvSpPr/>
          <p:nvPr/>
        </p:nvSpPr>
        <p:spPr>
          <a:xfrm>
            <a:off x="1943100" y="4097536"/>
            <a:ext cx="146768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2B3138"/>
                </a:solidFill>
                <a:latin typeface="Arial" pitchFamily="34" charset="0"/>
                <a:ea typeface="Arial" pitchFamily="34" charset="-122"/>
                <a:cs typeface="Arial" pitchFamily="34" charset="-120"/>
              </a:rPr>
              <a:t>The 41 FTD subjects were excluded — a 3-class model is the logical next step.</a:t>
            </a:r>
            <a:endParaRPr lang="en-US" sz="1800" dirty="0"/>
          </a:p>
        </p:txBody>
      </p:sp>
      <p:sp>
        <p:nvSpPr>
          <p:cNvPr id="10" name="Shape 8"/>
          <p:cNvSpPr/>
          <p:nvPr/>
        </p:nvSpPr>
        <p:spPr>
          <a:xfrm>
            <a:off x="952500" y="4745236"/>
            <a:ext cx="762000" cy="19050"/>
          </a:xfrm>
          <a:prstGeom prst="rect">
            <a:avLst/>
          </a:prstGeom>
          <a:solidFill>
            <a:srgbClr val="1F4B8E"/>
          </a:solidFill>
          <a:ln/>
        </p:spPr>
      </p:sp>
      <p:sp>
        <p:nvSpPr>
          <p:cNvPr id="11" name="Text 9"/>
          <p:cNvSpPr/>
          <p:nvPr/>
        </p:nvSpPr>
        <p:spPr>
          <a:xfrm>
            <a:off x="952500" y="4840486"/>
            <a:ext cx="838200"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F4B8E"/>
                </a:solidFill>
                <a:latin typeface="Arial" pitchFamily="34" charset="0"/>
                <a:ea typeface="Arial" pitchFamily="34" charset="-122"/>
                <a:cs typeface="Arial" pitchFamily="34" charset="-120"/>
              </a:rPr>
              <a:t>02</a:t>
            </a:r>
            <a:endParaRPr lang="en-US" sz="1800" dirty="0"/>
          </a:p>
        </p:txBody>
      </p:sp>
      <p:sp>
        <p:nvSpPr>
          <p:cNvPr id="12" name="Text 10"/>
          <p:cNvSpPr/>
          <p:nvPr/>
        </p:nvSpPr>
        <p:spPr>
          <a:xfrm>
            <a:off x="1943100" y="4783336"/>
            <a:ext cx="14676882"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Richer features.</a:t>
            </a:r>
            <a:endParaRPr lang="en-US" sz="2250" dirty="0"/>
          </a:p>
        </p:txBody>
      </p:sp>
      <p:sp>
        <p:nvSpPr>
          <p:cNvPr id="13" name="Text 11"/>
          <p:cNvSpPr/>
          <p:nvPr/>
        </p:nvSpPr>
        <p:spPr>
          <a:xfrm>
            <a:off x="1943100" y="5183386"/>
            <a:ext cx="146768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2B3138"/>
                </a:solidFill>
                <a:latin typeface="Arial" pitchFamily="34" charset="0"/>
                <a:ea typeface="Arial" pitchFamily="34" charset="-122"/>
                <a:cs typeface="Arial" pitchFamily="34" charset="-120"/>
              </a:rPr>
              <a:t>Inter-channel coherence and complexity measures beyond band power.</a:t>
            </a:r>
            <a:endParaRPr lang="en-US" sz="1800" dirty="0"/>
          </a:p>
        </p:txBody>
      </p:sp>
      <p:sp>
        <p:nvSpPr>
          <p:cNvPr id="14" name="Shape 12"/>
          <p:cNvSpPr/>
          <p:nvPr/>
        </p:nvSpPr>
        <p:spPr>
          <a:xfrm>
            <a:off x="952500" y="5831086"/>
            <a:ext cx="762000" cy="19050"/>
          </a:xfrm>
          <a:prstGeom prst="rect">
            <a:avLst/>
          </a:prstGeom>
          <a:solidFill>
            <a:srgbClr val="1F4B8E"/>
          </a:solidFill>
          <a:ln/>
        </p:spPr>
      </p:sp>
      <p:sp>
        <p:nvSpPr>
          <p:cNvPr id="15" name="Text 13"/>
          <p:cNvSpPr/>
          <p:nvPr/>
        </p:nvSpPr>
        <p:spPr>
          <a:xfrm>
            <a:off x="952500" y="5926336"/>
            <a:ext cx="838200"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F4B8E"/>
                </a:solidFill>
                <a:latin typeface="Arial" pitchFamily="34" charset="0"/>
                <a:ea typeface="Arial" pitchFamily="34" charset="-122"/>
                <a:cs typeface="Arial" pitchFamily="34" charset="-120"/>
              </a:rPr>
              <a:t>03</a:t>
            </a:r>
            <a:endParaRPr lang="en-US" sz="1800" dirty="0"/>
          </a:p>
        </p:txBody>
      </p:sp>
      <p:sp>
        <p:nvSpPr>
          <p:cNvPr id="16" name="Text 14"/>
          <p:cNvSpPr/>
          <p:nvPr/>
        </p:nvSpPr>
        <p:spPr>
          <a:xfrm>
            <a:off x="1943100" y="5869186"/>
            <a:ext cx="14676882"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More baselines.</a:t>
            </a:r>
            <a:endParaRPr lang="en-US" sz="2250" dirty="0"/>
          </a:p>
        </p:txBody>
      </p:sp>
      <p:sp>
        <p:nvSpPr>
          <p:cNvPr id="17" name="Text 15"/>
          <p:cNvSpPr/>
          <p:nvPr/>
        </p:nvSpPr>
        <p:spPr>
          <a:xfrm>
            <a:off x="1943100" y="6269236"/>
            <a:ext cx="146768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2B3138"/>
                </a:solidFill>
                <a:latin typeface="Arial" pitchFamily="34" charset="0"/>
                <a:ea typeface="Arial" pitchFamily="34" charset="-122"/>
                <a:cs typeface="Arial" pitchFamily="34" charset="-120"/>
              </a:rPr>
              <a:t>SVM and gradient boosting — to see how robust the LR vs. RF comparison is.</a:t>
            </a:r>
            <a:endParaRPr lang="en-US" sz="1800" dirty="0"/>
          </a:p>
        </p:txBody>
      </p:sp>
      <p:sp>
        <p:nvSpPr>
          <p:cNvPr id="18" name="Shape 16"/>
          <p:cNvSpPr/>
          <p:nvPr/>
        </p:nvSpPr>
        <p:spPr>
          <a:xfrm>
            <a:off x="952500" y="6916936"/>
            <a:ext cx="762000" cy="19050"/>
          </a:xfrm>
          <a:prstGeom prst="rect">
            <a:avLst/>
          </a:prstGeom>
          <a:solidFill>
            <a:srgbClr val="1F4B8E"/>
          </a:solidFill>
          <a:ln/>
        </p:spPr>
      </p:sp>
      <p:sp>
        <p:nvSpPr>
          <p:cNvPr id="19" name="Text 17"/>
          <p:cNvSpPr/>
          <p:nvPr/>
        </p:nvSpPr>
        <p:spPr>
          <a:xfrm>
            <a:off x="952500" y="7012186"/>
            <a:ext cx="838200"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1F4B8E"/>
                </a:solidFill>
                <a:latin typeface="Arial" pitchFamily="34" charset="0"/>
                <a:ea typeface="Arial" pitchFamily="34" charset="-122"/>
                <a:cs typeface="Arial" pitchFamily="34" charset="-120"/>
              </a:rPr>
              <a:t>04</a:t>
            </a:r>
            <a:endParaRPr lang="en-US" sz="1800" dirty="0"/>
          </a:p>
        </p:txBody>
      </p:sp>
      <p:sp>
        <p:nvSpPr>
          <p:cNvPr id="20" name="Text 18"/>
          <p:cNvSpPr/>
          <p:nvPr/>
        </p:nvSpPr>
        <p:spPr>
          <a:xfrm>
            <a:off x="1943100" y="6955036"/>
            <a:ext cx="14676882"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4181D"/>
                </a:solidFill>
                <a:latin typeface="Arial" pitchFamily="34" charset="0"/>
                <a:ea typeface="Arial" pitchFamily="34" charset="-122"/>
                <a:cs typeface="Arial" pitchFamily="34" charset="-120"/>
              </a:rPr>
              <a:t>Better preprocessing and multi-seed CV.</a:t>
            </a:r>
            <a:endParaRPr lang="en-US" sz="2250" dirty="0"/>
          </a:p>
        </p:txBody>
      </p:sp>
      <p:sp>
        <p:nvSpPr>
          <p:cNvPr id="21" name="Text 19"/>
          <p:cNvSpPr/>
          <p:nvPr/>
        </p:nvSpPr>
        <p:spPr>
          <a:xfrm>
            <a:off x="1943100" y="7355086"/>
            <a:ext cx="14676882"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2B3138"/>
                </a:solidFill>
                <a:latin typeface="Arial" pitchFamily="34" charset="0"/>
                <a:ea typeface="Arial" pitchFamily="34" charset="-122"/>
                <a:cs typeface="Arial" pitchFamily="34" charset="-120"/>
              </a:rPr>
              <a:t>Proper artifact rejection and multiple random seeds for reliable error bars.</a:t>
            </a:r>
            <a:endParaRPr lang="en-US" sz="1800" dirty="0"/>
          </a:p>
        </p:txBody>
      </p:sp>
      <p:sp>
        <p:nvSpPr>
          <p:cNvPr id="22" name="Shape 20"/>
          <p:cNvSpPr/>
          <p:nvPr/>
        </p:nvSpPr>
        <p:spPr>
          <a:xfrm>
            <a:off x="952500" y="8943975"/>
            <a:ext cx="16383000" cy="9525"/>
          </a:xfrm>
          <a:prstGeom prst="rect">
            <a:avLst/>
          </a:prstGeom>
          <a:solidFill>
            <a:srgbClr val="D9DADB"/>
          </a:solidFill>
          <a:ln/>
        </p:spPr>
      </p:sp>
      <p:sp>
        <p:nvSpPr>
          <p:cNvPr id="23" name="Text 21"/>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EEG · ALZHEIMER'S DETECTION</a:t>
            </a:r>
            <a:endParaRPr lang="en-US" sz="1800" dirty="0"/>
          </a:p>
        </p:txBody>
      </p:sp>
      <p:sp>
        <p:nvSpPr>
          <p:cNvPr id="24" name="Text 22"/>
          <p:cNvSpPr/>
          <p:nvPr/>
        </p:nvSpPr>
        <p:spPr>
          <a:xfrm>
            <a:off x="17081153" y="9239250"/>
            <a:ext cx="330547" cy="304800"/>
          </a:xfrm>
          <a:prstGeom prst="rect">
            <a:avLst/>
          </a:prstGeom>
          <a:noFill/>
          <a:ln/>
        </p:spPr>
        <p:txBody>
          <a:bodyPr wrap="square" lIns="25400" tIns="25400" rIns="25400" bIns="25400" rtlCol="0" anchor="t">
            <a:normAutofit/>
          </a:bodyPr>
          <a:lstStyle/>
          <a:p>
            <a:pPr algn="l" indent="0" marL="0">
              <a:buNone/>
            </a:pPr>
            <a:r>
              <a:rPr lang="en-US" sz="1800" dirty="0">
                <a:solidFill>
                  <a:srgbClr val="6A7280"/>
                </a:solidFill>
                <a:latin typeface="Arial" pitchFamily="34" charset="0"/>
                <a:ea typeface="Arial" pitchFamily="34" charset="-122"/>
                <a:cs typeface="Arial" pitchFamily="34" charset="-120"/>
              </a:rPr>
              <a:t>19</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F"/>
        </a:solidFill>
      </p:bgPr>
    </p:bg>
    <p:spTree>
      <p:nvGrpSpPr>
        <p:cNvPr id="1" name=""/>
        <p:cNvGrpSpPr/>
        <p:nvPr/>
      </p:nvGrpSpPr>
      <p:grpSpPr>
        <a:xfrm>
          <a:off x="0" y="0"/>
          <a:ext cx="0" cy="0"/>
          <a:chOff x="0" y="0"/>
          <a:chExt cx="0" cy="0"/>
        </a:xfrm>
      </p:grpSpPr>
      <p:sp>
        <p:nvSpPr>
          <p:cNvPr id="2" name="Shape 0"/>
          <p:cNvSpPr/>
          <p:nvPr/>
        </p:nvSpPr>
        <p:spPr>
          <a:xfrm>
            <a:off x="952500" y="1485900"/>
            <a:ext cx="16383000" cy="9525"/>
          </a:xfrm>
          <a:prstGeom prst="rect">
            <a:avLst/>
          </a:prstGeom>
          <a:solidFill>
            <a:srgbClr val="2A2F36"/>
          </a:solidFill>
          <a:ln/>
        </p:spPr>
      </p:sp>
      <p:sp>
        <p:nvSpPr>
          <p:cNvPr id="3" name="Text 1"/>
          <p:cNvSpPr/>
          <p:nvPr/>
        </p:nvSpPr>
        <p:spPr>
          <a:xfrm>
            <a:off x="952500" y="952500"/>
            <a:ext cx="36894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14181D"/>
                </a:solidFill>
                <a:latin typeface="Arial" pitchFamily="34" charset="0"/>
                <a:ea typeface="Arial" pitchFamily="34" charset="-122"/>
                <a:cs typeface="Arial" pitchFamily="34" charset="-120"/>
              </a:rPr>
              <a:t>20</a:t>
            </a:r>
            <a:endParaRPr lang="en-US" sz="1800" dirty="0"/>
          </a:p>
        </p:txBody>
      </p:sp>
      <p:sp>
        <p:nvSpPr>
          <p:cNvPr id="4" name="Text 2"/>
          <p:cNvSpPr/>
          <p:nvPr/>
        </p:nvSpPr>
        <p:spPr>
          <a:xfrm>
            <a:off x="1511945" y="981075"/>
            <a:ext cx="1169194" cy="3048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9AA0A8"/>
                </a:solidFill>
                <a:latin typeface="Arial" pitchFamily="34" charset="0"/>
                <a:ea typeface="Arial" pitchFamily="34" charset="-122"/>
                <a:cs typeface="Arial" pitchFamily="34" charset="-120"/>
              </a:rPr>
              <a:t>CLOSING</a:t>
            </a:r>
            <a:endParaRPr lang="en-US" sz="1800" dirty="0"/>
          </a:p>
        </p:txBody>
      </p:sp>
      <p:sp>
        <p:nvSpPr>
          <p:cNvPr id="5" name="Text 3"/>
          <p:cNvSpPr/>
          <p:nvPr/>
        </p:nvSpPr>
        <p:spPr>
          <a:xfrm>
            <a:off x="16603861" y="952500"/>
            <a:ext cx="807839" cy="342900"/>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9AA0A8"/>
                </a:solidFill>
                <a:latin typeface="Arial" pitchFamily="34" charset="0"/>
                <a:ea typeface="Arial" pitchFamily="34" charset="-122"/>
                <a:cs typeface="Arial" pitchFamily="34" charset="-120"/>
              </a:rPr>
              <a:t>Q &amp; A</a:t>
            </a:r>
            <a:endParaRPr lang="en-US" sz="1800" dirty="0"/>
          </a:p>
        </p:txBody>
      </p:sp>
      <p:sp>
        <p:nvSpPr>
          <p:cNvPr id="6" name="Text 4"/>
          <p:cNvSpPr/>
          <p:nvPr/>
        </p:nvSpPr>
        <p:spPr>
          <a:xfrm>
            <a:off x="952500" y="2871788"/>
            <a:ext cx="16874490" cy="2933700"/>
          </a:xfrm>
          <a:prstGeom prst="rect">
            <a:avLst/>
          </a:prstGeom>
          <a:noFill/>
          <a:ln/>
        </p:spPr>
        <p:txBody>
          <a:bodyPr wrap="square" lIns="25400" tIns="25400" rIns="25400" bIns="25400" rtlCol="0" anchor="t">
            <a:normAutofit/>
          </a:bodyPr>
          <a:lstStyle/>
          <a:p>
            <a:pPr algn="l" indent="0" marL="0">
              <a:lnSpc>
                <a:spcPct val="95000"/>
              </a:lnSpc>
              <a:buNone/>
            </a:pPr>
            <a:r>
              <a:rPr lang="en-US" sz="12000" b="1" spc="-420" kern="0" dirty="0">
                <a:solidFill>
                  <a:srgbClr val="14181D"/>
                </a:solidFill>
                <a:latin typeface="Arial" pitchFamily="34" charset="0"/>
                <a:ea typeface="Arial" pitchFamily="34" charset="-122"/>
                <a:cs typeface="Arial" pitchFamily="34" charset="-120"/>
              </a:rPr>
              <a:t>Thank you. </a:t>
            </a:r>
            <a:pPr algn="l" indent="0" marL="0">
              <a:lnSpc>
                <a:spcPct val="95000"/>
              </a:lnSpc>
              <a:buNone/>
            </a:pPr>
            <a:r>
              <a:rPr lang="en-US" sz="12000" b="1" spc="-420" kern="0" dirty="0">
                <a:solidFill>
                  <a:srgbClr val="9BB0D0"/>
                </a:solidFill>
                <a:latin typeface="Arial" pitchFamily="34" charset="0"/>
                <a:ea typeface="Arial" pitchFamily="34" charset="-122"/>
                <a:cs typeface="Arial" pitchFamily="34" charset="-120"/>
              </a:rPr>
              <a:t>Questions?</a:t>
            </a:r>
            <a:endParaRPr lang="en-US" sz="12000" dirty="0"/>
          </a:p>
        </p:txBody>
      </p:sp>
      <p:sp>
        <p:nvSpPr>
          <p:cNvPr id="7" name="Shape 5"/>
          <p:cNvSpPr/>
          <p:nvPr/>
        </p:nvSpPr>
        <p:spPr>
          <a:xfrm>
            <a:off x="952500" y="6376988"/>
            <a:ext cx="16383000" cy="9525"/>
          </a:xfrm>
          <a:prstGeom prst="rect">
            <a:avLst/>
          </a:prstGeom>
          <a:solidFill>
            <a:srgbClr val="2A2F36"/>
          </a:solidFill>
          <a:ln/>
        </p:spPr>
      </p:sp>
      <p:sp>
        <p:nvSpPr>
          <p:cNvPr id="8" name="Text 6"/>
          <p:cNvSpPr/>
          <p:nvPr/>
        </p:nvSpPr>
        <p:spPr>
          <a:xfrm>
            <a:off x="952500" y="6691313"/>
            <a:ext cx="386543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6F4EF"/>
                </a:solidFill>
                <a:latin typeface="Arial" pitchFamily="34" charset="0"/>
                <a:ea typeface="Arial" pitchFamily="34" charset="-122"/>
                <a:cs typeface="Arial" pitchFamily="34" charset="-120"/>
              </a:rPr>
              <a:t>DATASET</a:t>
            </a:r>
            <a:endParaRPr lang="en-US" sz="1800" dirty="0"/>
          </a:p>
        </p:txBody>
      </p:sp>
      <p:sp>
        <p:nvSpPr>
          <p:cNvPr id="9" name="Text 7"/>
          <p:cNvSpPr/>
          <p:nvPr/>
        </p:nvSpPr>
        <p:spPr>
          <a:xfrm>
            <a:off x="952500" y="7034213"/>
            <a:ext cx="3389767" cy="295275"/>
          </a:xfrm>
          <a:prstGeom prst="rect">
            <a:avLst/>
          </a:prstGeom>
          <a:noFill/>
          <a:ln/>
        </p:spPr>
        <p:txBody>
          <a:bodyPr wrap="square" lIns="0" tIns="0" rIns="0" bIns="0" rtlCol="0" anchor="t">
            <a:normAutofit/>
          </a:bodyPr>
          <a:lstStyle/>
          <a:p>
            <a:pPr algn="l" indent="0" marL="0">
              <a:buNone/>
            </a:pPr>
            <a:r>
              <a:rPr lang="en-US" sz="1800" dirty="0">
                <a:solidFill>
                  <a:srgbClr val="9AA0A8"/>
                </a:solidFill>
                <a:latin typeface="Arial" pitchFamily="34" charset="0"/>
                <a:ea typeface="Arial" pitchFamily="34" charset="-122"/>
                <a:cs typeface="Arial" pitchFamily="34" charset="-120"/>
              </a:rPr>
              <a:t>Largest Alzheimer EEG · Kaggle</a:t>
            </a:r>
            <a:endParaRPr lang="en-US" sz="1800" dirty="0"/>
          </a:p>
        </p:txBody>
      </p:sp>
      <p:sp>
        <p:nvSpPr>
          <p:cNvPr id="10" name="Text 8"/>
          <p:cNvSpPr/>
          <p:nvPr/>
        </p:nvSpPr>
        <p:spPr>
          <a:xfrm>
            <a:off x="5162550" y="6691313"/>
            <a:ext cx="386543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6F4EF"/>
                </a:solidFill>
                <a:latin typeface="Arial" pitchFamily="34" charset="0"/>
                <a:ea typeface="Arial" pitchFamily="34" charset="-122"/>
                <a:cs typeface="Arial" pitchFamily="34" charset="-120"/>
              </a:rPr>
              <a:t>FEATURES</a:t>
            </a:r>
            <a:endParaRPr lang="en-US" sz="1800" dirty="0"/>
          </a:p>
        </p:txBody>
      </p:sp>
      <p:sp>
        <p:nvSpPr>
          <p:cNvPr id="11" name="Text 9"/>
          <p:cNvSpPr/>
          <p:nvPr/>
        </p:nvSpPr>
        <p:spPr>
          <a:xfrm>
            <a:off x="5162550" y="7034213"/>
            <a:ext cx="2600623" cy="295275"/>
          </a:xfrm>
          <a:prstGeom prst="rect">
            <a:avLst/>
          </a:prstGeom>
          <a:noFill/>
          <a:ln/>
        </p:spPr>
        <p:txBody>
          <a:bodyPr wrap="square" lIns="0" tIns="0" rIns="0" bIns="0" rtlCol="0" anchor="t">
            <a:normAutofit/>
          </a:bodyPr>
          <a:lstStyle/>
          <a:p>
            <a:pPr algn="l" indent="0" marL="0">
              <a:buNone/>
            </a:pPr>
            <a:r>
              <a:rPr lang="en-US" sz="1800" dirty="0">
                <a:solidFill>
                  <a:srgbClr val="9AA0A8"/>
                </a:solidFill>
                <a:latin typeface="Arial" pitchFamily="34" charset="0"/>
                <a:ea typeface="Arial" pitchFamily="34" charset="-122"/>
                <a:cs typeface="Arial" pitchFamily="34" charset="-120"/>
              </a:rPr>
              <a:t>Welch PSD · 19 × 4 = 76</a:t>
            </a:r>
            <a:endParaRPr lang="en-US" sz="1800" dirty="0"/>
          </a:p>
        </p:txBody>
      </p:sp>
      <p:sp>
        <p:nvSpPr>
          <p:cNvPr id="12" name="Text 10"/>
          <p:cNvSpPr/>
          <p:nvPr/>
        </p:nvSpPr>
        <p:spPr>
          <a:xfrm>
            <a:off x="9372600" y="6691313"/>
            <a:ext cx="386543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6F4EF"/>
                </a:solidFill>
                <a:latin typeface="Arial" pitchFamily="34" charset="0"/>
                <a:ea typeface="Arial" pitchFamily="34" charset="-122"/>
                <a:cs typeface="Arial" pitchFamily="34" charset="-120"/>
              </a:rPr>
              <a:t>MODELS</a:t>
            </a:r>
            <a:endParaRPr lang="en-US" sz="1800" dirty="0"/>
          </a:p>
        </p:txBody>
      </p:sp>
      <p:sp>
        <p:nvSpPr>
          <p:cNvPr id="13" name="Text 11"/>
          <p:cNvSpPr/>
          <p:nvPr/>
        </p:nvSpPr>
        <p:spPr>
          <a:xfrm>
            <a:off x="9372600" y="7034213"/>
            <a:ext cx="3154003" cy="561975"/>
          </a:xfrm>
          <a:prstGeom prst="rect">
            <a:avLst/>
          </a:prstGeom>
          <a:noFill/>
          <a:ln/>
        </p:spPr>
        <p:txBody>
          <a:bodyPr wrap="square" lIns="0" tIns="0" rIns="0" bIns="0" rtlCol="0" anchor="t">
            <a:normAutofit/>
          </a:bodyPr>
          <a:lstStyle/>
          <a:p>
            <a:pPr algn="l" indent="0" marL="0">
              <a:buNone/>
            </a:pPr>
            <a:r>
              <a:rPr lang="en-US" sz="1800" dirty="0">
                <a:solidFill>
                  <a:srgbClr val="9AA0A8"/>
                </a:solidFill>
                <a:latin typeface="Arial" pitchFamily="34" charset="0"/>
                <a:ea typeface="Arial" pitchFamily="34" charset="-122"/>
                <a:cs typeface="Arial" pitchFamily="34" charset="-120"/>
              </a:rPr>
              <a:t>Logistic Regression · Random Forest</a:t>
            </a:r>
            <a:endParaRPr lang="en-US" sz="1800" dirty="0"/>
          </a:p>
        </p:txBody>
      </p:sp>
      <p:sp>
        <p:nvSpPr>
          <p:cNvPr id="14" name="Text 12"/>
          <p:cNvSpPr/>
          <p:nvPr/>
        </p:nvSpPr>
        <p:spPr>
          <a:xfrm>
            <a:off x="13582650" y="6691313"/>
            <a:ext cx="386543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6F4EF"/>
                </a:solidFill>
                <a:latin typeface="Arial" pitchFamily="34" charset="0"/>
                <a:ea typeface="Arial" pitchFamily="34" charset="-122"/>
                <a:cs typeface="Arial" pitchFamily="34" charset="-120"/>
              </a:rPr>
              <a:t>PROTOCOL</a:t>
            </a:r>
            <a:endParaRPr lang="en-US" sz="1800" dirty="0"/>
          </a:p>
        </p:txBody>
      </p:sp>
      <p:sp>
        <p:nvSpPr>
          <p:cNvPr id="15" name="Text 13"/>
          <p:cNvSpPr/>
          <p:nvPr/>
        </p:nvSpPr>
        <p:spPr>
          <a:xfrm>
            <a:off x="13582650" y="7034213"/>
            <a:ext cx="3310975" cy="295275"/>
          </a:xfrm>
          <a:prstGeom prst="rect">
            <a:avLst/>
          </a:prstGeom>
          <a:noFill/>
          <a:ln/>
        </p:spPr>
        <p:txBody>
          <a:bodyPr wrap="square" lIns="0" tIns="0" rIns="0" bIns="0" rtlCol="0" anchor="t">
            <a:normAutofit/>
          </a:bodyPr>
          <a:lstStyle/>
          <a:p>
            <a:pPr algn="l" indent="0" marL="0">
              <a:buNone/>
            </a:pPr>
            <a:r>
              <a:rPr lang="en-US" sz="1800" dirty="0">
                <a:solidFill>
                  <a:srgbClr val="9AA0A8"/>
                </a:solidFill>
                <a:latin typeface="Arial" pitchFamily="34" charset="0"/>
                <a:ea typeface="Arial" pitchFamily="34" charset="-122"/>
                <a:cs typeface="Arial" pitchFamily="34" charset="-120"/>
              </a:rPr>
              <a:t>5-fold subject-level stratified CV</a:t>
            </a:r>
            <a:endParaRPr lang="en-US" sz="1800" dirty="0"/>
          </a:p>
        </p:txBody>
      </p:sp>
      <p:sp>
        <p:nvSpPr>
          <p:cNvPr id="16" name="Shape 14"/>
          <p:cNvSpPr/>
          <p:nvPr/>
        </p:nvSpPr>
        <p:spPr>
          <a:xfrm>
            <a:off x="952500" y="8943975"/>
            <a:ext cx="16383000" cy="9525"/>
          </a:xfrm>
          <a:prstGeom prst="rect">
            <a:avLst/>
          </a:prstGeom>
          <a:solidFill>
            <a:srgbClr val="2A2F36"/>
          </a:solidFill>
          <a:ln/>
        </p:spPr>
      </p:sp>
      <p:sp>
        <p:nvSpPr>
          <p:cNvPr id="17" name="Text 15"/>
          <p:cNvSpPr/>
          <p:nvPr/>
        </p:nvSpPr>
        <p:spPr>
          <a:xfrm>
            <a:off x="952500" y="9220200"/>
            <a:ext cx="4068855"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F6F4EF"/>
                </a:solidFill>
                <a:latin typeface="Arial" pitchFamily="34" charset="0"/>
                <a:ea typeface="Arial" pitchFamily="34" charset="-122"/>
                <a:cs typeface="Arial" pitchFamily="34" charset="-120"/>
              </a:rPr>
              <a:t>EEG · ALZHEIMER'S DETECTION</a:t>
            </a:r>
            <a:endParaRPr lang="en-US" sz="1800" dirty="0"/>
          </a:p>
        </p:txBody>
      </p:sp>
      <p:sp>
        <p:nvSpPr>
          <p:cNvPr id="18" name="Text 16"/>
          <p:cNvSpPr/>
          <p:nvPr/>
        </p:nvSpPr>
        <p:spPr>
          <a:xfrm>
            <a:off x="16636305" y="9239250"/>
            <a:ext cx="775395" cy="3048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Arial" pitchFamily="34" charset="0"/>
                <a:ea typeface="Arial" pitchFamily="34" charset="-122"/>
                <a:cs typeface="Arial" pitchFamily="34" charset="-120"/>
              </a:rPr>
              <a:t>20 / 20</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2026-05-01T04:34:02Z</dcterms:created>
  <dcterms:modified xsi:type="dcterms:W3CDTF">2026-05-01T04:34:02Z</dcterms:modified>
</cp:coreProperties>
</file>